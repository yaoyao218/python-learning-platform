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DFA050"/>
                </a:solidFill>
                <a:latin typeface="Consolas"/>
              </a:rPr>
              <a:t>提 案 與 環 境 測 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62895" cy="1645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sz="3400" b="1" i="0">
                <a:solidFill>
                  <a:srgbClr val="EDE4D0"/>
                </a:solidFill>
                <a:latin typeface="Microsoft JhengHei"/>
              </a:rPr>
              <a:t>不給答案的程式學習提示</a:t>
            </a:r>
          </a:p>
          <a:p>
            <a:pPr algn="ctr">
              <a:lnSpc>
                <a:spcPct val="130000"/>
              </a:lnSpc>
            </a:pPr>
            <a:r>
              <a:rPr sz="3400" b="1" i="0">
                <a:solidFill>
                  <a:srgbClr val="EDE4D0"/>
                </a:solidFill>
                <a:latin typeface="Microsoft JhengHei"/>
              </a:rPr>
              <a:t>先把測資做好，再讓 AI 當教練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4206240"/>
            <a:ext cx="92656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A89E8C"/>
                </a:solidFill>
                <a:latin typeface="Microsoft JhengHei"/>
              </a:rPr>
              <a:t>看不到程式碼的 AI 提示 × 會自我檢查的測資生成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5272887" y="4983480"/>
            <a:ext cx="1645920" cy="10972"/>
          </a:xfrm>
          <a:prstGeom prst="rect">
            <a:avLst/>
          </a:prstGeom>
          <a:solidFill>
            <a:srgbClr val="3A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5257800"/>
            <a:ext cx="926561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6459"/>
                </a:solidFill>
                <a:latin typeface="Consolas"/>
              </a:rPr>
              <a:t>姓名｜系所｜指導教授｜日期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FA050"/>
                </a:solidFill>
                <a:latin typeface="Consolas"/>
              </a:rPr>
              <a:t>問題意識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EDE4D0"/>
                </a:solidFill>
                <a:latin typeface="Microsoft JhengHei"/>
              </a:rPr>
              <a:t>為什麼做：兩個卡住的地方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459"/>
                </a:solidFill>
                <a:latin typeface="Consolas"/>
              </a:rPr>
              <a:t>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303520" cy="237744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2996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D96870"/>
                </a:solidFill>
                <a:latin typeface="Microsoft JhengHei"/>
              </a:rPr>
              <a:t>① 學生直接要答案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4754880" cy="155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A89E8C"/>
                </a:solidFill>
                <a:latin typeface="Microsoft JhengHei"/>
              </a:rPr>
              <a:t>遇到卡關，容易直接叫 AI 給完整答案，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A89E8C"/>
                </a:solidFill>
                <a:latin typeface="Microsoft JhengHei"/>
              </a:rPr>
              <a:t>沒有真的學到除錯。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828800"/>
            <a:ext cx="5303520" cy="237744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59" y="202996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DFA050"/>
                </a:solidFill>
                <a:latin typeface="Microsoft JhengHei"/>
              </a:rPr>
              <a:t>② 測資靠人想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514600"/>
            <a:ext cx="4754880" cy="155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A89E8C"/>
                </a:solidFill>
                <a:latin typeface="Microsoft JhengHei"/>
              </a:rPr>
              <a:t>測資多半憑經驗設計，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A89E8C"/>
                </a:solidFill>
                <a:latin typeface="Microsoft JhengHei"/>
              </a:rPr>
              <a:t>不知道夠不夠，能不能擋下常見的錯誤。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72000"/>
            <a:ext cx="10927080" cy="1371600"/>
          </a:xfrm>
          <a:prstGeom prst="roundRect">
            <a:avLst>
              <a:gd name="adj" fmla="val 4500"/>
            </a:avLst>
          </a:prstGeom>
          <a:solidFill>
            <a:srgbClr val="3A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FA050"/>
                </a:solidFill>
                <a:latin typeface="Consolas"/>
              </a:rPr>
              <a:t>所以我們處理兩件事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21208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EDE4D0"/>
                </a:solidFill>
                <a:latin typeface="Microsoft JhengHei"/>
              </a:rPr>
              <a:t>AI 怎麼只引導、不代寫？　　測資好不好，怎麼看得見、再怎麼補？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FA050"/>
                </a:solidFill>
                <a:latin typeface="Consolas"/>
              </a:rPr>
              <a:t>系統概觀 1／3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EDE4D0"/>
                </a:solidFill>
                <a:latin typeface="Microsoft JhengHei"/>
              </a:rPr>
              <a:t>系統概觀：一次提交怎麼走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459"/>
                </a:solidFill>
                <a:latin typeface="Consolas"/>
              </a:rPr>
              <a:t>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2287" y="1920240"/>
            <a:ext cx="1920240" cy="137160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 w="12700">
            <a:solidFill>
              <a:srgbClr val="3A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3727" y="21031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DE4D0"/>
                </a:solidFill>
                <a:latin typeface="Microsoft JhengHei"/>
              </a:rPr>
              <a:t>學生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2015" y="2578608"/>
            <a:ext cx="1700784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A89E8C"/>
                </a:solidFill>
                <a:latin typeface="Microsoft JhengHei"/>
              </a:rPr>
              <a:t>交出程式碼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19959" y="2606040"/>
            <a:ext cx="356616" cy="0"/>
          </a:xfrm>
          <a:prstGeom prst="line">
            <a:avLst/>
          </a:prstGeom>
          <a:ln w="25400">
            <a:solidFill>
              <a:srgbClr val="DFA0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04007" y="1920240"/>
            <a:ext cx="1920240" cy="137160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 w="12700">
            <a:solidFill>
              <a:srgbClr val="3A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95447" y="21031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DE4D0"/>
                </a:solidFill>
                <a:latin typeface="Microsoft JhengHei"/>
              </a:rPr>
              <a:t>安全執行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13735" y="2578608"/>
            <a:ext cx="1700784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A89E8C"/>
                </a:solidFill>
                <a:latin typeface="Microsoft JhengHei"/>
              </a:rPr>
              <a:t>只擋不小心的誤用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751679" y="2606040"/>
            <a:ext cx="356616" cy="0"/>
          </a:xfrm>
          <a:prstGeom prst="line">
            <a:avLst/>
          </a:prstGeom>
          <a:ln w="25400">
            <a:solidFill>
              <a:srgbClr val="DFA0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35727" y="1920240"/>
            <a:ext cx="1920240" cy="1371600"/>
          </a:xfrm>
          <a:prstGeom prst="roundRect">
            <a:avLst>
              <a:gd name="adj" fmla="val 4500"/>
            </a:avLst>
          </a:prstGeom>
          <a:solidFill>
            <a:srgbClr val="3A2B16"/>
          </a:solidFill>
          <a:ln w="12700">
            <a:solidFill>
              <a:srgbClr val="3A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27167" y="21031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FA050"/>
                </a:solidFill>
                <a:latin typeface="Microsoft JhengHei"/>
              </a:rPr>
              <a:t>跑測資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45455" y="2578608"/>
            <a:ext cx="1700784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A89E8C"/>
                </a:solidFill>
                <a:latin typeface="Microsoft JhengHei"/>
              </a:rPr>
              <a:t>判對錯、記錄哪裡錯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083399" y="2606040"/>
            <a:ext cx="356616" cy="0"/>
          </a:xfrm>
          <a:prstGeom prst="line">
            <a:avLst/>
          </a:prstGeom>
          <a:ln w="25400">
            <a:solidFill>
              <a:srgbClr val="DFA0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467447" y="1920240"/>
            <a:ext cx="1920240" cy="1371600"/>
          </a:xfrm>
          <a:prstGeom prst="roundRect">
            <a:avLst>
              <a:gd name="adj" fmla="val 4500"/>
            </a:avLst>
          </a:prstGeom>
          <a:solidFill>
            <a:srgbClr val="163230"/>
          </a:solidFill>
          <a:ln w="12700">
            <a:solidFill>
              <a:srgbClr val="3A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58887" y="21031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AB8B2"/>
                </a:solidFill>
                <a:latin typeface="Microsoft JhengHei"/>
              </a:rPr>
              <a:t>AI 給提示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7175" y="2578608"/>
            <a:ext cx="1700784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A89E8C"/>
                </a:solidFill>
                <a:latin typeface="Microsoft JhengHei"/>
              </a:rPr>
              <a:t>只收到「題目＋測資結果」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5119" y="2606040"/>
            <a:ext cx="356616" cy="0"/>
          </a:xfrm>
          <a:prstGeom prst="line">
            <a:avLst/>
          </a:prstGeom>
          <a:ln w="25400">
            <a:solidFill>
              <a:srgbClr val="DFA0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799167" y="1920240"/>
            <a:ext cx="1920240" cy="137160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 w="12700">
            <a:solidFill>
              <a:srgbClr val="3A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90607" y="21031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DE4D0"/>
                </a:solidFill>
                <a:latin typeface="Microsoft JhengHei"/>
              </a:rPr>
              <a:t>檢查關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08895" y="2578608"/>
            <a:ext cx="1700784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A89E8C"/>
                </a:solidFill>
                <a:latin typeface="Microsoft JhengHei"/>
              </a:rPr>
              <a:t>不合格就換預設提示，再回給學生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432407" y="3291840"/>
            <a:ext cx="0" cy="685799"/>
          </a:xfrm>
          <a:prstGeom prst="line">
            <a:avLst/>
          </a:prstGeom>
          <a:ln w="25400">
            <a:solidFill>
              <a:srgbClr val="D96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432407" y="3977639"/>
            <a:ext cx="6446520" cy="0"/>
          </a:xfrm>
          <a:prstGeom prst="line">
            <a:avLst/>
          </a:prstGeom>
          <a:ln w="25400">
            <a:solidFill>
              <a:srgbClr val="D96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7878927" y="3310128"/>
            <a:ext cx="0" cy="667511"/>
          </a:xfrm>
          <a:prstGeom prst="line">
            <a:avLst/>
          </a:prstGeom>
          <a:ln w="25400">
            <a:solidFill>
              <a:srgbClr val="D96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581247" y="347472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D96870"/>
                </a:solidFill>
                <a:latin typeface="Microsoft JhengHei"/>
              </a:rPr>
              <a:t>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32407" y="40873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96870"/>
                </a:solidFill>
                <a:latin typeface="Microsoft JhengHei"/>
              </a:rPr>
              <a:t>學生程式碼不會被送給 AI（這條路在結構上不存在）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892040"/>
            <a:ext cx="10927080" cy="118872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02920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AB8B2"/>
                </a:solidFill>
                <a:latin typeface="Consolas"/>
              </a:rPr>
              <a:t>另一條線｜給設計者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440680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EDE4D0"/>
                </a:solidFill>
                <a:latin typeface="Microsoft JhengHei"/>
              </a:rPr>
              <a:t>觀察測資好不好 ＋ AI 幫忙補測資　→　補好的測資供上面的「跑測資」使用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FA050"/>
                </a:solidFill>
                <a:latin typeface="Consolas"/>
              </a:rPr>
              <a:t>系統概觀 2／3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EDE4D0"/>
                </a:solidFill>
                <a:latin typeface="Microsoft JhengHei"/>
              </a:rPr>
              <a:t>系統概觀：題庫由易到難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459"/>
                </a:solidFill>
                <a:latin typeface="Consolas"/>
              </a:rPr>
              <a:t>04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92708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6400800"/>
                <a:gridCol w="324612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DFA050"/>
                          </a:solidFill>
                          <a:latin typeface="Microsoft JhengHei"/>
                        </a:rPr>
                        <a:t>難度</a:t>
                      </a:r>
                    </a:p>
                  </a:txBody>
                  <a:tcPr marL="127000" marR="127000" marT="76200" marB="76200" anchor="ctr">
                    <a:solidFill>
                      <a:srgbClr val="3A2B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DFA050"/>
                          </a:solidFill>
                          <a:latin typeface="Microsoft JhengHei"/>
                        </a:rPr>
                        <a:t>題目</a:t>
                      </a:r>
                    </a:p>
                  </a:txBody>
                  <a:tcPr marL="127000" marR="127000" marT="76200" marB="76200" anchor="ctr">
                    <a:solidFill>
                      <a:srgbClr val="3A2B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DFA050"/>
                          </a:solidFill>
                          <a:latin typeface="Microsoft JhengHei"/>
                        </a:rPr>
                        <a:t>測資環境測試</a:t>
                      </a:r>
                    </a:p>
                  </a:txBody>
                  <a:tcPr marL="127000" marR="127000" marT="76200" marB="76200" anchor="ctr">
                    <a:solidFill>
                      <a:srgbClr val="3A2B1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簡單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Valid Parentheses（括號是否成對）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沒有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簡單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Best Time to Buy and Sell Stock（買賣股票）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有，剛起步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中等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Longest Substring Without Repeating Characters（最長不重複子字串）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有，人工調整＋驗收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困難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Median of Two Sorted Arrays（兩陣列中位數）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沒有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困難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Longest Valid Parentheses（最長合法括號）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有，進行中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4406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A89E8C"/>
                </a:solidFill>
                <a:latin typeface="Microsoft JhengHei"/>
              </a:rPr>
              <a:t>每題含：題目說明、範例、限制、起始程式碼，以及給 AI 的一句話題意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FA050"/>
                </a:solidFill>
                <a:latin typeface="Microsoft JhengHei"/>
              </a:rPr>
              <a:t>※ 題目目前只有文字，還沒有圖解或情境圖片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FA050"/>
                </a:solidFill>
                <a:latin typeface="Consolas"/>
              </a:rPr>
              <a:t>系統概觀 3／3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EDE4D0"/>
                </a:solidFill>
                <a:latin typeface="Microsoft JhengHei"/>
              </a:rPr>
              <a:t>系統概觀：兩條線怎麼分工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459"/>
                </a:solidFill>
                <a:latin typeface="Consolas"/>
              </a:rPr>
              <a:t>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0927080" cy="1600200"/>
          </a:xfrm>
          <a:prstGeom prst="roundRect">
            <a:avLst>
              <a:gd name="adj" fmla="val 4500"/>
            </a:avLst>
          </a:prstGeom>
          <a:solidFill>
            <a:srgbClr val="163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5AB8B2"/>
                </a:solidFill>
                <a:latin typeface="Consolas"/>
              </a:rPr>
              <a:t>上線｜給學生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377440"/>
            <a:ext cx="3017520" cy="77724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 w="12700">
            <a:solidFill>
              <a:srgbClr val="3A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2834639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EDE4D0"/>
                </a:solidFill>
                <a:latin typeface="Microsoft JhengHei"/>
              </a:rPr>
              <a:t>看不到程式碼的 AI 提示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959352" y="2761488"/>
            <a:ext cx="448055" cy="0"/>
          </a:xfrm>
          <a:prstGeom prst="line">
            <a:avLst/>
          </a:prstGeom>
          <a:ln w="25400">
            <a:solidFill>
              <a:srgbClr val="5AB8B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34840" y="2377440"/>
            <a:ext cx="3017520" cy="77724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 w="12700">
            <a:solidFill>
              <a:srgbClr val="3A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79" y="2377440"/>
            <a:ext cx="2834639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EDE4D0"/>
                </a:solidFill>
                <a:latin typeface="Microsoft JhengHei"/>
              </a:rPr>
              <a:t>檢查關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479791" y="2761488"/>
            <a:ext cx="448057" cy="0"/>
          </a:xfrm>
          <a:prstGeom prst="line">
            <a:avLst/>
          </a:prstGeom>
          <a:ln w="25400">
            <a:solidFill>
              <a:srgbClr val="5AB8B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55279" y="2377440"/>
            <a:ext cx="3017520" cy="77724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 w="12700">
            <a:solidFill>
              <a:srgbClr val="3A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9" y="2377440"/>
            <a:ext cx="2834639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EDE4D0"/>
                </a:solidFill>
                <a:latin typeface="Microsoft JhengHei"/>
              </a:rPr>
              <a:t>回給學生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611880"/>
            <a:ext cx="10927080" cy="1600200"/>
          </a:xfrm>
          <a:prstGeom prst="roundRect">
            <a:avLst>
              <a:gd name="adj" fmla="val 4500"/>
            </a:avLst>
          </a:prstGeom>
          <a:solidFill>
            <a:srgbClr val="3A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490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FA050"/>
                </a:solidFill>
                <a:latin typeface="Consolas"/>
              </a:rPr>
              <a:t>下線｜給設計者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206240"/>
            <a:ext cx="3017520" cy="77724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 w="12700">
            <a:solidFill>
              <a:srgbClr val="3A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206240"/>
            <a:ext cx="2834639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EDE4D0"/>
                </a:solidFill>
                <a:latin typeface="Microsoft JhengHei"/>
              </a:rPr>
              <a:t>先有標準答案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959352" y="4590288"/>
            <a:ext cx="448055" cy="0"/>
          </a:xfrm>
          <a:prstGeom prst="line">
            <a:avLst/>
          </a:prstGeom>
          <a:ln w="25400">
            <a:solidFill>
              <a:srgbClr val="DFA0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34840" y="4206240"/>
            <a:ext cx="3017520" cy="77724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 w="12700">
            <a:solidFill>
              <a:srgbClr val="3A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79" y="4206240"/>
            <a:ext cx="2834639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EDE4D0"/>
                </a:solidFill>
                <a:latin typeface="Microsoft JhengHei"/>
              </a:rPr>
              <a:t>拿「寫錯的程式」測試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479791" y="4590288"/>
            <a:ext cx="448057" cy="0"/>
          </a:xfrm>
          <a:prstGeom prst="line">
            <a:avLst/>
          </a:prstGeom>
          <a:ln w="25400">
            <a:solidFill>
              <a:srgbClr val="DFA0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955279" y="4206240"/>
            <a:ext cx="3017520" cy="77724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 w="12700">
            <a:solidFill>
              <a:srgbClr val="3A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19" y="4206240"/>
            <a:ext cx="2834639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EDE4D0"/>
                </a:solidFill>
                <a:latin typeface="Microsoft JhengHei"/>
              </a:rPr>
              <a:t>一輪一輪把測資補好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57784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DFA050"/>
                </a:solidFill>
                <a:latin typeface="Microsoft JhengHei"/>
              </a:rPr>
              <a:t>兩條線的交會：AI 提示只看測資結果，所以測資越好，提示越有依據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FA050"/>
                </a:solidFill>
                <a:latin typeface="Consolas"/>
              </a:rPr>
              <a:t>範圍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EDE4D0"/>
                </a:solidFill>
                <a:latin typeface="Microsoft JhengHei"/>
              </a:rPr>
              <a:t>這次專題的範圍與測試目標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459"/>
                </a:solidFill>
                <a:latin typeface="Consolas"/>
              </a:rPr>
              <a:t>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6766560" cy="411480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CB87C"/>
                </a:solidFill>
                <a:latin typeface="Microsoft JhengHei"/>
              </a:rPr>
              <a:t>做什麼：提案＋把環境搭起來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459"/>
                </a:solidFill>
                <a:latin typeface="Consolas"/>
              </a:rPr>
              <a:t>環境測試只確認「跑得動」的四件事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6217920" cy="2926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350" b="1">
                <a:solidFill>
                  <a:srgbClr val="DFA050"/>
                </a:solidFill>
                <a:latin typeface="Microsoft JhengHei"/>
              </a:rPr>
              <a:t>›  </a:t>
            </a:r>
            <a:r>
              <a:rPr sz="1350">
                <a:solidFill>
                  <a:srgbClr val="EDE4D0"/>
                </a:solidFill>
                <a:latin typeface="Microsoft JhengHei"/>
              </a:rPr>
              <a:t>提示產生器看不到學生程式碼，檢查關能擋下不合格的提示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350" b="1">
                <a:solidFill>
                  <a:srgbClr val="DFA050"/>
                </a:solidFill>
                <a:latin typeface="Microsoft JhengHei"/>
              </a:rPr>
              <a:t>›  </a:t>
            </a:r>
            <a:r>
              <a:rPr sz="1350">
                <a:solidFill>
                  <a:srgbClr val="EDE4D0"/>
                </a:solidFill>
                <a:latin typeface="Microsoft JhengHei"/>
              </a:rPr>
              <a:t>能用寫對／寫錯的程式樣本，觀察測資擋得住多少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350" b="1">
                <a:solidFill>
                  <a:srgbClr val="DFA050"/>
                </a:solidFill>
                <a:latin typeface="Microsoft JhengHei"/>
              </a:rPr>
              <a:t>›  </a:t>
            </a:r>
            <a:r>
              <a:rPr sz="1350">
                <a:solidFill>
                  <a:srgbClr val="EDE4D0"/>
                </a:solidFill>
                <a:latin typeface="Microsoft JhengHei"/>
              </a:rPr>
              <a:t>AI 提測資 → 系統打分 → 審核 → 再提，能跑完整輪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350" b="1">
                <a:solidFill>
                  <a:srgbClr val="DFA050"/>
                </a:solidFill>
                <a:latin typeface="Microsoft JhengHei"/>
              </a:rPr>
              <a:t>›  </a:t>
            </a:r>
            <a:r>
              <a:rPr sz="1350">
                <a:solidFill>
                  <a:srgbClr val="EDE4D0"/>
                </a:solidFill>
                <a:latin typeface="Microsoft JhengHei"/>
              </a:rPr>
              <a:t>驗收組和調整組分開，不被偷看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828800"/>
            <a:ext cx="3886200" cy="4114800"/>
          </a:xfrm>
          <a:prstGeom prst="roundRect">
            <a:avLst>
              <a:gd name="adj" fmla="val 4500"/>
            </a:avLst>
          </a:prstGeom>
          <a:solidFill>
            <a:srgbClr val="39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79" y="20116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D96870"/>
                </a:solidFill>
                <a:latin typeface="Microsoft JhengHei"/>
              </a:rPr>
              <a:t>這次不做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606040"/>
            <a:ext cx="3383280" cy="3291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350" b="1">
                <a:solidFill>
                  <a:srgbClr val="D96870"/>
                </a:solidFill>
                <a:latin typeface="Microsoft JhengHei"/>
              </a:rPr>
              <a:t>›  </a:t>
            </a:r>
            <a:r>
              <a:rPr sz="1350">
                <a:solidFill>
                  <a:srgbClr val="EDE4D0"/>
                </a:solidFill>
                <a:latin typeface="Microsoft JhengHei"/>
              </a:rPr>
              <a:t>不宣稱準度、效度、學習成效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350" b="1">
                <a:solidFill>
                  <a:srgbClr val="D96870"/>
                </a:solidFill>
                <a:latin typeface="Microsoft JhengHei"/>
              </a:rPr>
              <a:t>›  </a:t>
            </a:r>
            <a:r>
              <a:rPr sz="1350">
                <a:solidFill>
                  <a:srgbClr val="EDE4D0"/>
                </a:solidFill>
                <a:latin typeface="Microsoft JhengHei"/>
              </a:rPr>
              <a:t>不設「達到多少算成功」的門檻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350" b="1">
                <a:solidFill>
                  <a:srgbClr val="D96870"/>
                </a:solidFill>
                <a:latin typeface="Microsoft JhengHei"/>
              </a:rPr>
              <a:t>›  </a:t>
            </a:r>
            <a:r>
              <a:rPr sz="1350">
                <a:solidFill>
                  <a:srgbClr val="EDE4D0"/>
                </a:solidFill>
                <a:latin typeface="Microsoft JhengHei"/>
              </a:rPr>
              <a:t>數字只是觀察：樣本少、次數少、部分由 AI 代審，只當線索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FA050"/>
                </a:solidFill>
                <a:latin typeface="Consolas"/>
              </a:rPr>
              <a:t>提示線 1／2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EDE4D0"/>
                </a:solidFill>
                <a:latin typeface="Microsoft JhengHei"/>
              </a:rPr>
              <a:t>提示線：AI 根本看不到程式碼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459"/>
                </a:solidFill>
                <a:latin typeface="Consola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DFA050"/>
                </a:solidFill>
                <a:latin typeface="Microsoft JhengHei"/>
              </a:rPr>
              <a:t>產生提示的程式沒有「學生程式碼」這個輸入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120640" cy="356616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560320"/>
            <a:ext cx="448055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6B6459"/>
                </a:solidFill>
                <a:latin typeface="Consolas"/>
              </a:rPr>
              <a:t>一般 LLM 家教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200400"/>
            <a:ext cx="2011679" cy="822960"/>
          </a:xfrm>
          <a:prstGeom prst="rect">
            <a:avLst/>
          </a:prstGeom>
          <a:solidFill>
            <a:srgbClr val="1D1A15"/>
          </a:solidFill>
          <a:ln w="12700">
            <a:solidFill>
              <a:srgbClr val="3A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474720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A89E8C"/>
                </a:solidFill>
                <a:latin typeface="Consolas"/>
              </a:rPr>
              <a:t>學生程式碼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46119" y="3611880"/>
            <a:ext cx="1097281" cy="0"/>
          </a:xfrm>
          <a:prstGeom prst="line">
            <a:avLst/>
          </a:prstGeom>
          <a:ln w="25400">
            <a:solidFill>
              <a:srgbClr val="6B64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480560" y="3063240"/>
            <a:ext cx="914400" cy="1097280"/>
          </a:xfrm>
          <a:prstGeom prst="ellipse">
            <a:avLst/>
          </a:prstGeom>
          <a:solidFill>
            <a:srgbClr val="6B6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44728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C0B09"/>
                </a:solidFill>
                <a:latin typeface="Microsoft JhengHei"/>
              </a:rPr>
              <a:t>LLM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4389120"/>
            <a:ext cx="4480559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A89E8C"/>
                </a:solidFill>
                <a:latin typeface="Microsoft JhengHei"/>
              </a:rPr>
              <a:t>收到完整程式碼，靠指令要求「請不要洩漏答案」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19" y="5349240"/>
            <a:ext cx="448055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6B6459"/>
                </a:solidFill>
                <a:latin typeface="Consolas"/>
              </a:rPr>
              <a:t>要看模型有沒有聽話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2286000"/>
            <a:ext cx="5120640" cy="356616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2560320"/>
            <a:ext cx="448055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FA050"/>
                </a:solidFill>
                <a:latin typeface="Consolas"/>
              </a:rPr>
              <a:t>本系統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3200400"/>
            <a:ext cx="2011679" cy="822960"/>
          </a:xfrm>
          <a:prstGeom prst="rect">
            <a:avLst/>
          </a:prstGeom>
          <a:solidFill>
            <a:srgbClr val="1D1A15"/>
          </a:solidFill>
          <a:ln w="12700">
            <a:solidFill>
              <a:srgbClr val="3A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12280" y="3474720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A89E8C"/>
                </a:solidFill>
                <a:latin typeface="Consolas"/>
              </a:rPr>
              <a:t>學生程式碼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961120" y="3611880"/>
            <a:ext cx="548640" cy="0"/>
          </a:xfrm>
          <a:prstGeom prst="line">
            <a:avLst/>
          </a:prstGeom>
          <a:ln w="27940">
            <a:solidFill>
              <a:srgbClr val="D96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308592" y="33375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D96870"/>
                </a:solidFill>
                <a:latin typeface="Microsoft JhengHei"/>
              </a:rPr>
              <a:t>✕</a:t>
            </a:r>
          </a:p>
        </p:txBody>
      </p:sp>
      <p:sp>
        <p:nvSpPr>
          <p:cNvPr id="21" name="Oval 20"/>
          <p:cNvSpPr/>
          <p:nvPr/>
        </p:nvSpPr>
        <p:spPr>
          <a:xfrm>
            <a:off x="10195560" y="3063240"/>
            <a:ext cx="914400" cy="1097280"/>
          </a:xfrm>
          <a:prstGeom prst="ellipse">
            <a:avLst/>
          </a:prstGeom>
          <a:solidFill>
            <a:srgbClr val="DF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95560" y="344728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C0B09"/>
                </a:solidFill>
                <a:latin typeface="Microsoft JhengHei"/>
              </a:rPr>
              <a:t>LLM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389120"/>
            <a:ext cx="4480559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A89E8C"/>
                </a:solidFill>
                <a:latin typeface="Microsoft JhengHei"/>
              </a:rPr>
              <a:t>只收到：題目＋測資的輸入／期望／實際結果＋錯誤類型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5349240"/>
            <a:ext cx="448055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5CB87C"/>
                </a:solidFill>
                <a:latin typeface="Consolas"/>
              </a:rPr>
              <a:t>結構上不可能洩漏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FA050"/>
                </a:solidFill>
                <a:latin typeface="Consolas"/>
              </a:rPr>
              <a:t>提示線 2／2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EDE4D0"/>
                </a:solidFill>
                <a:latin typeface="Microsoft JhengHei"/>
              </a:rPr>
              <a:t>提示線：檢查關與環境測試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459"/>
                </a:solidFill>
                <a:latin typeface="Consolas"/>
              </a:rPr>
              <a:t>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4480560" cy="402336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DFA050"/>
                </a:solidFill>
                <a:latin typeface="Microsoft JhengHei"/>
              </a:rPr>
              <a:t>AI 回答後再檢查一次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39319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300" b="1">
                <a:solidFill>
                  <a:srgbClr val="DFA050"/>
                </a:solidFill>
                <a:latin typeface="Microsoft JhengHei"/>
              </a:rPr>
              <a:t>›  </a:t>
            </a:r>
            <a:r>
              <a:rPr sz="1300">
                <a:solidFill>
                  <a:srgbClr val="EDE4D0"/>
                </a:solidFill>
                <a:latin typeface="Microsoft JhengHei"/>
              </a:rPr>
              <a:t>有沒有程式碼區塊或函式定義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300" b="1">
                <a:solidFill>
                  <a:srgbClr val="DFA050"/>
                </a:solidFill>
                <a:latin typeface="Microsoft JhengHei"/>
              </a:rPr>
              <a:t>›  </a:t>
            </a:r>
            <a:r>
              <a:rPr sz="1300">
                <a:solidFill>
                  <a:srgbClr val="EDE4D0"/>
                </a:solidFill>
                <a:latin typeface="Microsoft JhengHei"/>
              </a:rPr>
              <a:t>有沒有用問句引導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300" b="1">
                <a:solidFill>
                  <a:srgbClr val="DFA050"/>
                </a:solidFill>
                <a:latin typeface="Microsoft JhengHei"/>
              </a:rPr>
              <a:t>›  </a:t>
            </a:r>
            <a:r>
              <a:rPr sz="1300">
                <a:solidFill>
                  <a:srgbClr val="EDE4D0"/>
                </a:solidFill>
                <a:latin typeface="Microsoft JhengHei"/>
              </a:rPr>
              <a:t>不合格 → 換成預設提示，並記錄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300" b="1">
                <a:solidFill>
                  <a:srgbClr val="DFA050"/>
                </a:solidFill>
                <a:latin typeface="Microsoft JhengHei"/>
              </a:rPr>
              <a:t>›  </a:t>
            </a:r>
            <a:r>
              <a:rPr sz="1300">
                <a:solidFill>
                  <a:srgbClr val="EDE4D0"/>
                </a:solidFill>
                <a:latin typeface="Microsoft JhengHei"/>
              </a:rPr>
              <a:t>呼叫失敗也會記錄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78308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AB8B2"/>
                </a:solidFill>
                <a:latin typeface="Microsoft JhengHei"/>
              </a:rPr>
              <a:t>環境測試：6 種常見錯誤各試一次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0" y="2240280"/>
          <a:ext cx="6080760" cy="2816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1188720"/>
                <a:gridCol w="1005840"/>
                <a:gridCol w="164592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DFA050"/>
                          </a:solidFill>
                          <a:latin typeface="Consolas"/>
                        </a:rPr>
                        <a:t>錯誤種類</a:t>
                      </a:r>
                    </a:p>
                  </a:txBody>
                  <a:tcPr marL="127000" marR="127000" marT="76200" marB="76200" anchor="ctr">
                    <a:solidFill>
                      <a:srgbClr val="3A2B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DFA050"/>
                          </a:solidFill>
                          <a:latin typeface="Microsoft JhengHei"/>
                        </a:rPr>
                        <a:t>沒有程式碼</a:t>
                      </a:r>
                    </a:p>
                  </a:txBody>
                  <a:tcPr marL="127000" marR="127000" marT="76200" marB="76200" anchor="ctr">
                    <a:solidFill>
                      <a:srgbClr val="3A2B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DFA050"/>
                          </a:solidFill>
                          <a:latin typeface="Microsoft JhengHei"/>
                        </a:rPr>
                        <a:t>有問句</a:t>
                      </a:r>
                    </a:p>
                  </a:txBody>
                  <a:tcPr marL="127000" marR="127000" marT="76200" marB="76200" anchor="ctr">
                    <a:solidFill>
                      <a:srgbClr val="3A2B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DFA050"/>
                          </a:solidFill>
                          <a:latin typeface="Microsoft JhengHei"/>
                        </a:rPr>
                        <a:t>方向對不對</a:t>
                      </a:r>
                    </a:p>
                  </a:txBody>
                  <a:tcPr marL="127000" marR="127000" marT="76200" marB="76200" anchor="ctr">
                    <a:solidFill>
                      <a:srgbClr val="3A2B1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DE4D0"/>
                          </a:solidFill>
                          <a:latin typeface="Consolas"/>
                        </a:rPr>
                        <a:t>always_len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DE4D0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DE4D0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DE4D0"/>
                          </a:solidFill>
                          <a:latin typeface="Microsoft JhengHei"/>
                        </a:rPr>
                        <a:t>要人看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DE4D0"/>
                          </a:solidFill>
                          <a:latin typeface="Consolas"/>
                        </a:rPr>
                        <a:t>count_unique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DE4D0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DE4D0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DE4D0"/>
                          </a:solidFill>
                          <a:latin typeface="Microsoft JhengHei"/>
                        </a:rPr>
                        <a:t>要人看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DE4D0"/>
                          </a:solidFill>
                          <a:latin typeface="Consolas"/>
                        </a:rPr>
                        <a:t>inner_return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DE4D0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DE4D0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DE4D0"/>
                          </a:solidFill>
                          <a:latin typeface="Microsoft JhengHei"/>
                        </a:rPr>
                        <a:t>要人看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DE4D0"/>
                          </a:solidFill>
                          <a:latin typeface="Consolas"/>
                        </a:rPr>
                        <a:t>no_reset_left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DE4D0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DE4D0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DE4D0"/>
                          </a:solidFill>
                          <a:latin typeface="Microsoft JhengHei"/>
                        </a:rPr>
                        <a:t>要人看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DE4D0"/>
                          </a:solidFill>
                          <a:latin typeface="Consolas"/>
                        </a:rPr>
                        <a:t>no_return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DE4D0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DE4D0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DE4D0"/>
                          </a:solidFill>
                          <a:latin typeface="Microsoft JhengHei"/>
                        </a:rPr>
                        <a:t>要人看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DE4D0"/>
                          </a:solidFill>
                          <a:latin typeface="Consolas"/>
                        </a:rPr>
                        <a:t>off_by_one_window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DE4D0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DE4D0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DE4D0"/>
                          </a:solidFill>
                          <a:latin typeface="Microsoft JhengHei"/>
                        </a:rPr>
                        <a:t>要人看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0" y="5166360"/>
            <a:ext cx="608076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DFA050"/>
                </a:solidFill>
                <a:latin typeface="Microsoft JhengHei"/>
              </a:rPr>
              <a:t>只測 1 題、1 個模型、每種 1 次：只說明環境跑得動，不代表提示有效。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DFA050"/>
                </a:solidFill>
                <a:latin typeface="Microsoft JhengHei"/>
              </a:rPr>
              <a:t>方向對不對機器看不出來；例如「少算 1」那題的提示講得偏直接。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FA050"/>
                </a:solidFill>
                <a:latin typeface="Consolas"/>
              </a:rPr>
              <a:t>測資線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EDE4D0"/>
                </a:solidFill>
                <a:latin typeface="Microsoft JhengHei"/>
              </a:rPr>
              <a:t>測資線：怎麼看出測資好不好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459"/>
                </a:solidFill>
                <a:latin typeface="Consolas"/>
              </a:rPr>
              <a:t>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3456432" cy="1417320"/>
          </a:xfrm>
          <a:prstGeom prst="roundRect">
            <a:avLst>
              <a:gd name="adj" fmla="val 4500"/>
            </a:avLst>
          </a:prstGeom>
          <a:solidFill>
            <a:srgbClr val="192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84248"/>
            <a:ext cx="2907791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CB87C"/>
                </a:solidFill>
                <a:latin typeface="Microsoft JhengHei"/>
              </a:rPr>
              <a:t>寫對的程式（S+）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2907791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A89E8C"/>
                </a:solidFill>
                <a:latin typeface="Microsoft JhengHei"/>
              </a:rPr>
              <a:t>一批正確解法樣本，用來確認不冤枉好人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783080"/>
            <a:ext cx="3456432" cy="1417320"/>
          </a:xfrm>
          <a:prstGeom prst="roundRect">
            <a:avLst>
              <a:gd name="adj" fmla="val 4500"/>
            </a:avLst>
          </a:prstGeom>
          <a:solidFill>
            <a:srgbClr val="39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6864" y="1984248"/>
            <a:ext cx="2907791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D96870"/>
                </a:solidFill>
                <a:latin typeface="Microsoft JhengHei"/>
              </a:rPr>
              <a:t>寫錯的程式（S-）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468880"/>
            <a:ext cx="2907791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A89E8C"/>
                </a:solidFill>
                <a:latin typeface="Microsoft JhengHei"/>
              </a:rPr>
              <a:t>一批常見寫錯的樣本，每個藏一種錯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7" y="1783080"/>
            <a:ext cx="3456432" cy="1417320"/>
          </a:xfrm>
          <a:prstGeom prst="roundRect">
            <a:avLst>
              <a:gd name="adj" fmla="val 4500"/>
            </a:avLst>
          </a:prstGeom>
          <a:solidFill>
            <a:srgbClr val="163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39327" y="1984248"/>
            <a:ext cx="2907791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AB8B2"/>
                </a:solidFill>
                <a:latin typeface="Microsoft JhengHei"/>
              </a:rPr>
              <a:t>標準答案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468880"/>
            <a:ext cx="2907791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A89E8C"/>
                </a:solidFill>
                <a:latin typeface="Microsoft JhengHei"/>
              </a:rPr>
              <a:t>用來算每道測資的正確結果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29000"/>
            <a:ext cx="5349240" cy="132588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566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5CB87C"/>
                </a:solidFill>
                <a:latin typeface="Consolas"/>
              </a:rPr>
              <a:t>TPR：寫對的程式有沒有被冤枉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02336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A89E8C"/>
                </a:solidFill>
                <a:latin typeface="Microsoft JhengHei"/>
              </a:rPr>
              <a:t>因為答案由標準答案算出，幾乎必然是 100%，只當一致性檢查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29000"/>
            <a:ext cx="5349240" cy="132588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566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96870"/>
                </a:solidFill>
                <a:latin typeface="Consolas"/>
              </a:rPr>
              <a:t>TNR（抓錯率）：寫錯的程式被擋下多少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02336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A89E8C"/>
                </a:solidFill>
                <a:latin typeface="Microsoft JhengHei"/>
              </a:rPr>
              <a:t>只當觀察指標；平均每個錯誤程式被多少比例的測資擋下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983480"/>
            <a:ext cx="10927080" cy="1005840"/>
          </a:xfrm>
          <a:prstGeom prst="roundRect">
            <a:avLst>
              <a:gd name="adj" fmla="val 4500"/>
            </a:avLst>
          </a:prstGeom>
          <a:solidFill>
            <a:srgbClr val="3A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12064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DFA050"/>
                </a:solidFill>
                <a:latin typeface="Microsoft JhengHei"/>
              </a:rPr>
              <a:t>驗收組先藏起來，調整測資時完全不看——像期末考，避免為了考試背答案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FA050"/>
                </a:solidFill>
                <a:latin typeface="Consolas"/>
              </a:rPr>
              <a:t>AI 協作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EDE4D0"/>
                </a:solidFill>
                <a:latin typeface="Microsoft JhengHei"/>
              </a:rPr>
              <a:t>AI 協作：提 → 測 → 審 → 再提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459"/>
                </a:solidFill>
                <a:latin typeface="Consolas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2286000" cy="155448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 w="12700">
            <a:solidFill>
              <a:srgbClr val="3A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FA050"/>
                </a:solidFill>
                <a:latin typeface="Microsoft JhengHei"/>
              </a:rPr>
              <a:t>AI 提測資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A89E8C"/>
                </a:solidFill>
                <a:latin typeface="Microsoft JhengHei"/>
              </a:rPr>
              <a:t>依題目和標準答案</a:t>
            </a:r>
          </a:p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A89E8C"/>
                </a:solidFill>
                <a:latin typeface="Microsoft JhengHei"/>
              </a:rPr>
              <a:t>提出候選輸入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45536" y="2606040"/>
            <a:ext cx="521208" cy="0"/>
          </a:xfrm>
          <a:prstGeom prst="line">
            <a:avLst/>
          </a:prstGeom>
          <a:ln w="25400">
            <a:solidFill>
              <a:srgbClr val="DFA0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703320" y="1828800"/>
            <a:ext cx="2286000" cy="1554480"/>
          </a:xfrm>
          <a:prstGeom prst="roundRect">
            <a:avLst>
              <a:gd name="adj" fmla="val 4500"/>
            </a:avLst>
          </a:prstGeom>
          <a:solidFill>
            <a:srgbClr val="3A2B16"/>
          </a:solidFill>
          <a:ln w="12700">
            <a:solidFill>
              <a:srgbClr val="3A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20116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FA050"/>
                </a:solidFill>
                <a:latin typeface="Microsoft JhengHei"/>
              </a:rPr>
              <a:t>系統打分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59" y="25146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A89E8C"/>
                </a:solidFill>
                <a:latin typeface="Microsoft JhengHei"/>
              </a:rPr>
              <a:t>客觀算出每道</a:t>
            </a:r>
          </a:p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A89E8C"/>
                </a:solidFill>
                <a:latin typeface="Microsoft JhengHei"/>
              </a:rPr>
              <a:t>擋下幾種錯誤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25896" y="2606040"/>
            <a:ext cx="521208" cy="0"/>
          </a:xfrm>
          <a:prstGeom prst="line">
            <a:avLst/>
          </a:prstGeom>
          <a:ln w="25400">
            <a:solidFill>
              <a:srgbClr val="DFA0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83680" y="1828800"/>
            <a:ext cx="2286000" cy="155448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 w="12700">
            <a:solidFill>
              <a:srgbClr val="3A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0116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FA050"/>
                </a:solidFill>
                <a:latin typeface="Microsoft JhengHei"/>
              </a:rPr>
              <a:t>審核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5146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A89E8C"/>
                </a:solidFill>
                <a:latin typeface="Microsoft JhengHei"/>
              </a:rPr>
              <a:t>只看分數決定留不留</a:t>
            </a:r>
          </a:p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A89E8C"/>
                </a:solidFill>
                <a:latin typeface="Microsoft JhengHei"/>
              </a:rPr>
              <a:t>（目前由 AI 代審）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906255" y="2606040"/>
            <a:ext cx="521209" cy="0"/>
          </a:xfrm>
          <a:prstGeom prst="line">
            <a:avLst/>
          </a:prstGeom>
          <a:ln w="25400">
            <a:solidFill>
              <a:srgbClr val="DFA0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464040" y="1828800"/>
            <a:ext cx="2286000" cy="155448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 w="12700">
            <a:solidFill>
              <a:srgbClr val="3A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64040" y="20116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FA050"/>
                </a:solidFill>
                <a:latin typeface="Microsoft JhengHei"/>
              </a:rPr>
              <a:t>再提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55480" y="25146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A89E8C"/>
                </a:solidFill>
                <a:latin typeface="Microsoft JhengHei"/>
              </a:rPr>
              <a:t>把結果回饋，</a:t>
            </a:r>
          </a:p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A89E8C"/>
                </a:solidFill>
                <a:latin typeface="Microsoft JhengHei"/>
              </a:rPr>
              <a:t>進入下一輪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520440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6B6459"/>
                </a:solidFill>
                <a:latin typeface="Consolas"/>
              </a:rPr>
              <a:t>↺  下一輪回到「AI 提測資」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069080"/>
            <a:ext cx="10607040" cy="2194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50" b="1">
                <a:solidFill>
                  <a:srgbClr val="DFA050"/>
                </a:solidFill>
                <a:latin typeface="Microsoft JhengHei"/>
              </a:rPr>
              <a:t>›  </a:t>
            </a:r>
            <a:r>
              <a:rPr sz="1350">
                <a:solidFill>
                  <a:srgbClr val="EDE4D0"/>
                </a:solidFill>
                <a:latin typeface="Microsoft JhengHei"/>
              </a:rPr>
              <a:t>審核規則：只看分數；一個一個挑能讓整體抓錯率變高的測資；每種錯誤至少要被一道測資擋到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50" b="1">
                <a:solidFill>
                  <a:srgbClr val="DFA050"/>
                </a:solidFill>
                <a:latin typeface="Microsoft JhengHei"/>
              </a:rPr>
              <a:t>›  </a:t>
            </a:r>
            <a:r>
              <a:rPr sz="1350">
                <a:solidFill>
                  <a:srgbClr val="EDE4D0"/>
                </a:solidFill>
                <a:latin typeface="Microsoft JhengHei"/>
              </a:rPr>
              <a:t>參考：有客觀檢查器把關，人和 AI 合作更可靠（Wang 等人）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50" b="1">
                <a:solidFill>
                  <a:srgbClr val="DFA050"/>
                </a:solidFill>
                <a:latin typeface="Microsoft JhengHei"/>
              </a:rPr>
              <a:t>›  </a:t>
            </a:r>
            <a:r>
              <a:rPr sz="1350">
                <a:solidFill>
                  <a:srgbClr val="EDE4D0"/>
                </a:solidFill>
                <a:latin typeface="Microsoft JhengHei"/>
              </a:rPr>
              <a:t>參考：先看數字、再看理由，避免被 AI 講得很有道理就相信（Lane 等人）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50" b="1">
                <a:solidFill>
                  <a:srgbClr val="DFA050"/>
                </a:solidFill>
                <a:latin typeface="Microsoft JhengHei"/>
              </a:rPr>
              <a:t>›  </a:t>
            </a:r>
            <a:r>
              <a:rPr sz="1350">
                <a:solidFill>
                  <a:srgbClr val="EDE4D0"/>
                </a:solidFill>
                <a:latin typeface="Microsoft JhengHei"/>
              </a:rPr>
              <a:t>現況：AI 代替人審核，紀錄標「測試階段」；之後換人工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FA050"/>
                </a:solidFill>
                <a:latin typeface="Consolas"/>
              </a:rPr>
              <a:t>現況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EDE4D0"/>
                </a:solidFill>
                <a:latin typeface="Microsoft JhengHei"/>
              </a:rPr>
              <a:t>三題環境測試現況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459"/>
                </a:solidFill>
                <a:latin typeface="Consolas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9270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2103120"/>
                <a:gridCol w="2011680"/>
                <a:gridCol w="2423160"/>
              </a:tblGrid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DFA050"/>
                          </a:solidFill>
                          <a:latin typeface="Microsoft JhengHei"/>
                        </a:rPr>
                        <a:t>題目</a:t>
                      </a:r>
                    </a:p>
                  </a:txBody>
                  <a:tcPr marL="127000" marR="127000" marT="76200" marB="76200" anchor="ctr">
                    <a:solidFill>
                      <a:srgbClr val="3A2B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DFA050"/>
                          </a:solidFill>
                          <a:latin typeface="Microsoft JhengHei"/>
                        </a:rPr>
                        <a:t>天花板</a:t>
                      </a:r>
                    </a:p>
                  </a:txBody>
                  <a:tcPr marL="127000" marR="127000" marT="76200" marB="76200" anchor="ctr">
                    <a:solidFill>
                      <a:srgbClr val="3A2B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DFA050"/>
                          </a:solidFill>
                          <a:latin typeface="Microsoft JhengHei"/>
                        </a:rPr>
                        <a:t>起點</a:t>
                      </a:r>
                    </a:p>
                  </a:txBody>
                  <a:tcPr marL="127000" marR="127000" marT="76200" marB="76200" anchor="ctr">
                    <a:solidFill>
                      <a:srgbClr val="3A2B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DFA050"/>
                          </a:solidFill>
                          <a:latin typeface="Microsoft JhengHei"/>
                        </a:rPr>
                        <a:t>目前</a:t>
                      </a:r>
                    </a:p>
                  </a:txBody>
                  <a:tcPr marL="127000" marR="127000" marT="76200" marB="76200" anchor="ctr">
                    <a:solidFill>
                      <a:srgbClr val="3A2B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DFA050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127000" marR="127000" marT="76200" marB="76200" anchor="ctr">
                    <a:solidFill>
                      <a:srgbClr val="3A2B16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EDE4D0"/>
                          </a:solidFill>
                          <a:latin typeface="Microsoft JhengHei"/>
                        </a:rPr>
                        <a:t>最長不重複子字串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EDE4D0"/>
                          </a:solidFill>
                          <a:latin typeface="Microsoft JhengHei"/>
                        </a:rPr>
                        <a:t>100%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EDE4D0"/>
                          </a:solidFill>
                          <a:latin typeface="Microsoft JhengHei"/>
                        </a:rPr>
                        <a:t>人工調整 17 道</a:t>
                      </a:r>
                    </a:p>
                    <a:p>
                      <a:pPr algn="l"/>
                      <a:r>
                        <a:rPr sz="1250" b="0">
                          <a:solidFill>
                            <a:srgbClr val="EDE4D0"/>
                          </a:solidFill>
                          <a:latin typeface="Microsoft JhengHei"/>
                        </a:rPr>
                        <a:t>調整組 88%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EDE4D0"/>
                          </a:solidFill>
                          <a:latin typeface="Microsoft JhengHei"/>
                        </a:rPr>
                        <a:t>驗收組 47%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EDE4D0"/>
                          </a:solidFill>
                          <a:latin typeface="Microsoft JhengHei"/>
                        </a:rPr>
                        <a:t>調整組好看，驗收組差很多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EDE4D0"/>
                          </a:solidFill>
                          <a:latin typeface="Microsoft JhengHei"/>
                        </a:rPr>
                        <a:t>買賣股票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EDE4D0"/>
                          </a:solidFill>
                          <a:latin typeface="Microsoft JhengHei"/>
                        </a:rPr>
                        <a:t>83%</a:t>
                      </a:r>
                    </a:p>
                    <a:p>
                      <a:pPr algn="l"/>
                      <a:r>
                        <a:rPr sz="1250" b="0">
                          <a:solidFill>
                            <a:srgbClr val="EDE4D0"/>
                          </a:solidFill>
                          <a:latin typeface="Microsoft JhengHei"/>
                        </a:rPr>
                        <a:t>（6 種最多擋 5 種）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EDE4D0"/>
                          </a:solidFill>
                          <a:latin typeface="Microsoft JhengHei"/>
                        </a:rPr>
                        <a:t>2 道：50%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EDE4D0"/>
                          </a:solidFill>
                          <a:latin typeface="Microsoft JhengHei"/>
                        </a:rPr>
                        <a:t>還在起點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EDE4D0"/>
                          </a:solidFill>
                          <a:latin typeface="Microsoft JhengHei"/>
                        </a:rPr>
                        <a:t>還沒開始補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EDE4D0"/>
                          </a:solidFill>
                          <a:latin typeface="Microsoft JhengHei"/>
                        </a:rPr>
                        <a:t>最長合法括號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EDE4D0"/>
                          </a:solidFill>
                          <a:latin typeface="Microsoft JhengHei"/>
                        </a:rPr>
                        <a:t>100%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EDE4D0"/>
                          </a:solidFill>
                          <a:latin typeface="Microsoft JhengHei"/>
                        </a:rPr>
                        <a:t>3 道：28%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EDE4D0"/>
                          </a:solidFill>
                          <a:latin typeface="Microsoft JhengHei"/>
                        </a:rPr>
                        <a:t>第 2 輪 14 道：55%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EDE4D0"/>
                          </a:solidFill>
                          <a:latin typeface="Microsoft JhengHei"/>
                        </a:rPr>
                        <a:t>進行中，有一種錯誤一直擋不到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DFA050"/>
                </a:solidFill>
                <a:latin typeface="Microsoft JhengHei"/>
              </a:rPr>
              <a:t>調整組的高分不一定代表好，所以環境裡保留驗收組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FA050"/>
                </a:solidFill>
                <a:latin typeface="Consolas"/>
              </a:rPr>
              <a:t>觀察 1／3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EDE4D0"/>
                </a:solidFill>
                <a:latin typeface="Microsoft JhengHei"/>
              </a:rPr>
              <a:t>發現一：人工調的測資會騙人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459"/>
                </a:solidFill>
                <a:latin typeface="Consola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459"/>
                </a:solidFill>
                <a:latin typeface="Consolas"/>
              </a:rPr>
              <a:t>最長不重複子字串｜人工一步步調整 17 道測資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A89E8C"/>
                </a:solidFill>
                <a:latin typeface="Microsoft JhengHei"/>
              </a:rPr>
              <a:t>調整時看的錯誤程式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2359152"/>
            <a:ext cx="6766559" cy="493775"/>
          </a:xfrm>
          <a:prstGeom prst="rect">
            <a:avLst/>
          </a:prstGeom>
          <a:solidFill>
            <a:srgbClr val="1D1A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0" y="2359152"/>
            <a:ext cx="5954572" cy="493775"/>
          </a:xfrm>
          <a:prstGeom prst="rect">
            <a:avLst/>
          </a:prstGeom>
          <a:solidFill>
            <a:srgbClr val="5CB8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61319" y="22860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CB87C"/>
                </a:solidFill>
                <a:latin typeface="Consolas"/>
              </a:rPr>
              <a:t>88%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A89E8C"/>
                </a:solidFill>
                <a:latin typeface="Microsoft JhengHei"/>
              </a:rPr>
              <a:t>先藏起來的驗收組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3182112"/>
            <a:ext cx="6766559" cy="493775"/>
          </a:xfrm>
          <a:prstGeom prst="rect">
            <a:avLst/>
          </a:prstGeom>
          <a:solidFill>
            <a:srgbClr val="1D1A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3182112"/>
            <a:ext cx="3180283" cy="493775"/>
          </a:xfrm>
          <a:prstGeom prst="rect">
            <a:avLst/>
          </a:prstGeom>
          <a:solidFill>
            <a:srgbClr val="D96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61319" y="310896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D96870"/>
                </a:solidFill>
                <a:latin typeface="Consolas"/>
              </a:rPr>
              <a:t>47%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114800"/>
            <a:ext cx="5349240" cy="182880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2519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96870"/>
                </a:solidFill>
                <a:latin typeface="Consolas"/>
              </a:rPr>
              <a:t>發現的問題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EDE4D0"/>
                </a:solidFill>
                <a:latin typeface="Microsoft JhengHei"/>
              </a:rPr>
              <a:t>人工調出來的測資，只對「看過的錯誤」有效，換一批就漏了。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114800"/>
            <a:ext cx="5349240" cy="182880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2519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5CB87C"/>
                </a:solidFill>
                <a:latin typeface="Consolas"/>
              </a:rPr>
              <a:t>怎麼調整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66344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EDE4D0"/>
                </a:solidFill>
                <a:latin typeface="Microsoft JhengHei"/>
              </a:rPr>
              <a:t>驗收組先藏好、調整時不碰；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EDE4D0"/>
                </a:solidFill>
                <a:latin typeface="Microsoft JhengHei"/>
              </a:rPr>
              <a:t>測資改成有系統地補，不只靠人想。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FA050"/>
                </a:solidFill>
                <a:latin typeface="Consolas"/>
              </a:rPr>
              <a:t>觀察 2／3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EDE4D0"/>
                </a:solidFill>
                <a:latin typeface="Microsoft JhengHei"/>
              </a:rPr>
              <a:t>發現二：AI 一開始補得很散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459"/>
                </a:solidFill>
                <a:latin typeface="Consola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459"/>
                </a:solidFill>
                <a:latin typeface="Consolas"/>
              </a:rPr>
              <a:t>最長合法括號｜AI 提測資、系統打分、再決定留哪些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A89E8C"/>
                </a:solidFill>
                <a:latin typeface="Microsoft JhengHei"/>
              </a:rPr>
              <a:t>人工 3 道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267712"/>
            <a:ext cx="6035040" cy="402335"/>
          </a:xfrm>
          <a:prstGeom prst="rect">
            <a:avLst/>
          </a:prstGeom>
          <a:solidFill>
            <a:srgbClr val="1D1A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2267712"/>
            <a:ext cx="1689811" cy="402335"/>
          </a:xfrm>
          <a:prstGeom prst="rect">
            <a:avLst/>
          </a:prstGeom>
          <a:solidFill>
            <a:srgbClr val="6B6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61320" y="2194560"/>
            <a:ext cx="10058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6B6459"/>
                </a:solidFill>
                <a:latin typeface="Consolas"/>
              </a:rPr>
              <a:t>28%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889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A89E8C"/>
                </a:solidFill>
                <a:latin typeface="Microsoft JhengHei"/>
              </a:rPr>
              <a:t>AI 候選（第一版指示）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2862072"/>
            <a:ext cx="6035040" cy="402335"/>
          </a:xfrm>
          <a:prstGeom prst="rect">
            <a:avLst/>
          </a:prstGeom>
          <a:solidFill>
            <a:srgbClr val="1D1A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2862072"/>
            <a:ext cx="2474366" cy="402335"/>
          </a:xfrm>
          <a:prstGeom prst="rect">
            <a:avLst/>
          </a:prstGeom>
          <a:solidFill>
            <a:srgbClr val="DF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61320" y="2788920"/>
            <a:ext cx="10058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DFA050"/>
                </a:solidFill>
                <a:latin typeface="Consolas"/>
              </a:rPr>
              <a:t>41%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38328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A89E8C"/>
                </a:solidFill>
                <a:latin typeface="Microsoft JhengHei"/>
              </a:rPr>
              <a:t>AI 候選（改寫後指示）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3456432"/>
            <a:ext cx="6035040" cy="402335"/>
          </a:xfrm>
          <a:prstGeom prst="rect">
            <a:avLst/>
          </a:prstGeom>
          <a:solidFill>
            <a:srgbClr val="1D1A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120" y="3456432"/>
            <a:ext cx="3198571" cy="402335"/>
          </a:xfrm>
          <a:prstGeom prst="rect">
            <a:avLst/>
          </a:prstGeom>
          <a:solidFill>
            <a:srgbClr val="5CB8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61320" y="3383280"/>
            <a:ext cx="10058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CB87C"/>
                </a:solidFill>
                <a:latin typeface="Consolas"/>
              </a:rPr>
              <a:t>53%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977639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A89E8C"/>
                </a:solidFill>
                <a:latin typeface="Microsoft JhengHei"/>
              </a:rPr>
              <a:t>第 2 輪留下 14 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0" y="4050791"/>
            <a:ext cx="6035040" cy="402335"/>
          </a:xfrm>
          <a:prstGeom prst="rect">
            <a:avLst/>
          </a:prstGeom>
          <a:solidFill>
            <a:srgbClr val="1D1A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120" y="4050791"/>
            <a:ext cx="3319272" cy="402335"/>
          </a:xfrm>
          <a:prstGeom prst="rect">
            <a:avLst/>
          </a:prstGeom>
          <a:solidFill>
            <a:srgbClr val="5CB8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61320" y="3977639"/>
            <a:ext cx="10058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CB87C"/>
                </a:solidFill>
                <a:latin typeface="Consolas"/>
              </a:rPr>
              <a:t>55%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754880"/>
            <a:ext cx="5349240" cy="137160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6460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96870"/>
                </a:solidFill>
                <a:latin typeface="Consolas"/>
              </a:rPr>
              <a:t>發現的問題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5780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EDE4D0"/>
                </a:solidFill>
                <a:latin typeface="Microsoft JhengHei"/>
              </a:rPr>
              <a:t>第一版指示下，AI 的測資大多一道只擋一種錯誤，效率低。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754880"/>
            <a:ext cx="5349240" cy="137160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486460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5CB87C"/>
                </a:solidFill>
                <a:latin typeface="Consolas"/>
              </a:rPr>
              <a:t>怎麼調整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25780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EDE4D0"/>
                </a:solidFill>
                <a:latin typeface="Microsoft JhengHei"/>
              </a:rPr>
              <a:t>告訴 AI 每道測資擋了幾種，並要求新的要比目前更多。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FA050"/>
                </a:solidFill>
                <a:latin typeface="Consolas"/>
              </a:rPr>
              <a:t>觀察 3／3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EDE4D0"/>
                </a:solidFill>
                <a:latin typeface="Microsoft JhengHei"/>
              </a:rPr>
              <a:t>發現三：有一種錯誤怎麼補都擋不到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459"/>
                </a:solidFill>
                <a:latin typeface="Consolas"/>
              </a:rPr>
              <a:t>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3840480" cy="2148840"/>
          </a:xfrm>
          <a:prstGeom prst="roundRect">
            <a:avLst>
              <a:gd name="adj" fmla="val 4500"/>
            </a:avLst>
          </a:prstGeom>
          <a:solidFill>
            <a:srgbClr val="39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96870"/>
                </a:solidFill>
                <a:latin typeface="Consolas"/>
              </a:rPr>
              <a:t>沒有分數回饋時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D96870"/>
                </a:solidFill>
                <a:latin typeface="Consolas"/>
              </a:rPr>
              <a:t>0 / 69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0040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A89E8C"/>
                </a:solidFill>
                <a:latin typeface="Microsoft JhengHei"/>
              </a:rPr>
              <a:t>一次多提甚至提 46 道再挑，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A89E8C"/>
                </a:solidFill>
                <a:latin typeface="Microsoft JhengHei"/>
              </a:rPr>
              <a:t>都沒有一道擋到它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78308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A89E8C"/>
                </a:solidFill>
                <a:latin typeface="Microsoft JhengHei"/>
              </a:rPr>
              <a:t>同一輪內固定 24 道測資的對照（3 次有效）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28600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A89E8C"/>
                </a:solidFill>
                <a:latin typeface="Microsoft JhengHei"/>
              </a:rPr>
              <a:t>看分數再改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59" y="2359152"/>
            <a:ext cx="3703320" cy="493775"/>
          </a:xfrm>
          <a:prstGeom prst="rect">
            <a:avLst/>
          </a:prstGeom>
          <a:solidFill>
            <a:srgbClr val="1D1A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66559" y="2359152"/>
            <a:ext cx="869146" cy="493775"/>
          </a:xfrm>
          <a:prstGeom prst="rect">
            <a:avLst/>
          </a:prstGeom>
          <a:solidFill>
            <a:srgbClr val="5CB8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22860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CB87C"/>
                </a:solidFill>
                <a:latin typeface="Consolas"/>
              </a:rPr>
              <a:t>23/98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10896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A89E8C"/>
                </a:solidFill>
                <a:latin typeface="Microsoft JhengHei"/>
              </a:rPr>
              <a:t>不看分數重抽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59" y="3182112"/>
            <a:ext cx="3703320" cy="493775"/>
          </a:xfrm>
          <a:prstGeom prst="rect">
            <a:avLst/>
          </a:prstGeom>
          <a:solidFill>
            <a:srgbClr val="1D1A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0" y="310896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D96870"/>
                </a:solidFill>
                <a:latin typeface="Consolas"/>
              </a:rPr>
              <a:t>0/93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60520"/>
            <a:ext cx="5349240" cy="182880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5CB87C"/>
                </a:solidFill>
                <a:latin typeface="Consolas"/>
              </a:rPr>
              <a:t>怎麼調整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70916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EDE4D0"/>
                </a:solidFill>
                <a:latin typeface="Microsoft JhengHei"/>
              </a:rPr>
              <a:t>在同一輪裡，把「這批擋了幾種、最難的那種有幾道擋到」告訴 AI，再讓它提一批。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160520"/>
            <a:ext cx="5349240" cy="182880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2976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FA050"/>
                </a:solidFill>
                <a:latin typeface="Consolas"/>
              </a:rPr>
              <a:t>老實說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70916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EDE4D0"/>
                </a:solidFill>
                <a:latin typeface="Microsoft JhengHei"/>
              </a:rPr>
              <a:t>整體分數兩組差不多，進步主要來自「挑選」；看分數似乎只對最難的那種有幫助。只有 3 次有效、波動大，只當線索。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FA050"/>
                </a:solidFill>
                <a:latin typeface="Consolas"/>
              </a:rPr>
              <a:t>誠實說明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EDE4D0"/>
                </a:solidFill>
                <a:latin typeface="Microsoft JhengHei"/>
              </a:rPr>
              <a:t>還沒解決的與限制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459"/>
                </a:solidFill>
                <a:latin typeface="Consolas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D96870"/>
                </a:solidFill>
                <a:latin typeface="Consolas"/>
              </a:rPr>
              <a:t>還沒解決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03520" cy="1005840"/>
          </a:xfrm>
          <a:prstGeom prst="roundRect">
            <a:avLst>
              <a:gd name="adj" fmla="val 4500"/>
            </a:avLst>
          </a:prstGeom>
          <a:solidFill>
            <a:srgbClr val="39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DE4D0"/>
                </a:solidFill>
                <a:latin typeface="Microsoft JhengHei"/>
              </a:rPr>
              <a:t>目前最好的一次整體約 65%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03520" cy="1005840"/>
          </a:xfrm>
          <a:prstGeom prst="roundRect">
            <a:avLst>
              <a:gd name="adj" fmla="val 4500"/>
            </a:avLst>
          </a:prstGeom>
          <a:solidFill>
            <a:srgbClr val="39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3756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DE4D0"/>
                </a:solidFill>
                <a:latin typeface="Microsoft JhengHei"/>
              </a:rPr>
              <a:t>沒有任何一道測資能一次擋下全部 6 種錯誤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526280"/>
            <a:ext cx="5303520" cy="1005840"/>
          </a:xfrm>
          <a:prstGeom prst="roundRect">
            <a:avLst>
              <a:gd name="adj" fmla="val 4500"/>
            </a:avLst>
          </a:prstGeom>
          <a:solidFill>
            <a:srgbClr val="39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DE4D0"/>
                </a:solidFill>
                <a:latin typeface="Microsoft JhengHei"/>
              </a:rPr>
              <a:t>現在是 AI 代替人審核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6916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DFA050"/>
                </a:solidFill>
                <a:latin typeface="Consolas"/>
              </a:rPr>
              <a:t>限制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94560"/>
            <a:ext cx="5257800" cy="3840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350" b="1">
                <a:solidFill>
                  <a:srgbClr val="DFA050"/>
                </a:solidFill>
                <a:latin typeface="Microsoft JhengHei"/>
              </a:rPr>
              <a:t>›  </a:t>
            </a:r>
            <a:r>
              <a:rPr sz="1350">
                <a:solidFill>
                  <a:srgbClr val="EDE4D0"/>
                </a:solidFill>
                <a:latin typeface="Microsoft JhengHei"/>
              </a:rPr>
              <a:t>本專題不做準度與效度驗證，數字只是環境測試的觀察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350" b="1">
                <a:solidFill>
                  <a:srgbClr val="DFA050"/>
                </a:solidFill>
                <a:latin typeface="Microsoft JhengHei"/>
              </a:rPr>
              <a:t>›  </a:t>
            </a:r>
            <a:r>
              <a:rPr sz="1350">
                <a:solidFill>
                  <a:srgbClr val="EDE4D0"/>
                </a:solidFill>
                <a:latin typeface="Microsoft JhengHei"/>
              </a:rPr>
              <a:t>題目少：只有 3 題做過，其中 1 題做了多輪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350" b="1">
                <a:solidFill>
                  <a:srgbClr val="DFA050"/>
                </a:solidFill>
                <a:latin typeface="Microsoft JhengHei"/>
              </a:rPr>
              <a:t>›  </a:t>
            </a:r>
            <a:r>
              <a:rPr sz="1350">
                <a:solidFill>
                  <a:srgbClr val="EDE4D0"/>
                </a:solidFill>
                <a:latin typeface="Microsoft JhengHei"/>
              </a:rPr>
              <a:t>安全執行不是很強的隔離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350" b="1">
                <a:solidFill>
                  <a:srgbClr val="DFA050"/>
                </a:solidFill>
                <a:latin typeface="Microsoft JhengHei"/>
              </a:rPr>
              <a:t>›  </a:t>
            </a:r>
            <a:r>
              <a:rPr sz="1350">
                <a:solidFill>
                  <a:srgbClr val="EDE4D0"/>
                </a:solidFill>
                <a:latin typeface="Microsoft JhengHei"/>
              </a:rPr>
              <a:t>AI 服務偶爾回傳空白或連續失敗，會影響觀察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FA050"/>
                </a:solidFill>
                <a:latin typeface="Consolas"/>
              </a:rPr>
              <a:t>未完成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EDE4D0"/>
                </a:solidFill>
                <a:latin typeface="Microsoft JhengHei"/>
              </a:rPr>
              <a:t>接下來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459"/>
                </a:solidFill>
                <a:latin typeface="Consolas"/>
              </a:rPr>
              <a:t>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927080" cy="114300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329184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DFA050"/>
                </a:solidFill>
                <a:latin typeface="Microsoft JhengHei"/>
              </a:rPr>
              <a:t>換成人工審核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1920240"/>
            <a:ext cx="685800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A89E8C"/>
                </a:solidFill>
                <a:latin typeface="Microsoft JhengHei"/>
              </a:rPr>
              <a:t>補做更多輪觀察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91840"/>
            <a:ext cx="10927080" cy="114300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291840"/>
            <a:ext cx="329184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DFA050"/>
                </a:solidFill>
                <a:latin typeface="Microsoft JhengHei"/>
              </a:rPr>
              <a:t>放進正式流程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291840"/>
            <a:ext cx="685800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A89E8C"/>
                </a:solidFill>
                <a:latin typeface="Microsoft JhengHei"/>
              </a:rPr>
              <a:t>把「看到分數再改」納入程式庫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663440"/>
            <a:ext cx="10927080" cy="1143000"/>
          </a:xfrm>
          <a:prstGeom prst="roundRect">
            <a:avLst>
              <a:gd name="adj" fmla="val 4500"/>
            </a:avLst>
          </a:prstGeom>
          <a:solidFill>
            <a:srgbClr val="15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63440"/>
            <a:ext cx="329184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DFA050"/>
                </a:solidFill>
                <a:latin typeface="Microsoft JhengHei"/>
              </a:rPr>
              <a:t>延伸方向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4663440"/>
            <a:ext cx="685800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A89E8C"/>
                </a:solidFill>
                <a:latin typeface="Microsoft JhengHei"/>
              </a:rPr>
              <a:t>提示升階、遮照填空、學習成效等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A89E8C"/>
                </a:solidFill>
                <a:latin typeface="Microsoft JhengHei"/>
              </a:rPr>
              <a:t>只在報告後口頭簡述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7373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DFA050"/>
                </a:solidFill>
                <a:latin typeface="Consolas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289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1" i="0">
                <a:solidFill>
                  <a:srgbClr val="EDE4D0"/>
                </a:solidFill>
                <a:latin typeface="Microsoft JhengHei"/>
              </a:rPr>
              <a:t>交一份寫錯的程式  →  系統判定哪裡錯</a:t>
            </a:r>
          </a:p>
          <a:p>
            <a:pPr algn="ctr">
              <a:lnSpc>
                <a:spcPct val="140000"/>
              </a:lnSpc>
            </a:pPr>
            <a:r>
              <a:rPr sz="2000" b="1" i="0">
                <a:solidFill>
                  <a:srgbClr val="EDE4D0"/>
                </a:solidFill>
                <a:latin typeface="Microsoft JhengHei"/>
              </a:rPr>
              <a:t>→  AI 給不含程式碼的提示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11880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A89E8C"/>
                </a:solidFill>
                <a:latin typeface="Microsoft JhengHei"/>
              </a:rPr>
              <a:t>再看測資每一輪的變化報告</a:t>
            </a:r>
          </a:p>
        </p:txBody>
      </p:sp>
      <p:sp>
        <p:nvSpPr>
          <p:cNvPr id="5" name="Rectangle 4"/>
          <p:cNvSpPr/>
          <p:nvPr/>
        </p:nvSpPr>
        <p:spPr>
          <a:xfrm>
            <a:off x="5272887" y="4434840"/>
            <a:ext cx="1645920" cy="10972"/>
          </a:xfrm>
          <a:prstGeom prst="rect">
            <a:avLst/>
          </a:prstGeom>
          <a:solidFill>
            <a:srgbClr val="3A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709160"/>
            <a:ext cx="1036289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DFA050"/>
                </a:solidFill>
                <a:latin typeface="Microsoft JhengHei"/>
              </a:rPr>
              <a:t>先讓「測資好不好」看得見，</a:t>
            </a:r>
          </a:p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DFA050"/>
                </a:solidFill>
                <a:latin typeface="Microsoft JhengHei"/>
              </a:rPr>
              <a:t>再談 AI 提示怎麼做得更好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12648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6459"/>
                </a:solidFill>
                <a:latin typeface="Consolas"/>
              </a:rPr>
              <a:t>謝謝聆聽　Q &amp; 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B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FA050"/>
                </a:solidFill>
                <a:latin typeface="Consolas"/>
              </a:rPr>
              <a:t>附錄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EDE4D0"/>
                </a:solidFill>
                <a:latin typeface="Microsoft JhengHei"/>
              </a:rPr>
              <a:t>附錄：名詞對照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6459"/>
                </a:solidFill>
                <a:latin typeface="Consolas"/>
              </a:rPr>
              <a:t>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9270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00100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DFA050"/>
                          </a:solidFill>
                          <a:latin typeface="Microsoft JhengHei"/>
                        </a:rPr>
                        <a:t>專業詞</a:t>
                      </a:r>
                    </a:p>
                  </a:txBody>
                  <a:tcPr marL="127000" marR="127000" marT="76200" marB="76200" anchor="ctr">
                    <a:solidFill>
                      <a:srgbClr val="3A2B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DFA050"/>
                          </a:solidFill>
                          <a:latin typeface="Microsoft JhengHei"/>
                        </a:rPr>
                        <a:t>白話說法</a:t>
                      </a:r>
                    </a:p>
                  </a:txBody>
                  <a:tcPr marL="127000" marR="127000" marT="76200" marB="76200" anchor="ctr">
                    <a:solidFill>
                      <a:srgbClr val="3A2B1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測資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用來檢查程式對不對的一道道測試題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S+（正解池）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一批「寫對的程式」樣本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S-（錯解池）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一批「常見寫錯的程式」樣本，每個藏一種錯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TPR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寫對的程式有多少沒被冤枉（我們的設計下幾乎是 100%）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TNR（抓錯率）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寫錯的程式有多少被測資擋下來；只當觀察指標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天花板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這一題理論上，一組測資最多能擋下多少比例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調整組／驗收組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調整時會看的錯誤程式／先藏起來最後才看的（像期末考）</a:t>
                      </a:r>
                    </a:p>
                  </a:txBody>
                  <a:tcPr marL="127000" marR="127000" marT="76200" marB="76200" anchor="ctr">
                    <a:solidFill>
                      <a:srgbClr val="15131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code-blind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DE4D0"/>
                          </a:solidFill>
                          <a:latin typeface="Microsoft JhengHei"/>
                        </a:rPr>
                        <a:t>AI 根本看不到學生的程式碼，沒辦法直接幫忙寫</a:t>
                      </a:r>
                    </a:p>
                  </a:txBody>
                  <a:tcPr marL="127000" marR="127000" marT="76200" marB="76200" anchor="ctr">
                    <a:solidFill>
                      <a:srgbClr val="1D1A1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