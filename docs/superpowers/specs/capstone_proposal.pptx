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開場" id="{dcf9e5e5-311d-cd20-9212-b37b4d77a911}">
          <p14:sldIdLst>
            <p14:sldId id="256"/>
            <p14:sldId id="257"/>
            <p14:sldId id="258"/>
            <p14:sldId id="259"/>
          </p14:sldIdLst>
        </p14:section>
        <p14:section name="名詞" id="{f13b8f84-3733-3ffc-2b54-3ab0b44d52b9}">
          <p14:sldIdLst>
            <p14:sldId id="260"/>
            <p14:sldId id="261"/>
            <p14:sldId id="262"/>
            <p14:sldId id="263"/>
          </p14:sldIdLst>
        </p14:section>
        <p14:section name="發現與結果" id="{2b0db44c-e47a-1769-b3d8-03e5c58910e0}">
          <p14:sldIdLst>
            <p14:sldId id="264"/>
            <p14:sldId id="265"/>
            <p14:sldId id="266"/>
            <p14:sldId id="267"/>
            <p14:sldId id="268"/>
          </p14:sldIdLst>
        </p14:section>
        <p14:section name="提示線與 Demo" id="{352abb38-ea3e-8b17-6893-79a20c11ae72}">
          <p14:sldIdLst>
            <p14:sldId id="269"/>
            <p14:sldId id="270"/>
          </p14:sldIdLst>
        </p14:section>
        <p14:section name="結尾" id="{72aafb8a-e252-c19f-5d0b-ff8d09570c8a}">
          <p14:sldIdLst>
            <p14:sldId id="271"/>
            <p14:sldId id="272"/>
          </p14:sldIdLst>
        </p14:section>
        <p14:section name="附錄" id="{19723ba2-e516-b915-1cbd-9122505e3215}">
          <p14:sldIdLst>
            <p14:sldId id="273"/>
            <p14:sldId id="274"/>
            <p14:sldId id="275"/>
            <p14:sldId id="276"/>
            <p14:sldId id="277"/>
            <p14:sldId id="2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開場：我們想讓 AI 只給方向、不代寫程式；這件事的前提，是測資要夠好。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學生卡關時很容易直接叫 AI 給完整答案。要讓 AI 只給方向，它得知道學生錯在哪，而這要靠測資把錯誤擋下來。但測資通常靠人想，沒人知道夠不夠。所以我們做兩件事。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上面那條給學生：交程式、安全執行、跑測資、AI 給提示、檢查關。重點是 AI 只收到題目、測資結果和虛擬碼，學生程式碼這條路根本不存在。下面那條給設計者：用寫對和寫錯的程式量測資好不好，再讓 AI 自動補。兩條線的交會：測資越好，提示越有依據。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我們的研究問題是：全自動的流程能不能從頭跑到尾，並讓測資比起點進步。這次不宣稱準度、效度或學習成效，也不設成功門檻。範圍是 3 題、每題一次實驗、審核全部由程式依數字自動進行。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接下來四頁都用同一題「買賣股票」。題目是：給每天的股價，只能買一次、之後賣一次，求最大利潤，賺不到就回 0。測資就是一道測試題：一組輸入加上正確答案。這兩道是 LeetCode 官方給的範例。問題是，只靠這兩道夠不夠？接下來三頁就是我們回答這個問題的尺。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第二個名詞是寫對的程式。我們每題準備 3 份不同寫法的正解。TPR 是寫對的程式有沒有被冤枉，要 100%。為什麼要 3 份不同寫法？如果某道測資的正確答案本身算錯，至少會有一份寫對的程式和它對不上，我們就會發現。所以正確答案一律由寫對的程式算出來，不讓 AI 給答案。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第三個名詞是寫錯的程式。每份故意藏一種初學者常犯的錯，每題 6 份。用測資 A 跑一次：有 4 種回答錯的數字，被擋下來；第 4 和第 5 種剛好答對 5，溜過去了。注意，答錯不一定是程式當掉，很多時候是算出一個看起來合理、但不對的數字。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把兩道測資和 6 份錯誤程式排成格子，被擋下的格子塗色。12 格擋下 6 格，TNR 就是 0.5，也就是寫錯的程式平均有一半被擋下。漏網是指某份寫錯的程式通過了全部測資：第 5 種「迴圈少看最後一天」兩道都答對，所以只用官方範例，就漏掉一種常見錯誤。後面會看到，TNR 高不一定代表測資好。接下來三個發現，都是用這把尺量出來的，也都是這把尺本身的陷阱。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先介紹驗收組：調整測資時，我們只看 6 份寫錯的程式；另外再寫 3 份，先藏起來、調整時完全不看，最後才跑一次。調整組像模擬考，驗收組像期末考。最長不重複子字串，我們人工調了 4 輪、留下 17 道測資。在調整時看的錯誤程式上 TNR 0.882，看起來很好；換成藏起來的那批，只有 0.471。經典的 abba 錯誤，17 道只有 1 道擋到，而且那一道是隨機產生的。測資對看過的錯誤很強，換一批就漏了。所以之後每個數字都同時報調整組和驗收組。樣本：1 題、3 份驗收用錯誤程式。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原本的標準是 TNR 大於等於 0.85 才算好。但有些題目怎麼補都到不了。括號是否成對：我們窮舉長度 1 到 8 的全部 201 萬個輸入，一道測資最多只能同時擋下 6 種錯誤裡的 4 種，所以 TNR 上限是 0.667。買賣股票的上限是 0.833。原因是：有些錯誤只在特定答案時才會露出來。太寬鬆的錯誤只有答案是 False 時抓得到，太嚴格的只有答案是 True 時抓得到，一道測資的答案只有一個。TNR 其實是每道測資平均擋幾種錯，平均不可能超過單道的最大值。所以我們改用達成率：TNR 除以上限。上限是題目本身的性質，跟 AI 或出題的人能力無關。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全自動流程：AI 提出候選測資，只提供輸入、不給答案，答案由寫對的程式算。機器評測算出 TPR 和 TNR。自動審核只看分數、不看 AI 寫的理由，每次挑加進來後平均 TNR 最高的一道，不再提高就停。然後判斷要不要停：達成率到 0.85、上一輪沒留下新測資、或跑滿輪數。結束後驗收組只跑一次。所有提案、審核、評測都存檔；用正式版程式重算既有 8 輪，結果全部一致。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這一頁從文獻出發。Cai 等人提出 CodeContests-O：只靠 LLM 自己產生的測資不夠多樣，所以把測資拿去跑已知的正確解和錯誤解，再把執行結果回饋給 LLM 一輪一輪修正。他們在大規模資料上得到很高的 TPR 和 TNR。Wang 等人則提出驗證器把關的協作方式：LLM 產出、驗證器評分、再決定怎麼處理。本專題把這兩個想法放進同一個全自動流程：我們的 TPR、TNR 評測就是驗證器，自動審核只看分數。觀察到的是：在兩題上，流程都能從頭跑到尾，測資都比起點進步；但都沒有達到 0.85。和文獻不同的是，我們每題只有一次實驗、6 份錯誤程式，所以只當可行性的觀察。細節數字：困難題 0.278 到 0.676，簡單題 0.500 到 0.583。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Yang 等人在 TestCase-Eval 裡，用兩個面向評估 LLM 產生的測資：錯誤覆蓋，是一組測資能涵蓋多少種失敗方式；錯誤暴露，是能不能針對某一個錯誤寫法，產生讓它出錯的輸入。我們在買賣股票這題觀察到，這兩個面向會互相拉扯。自動審核只收能提高平均 TNR 的測資，平均 TNR 比較接近每道測資能擋下多少錯，所以只抓到少數錯誤、但能補漏洞的測資被拒絕，結果停在 4 道，驗收組漏掉一種錯誤。實驗之外補了邊界案例後，覆蓋變完整，驗收組不再漏網，但平均 TNR 從 0.583 降到 0.383。意涵是：評估測資要同時看兩個面向，只追平均會犧牲覆蓋。下一步是覆蓋優先的審核。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提示線也從文獻出發。Kazemitabaar 等人的 CodeAid 在 700 名學生的課堂部署了 12 週，設計原則之一是避免直接給答案，改用帶逐行說明的虛擬碼。Xiao 等人則提醒：只有高層次的文字提示，可能沒有幫助，甚至會誤導；更具體的提示比較能幫到新手。這兩點之間有張力：太抽象沒用，太具體又變成給答案。我們的做法是：AI 結構上拿不到學生的程式碼；用通過往返檢查的虛擬碼，當作比文字提示具體、但又不是可以直接貼上的答案的中間層；檢查關會擋下夾帶程式碼或整段照抄虛擬碼的提示。觀察：6 種錯誤各試一次都通過自動檢查，但提示方向好不好，仍需要人判斷。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時請大家對照三個設計原則來看。第一，不給完整答案，來自 CodeAid：看提示裡有沒有可以直接貼上的程式。第二，比高層次文字更具體，來自 Xiao 等人：看提示有沒有指到虛擬碼的步驟。第三，讓學生自己判斷，也是 CodeAid 的透明原則：看失敗測資的輸入、預期、實際結果是不是都攤開給學生。操作：打開最長合法括號題目頁、展開虛擬碼，交一份常見錯解，看系統怎麼判、AI 怎麼提示。事先錄好影片當備案。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限制：不做準度與效度驗證，每題一次實驗、樣本少，數字只當觀察。審核全部由程式依數字自動進行，沒有人工審核。三題都沒有達到 0.85；寫錯的程式和驗收組由同一批人設計，可能有共同盲點。實驗途中有調整，例如換過給 AI 的指示，都記錄在計畫文件。只檢查答案對不對，不檢查程式快不快；安全執行只擋不小心的誤用。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接下來：審核規則改成覆蓋優先，優先留下能補漏洞的測資。AI 先建池：讓 AI 自己寫寫對和寫錯的程式，再由機器把關，設計已完成、尚未實作。結語：先讓測資好不好看得見，才知道 AI 的提示有沒有依據。謝謝聆聽。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12 到 15 頁引用的文獻，編號與論文 IEEE_Paper.md 的參考文獻一致。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問答時翻回這頁查名詞。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被問到「這套方法能不能用在別的題目」時使用。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被問到 AI 提案怎麼調整時使用。看分數再改只有 3 次觀察，只當線索。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被問到工程細節時使用。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被問到實驗是否可信時使用。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7315200" cy="32918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spc="2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6459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914400" y="1417320"/>
            <a:ext cx="73152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500" spc="6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defRPr>
            </a:lvl1pPr>
          </a:lstStyle>
          <a:p>
            <a:pPr indent="0" marL="0">
              <a:buNone/>
            </a:pPr>
            <a:endParaRPr lang="en-US" sz="15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914400" y="1874520"/>
            <a:ext cx="103327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6459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91440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500" spc="6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提 案 與 環 境 測 試</a:t>
            </a:r>
            <a:endParaRPr lang="en-US" sz="15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914400" y="1874520"/>
            <a:ext cx="10332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tx1"/>
                </a:solidFill>
              </a:rPr>
              <a:t>不給答案的程式學習提示</a:t>
            </a:r>
            <a:endParaRPr lang="en-US" sz="4800" dirty="0"/>
          </a:p>
        </p:txBody>
      </p:sp>
      <p:sp>
        <p:nvSpPr>
          <p:cNvPr id="5" name="text-1"/>
          <p:cNvSpPr txBox="1"/>
          <p:nvPr/>
        </p:nvSpPr>
        <p:spPr>
          <a:xfrm>
            <a:off x="914400" y="30632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accent1"/>
                </a:solidFill>
              </a:rPr>
              <a:t>先把測資做好，再讓 AI 當教練</a:t>
            </a:r>
            <a:endParaRPr lang="en-US" sz="2600" dirty="0"/>
          </a:p>
        </p:txBody>
      </p:sp>
      <p:sp>
        <p:nvSpPr>
          <p:cNvPr id="6" name="text-2"/>
          <p:cNvSpPr txBox="1"/>
          <p:nvPr/>
        </p:nvSpPr>
        <p:spPr>
          <a:xfrm>
            <a:off x="914400" y="3703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看不到程式碼的 AI 提示 × 自動補測資的環境測試</a:t>
            </a:r>
            <a:endParaRPr lang="en-US" sz="1800" dirty="0"/>
          </a:p>
        </p:txBody>
      </p:sp>
      <p:sp>
        <p:nvSpPr>
          <p:cNvPr id="7" name="text-3"/>
          <p:cNvSpPr txBox="1"/>
          <p:nvPr/>
        </p:nvSpPr>
        <p:spPr>
          <a:xfrm>
            <a:off x="914400" y="5669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姓名｜系所｜指導教授｜日期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問題意識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為什麼做：兩個卡住的地方</a:t>
            </a:r>
            <a:endParaRPr lang="en-US" sz="3000" dirty="0"/>
          </a:p>
        </p:txBody>
      </p:sp>
      <p:sp>
        <p:nvSpPr>
          <p:cNvPr id="5" name="card-4"/>
          <p:cNvSpPr/>
          <p:nvPr/>
        </p:nvSpPr>
        <p:spPr>
          <a:xfrm>
            <a:off x="548640" y="1691640"/>
            <a:ext cx="534924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6" name="text-5"/>
          <p:cNvSpPr txBox="1"/>
          <p:nvPr/>
        </p:nvSpPr>
        <p:spPr>
          <a:xfrm>
            <a:off x="868680" y="1920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①</a:t>
            </a:r>
            <a:endParaRPr lang="en-US" sz="3600" dirty="0"/>
          </a:p>
        </p:txBody>
      </p:sp>
      <p:sp>
        <p:nvSpPr>
          <p:cNvPr id="7" name="text-6"/>
          <p:cNvSpPr txBox="1"/>
          <p:nvPr/>
        </p:nvSpPr>
        <p:spPr>
          <a:xfrm>
            <a:off x="1600200" y="201168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學生直接要答案</a:t>
            </a:r>
            <a:endParaRPr lang="en-US" sz="2200" dirty="0"/>
          </a:p>
        </p:txBody>
      </p:sp>
      <p:sp>
        <p:nvSpPr>
          <p:cNvPr id="8" name="text-7"/>
          <p:cNvSpPr txBox="1"/>
          <p:nvPr/>
        </p:nvSpPr>
        <p:spPr>
          <a:xfrm>
            <a:off x="868680" y="2834640"/>
            <a:ext cx="4709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遇到卡關，容易直接叫 AI 給完整程式，沒有真的學到除錯</a:t>
            </a:r>
            <a:endParaRPr lang="en-US" sz="1600" dirty="0"/>
          </a:p>
        </p:txBody>
      </p:sp>
      <p:sp>
        <p:nvSpPr>
          <p:cNvPr id="9" name="card-8"/>
          <p:cNvSpPr/>
          <p:nvPr/>
        </p:nvSpPr>
        <p:spPr>
          <a:xfrm>
            <a:off x="6217920" y="1691640"/>
            <a:ext cx="534924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0" name="text-9"/>
          <p:cNvSpPr txBox="1"/>
          <p:nvPr/>
        </p:nvSpPr>
        <p:spPr>
          <a:xfrm>
            <a:off x="6537960" y="1920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②</a:t>
            </a:r>
            <a:endParaRPr lang="en-US" sz="3600" dirty="0"/>
          </a:p>
        </p:txBody>
      </p:sp>
      <p:sp>
        <p:nvSpPr>
          <p:cNvPr id="11" name="text-10"/>
          <p:cNvSpPr txBox="1"/>
          <p:nvPr/>
        </p:nvSpPr>
        <p:spPr>
          <a:xfrm>
            <a:off x="7269480" y="201168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測資靠人想</a:t>
            </a:r>
            <a:endParaRPr lang="en-US" sz="2200" dirty="0"/>
          </a:p>
        </p:txBody>
      </p:sp>
      <p:sp>
        <p:nvSpPr>
          <p:cNvPr id="12" name="text-11"/>
          <p:cNvSpPr txBox="1"/>
          <p:nvPr/>
        </p:nvSpPr>
        <p:spPr>
          <a:xfrm>
            <a:off x="6537960" y="2834640"/>
            <a:ext cx="4709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要讓 AI 只給方向，得先知道學生錯在哪——這要靠測資擋下錯誤；但沒人知道測資夠不夠</a:t>
            </a:r>
            <a:endParaRPr lang="en-US" sz="1600" dirty="0"/>
          </a:p>
        </p:txBody>
      </p:sp>
      <p:sp>
        <p:nvSpPr>
          <p:cNvPr id="13" name="text-12"/>
          <p:cNvSpPr txBox="1"/>
          <p:nvPr/>
        </p:nvSpPr>
        <p:spPr>
          <a:xfrm>
            <a:off x="548640" y="40690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所以我們做兩件事</a:t>
            </a:r>
            <a:endParaRPr lang="en-US" sz="1600" dirty="0"/>
          </a:p>
        </p:txBody>
      </p:sp>
      <p:sp>
        <p:nvSpPr>
          <p:cNvPr id="14" name="text-13"/>
          <p:cNvSpPr txBox="1"/>
          <p:nvPr/>
        </p:nvSpPr>
        <p:spPr>
          <a:xfrm>
            <a:off x="548640" y="45262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AI 只引導、不代寫</a:t>
            </a:r>
            <a:pPr indent="0" marL="0">
              <a:buNone/>
            </a:pPr>
            <a:r>
              <a:rPr lang="en-US" sz="2200" dirty="0">
                <a:solidFill>
                  <a:schemeClr val="accent5"/>
                </a:solidFill>
              </a:rPr>
              <a:t>　　×　　</a:t>
            </a:r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測資好不好要看得見、能自動補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6459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系統概觀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兩條線：給學生的提示、給設計者的測資</a:t>
            </a:r>
            <a:endParaRPr lang="en-US" sz="3000" dirty="0"/>
          </a:p>
        </p:txBody>
      </p:sp>
      <p:sp>
        <p:nvSpPr>
          <p:cNvPr id="5" name="text-14"/>
          <p:cNvSpPr txBox="1"/>
          <p:nvPr/>
        </p:nvSpPr>
        <p:spPr>
          <a:xfrm>
            <a:off x="548640" y="1600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上線｜給學生</a:t>
            </a:r>
            <a:endParaRPr lang="en-US" sz="1500" dirty="0"/>
          </a:p>
        </p:txBody>
      </p:sp>
      <p:sp>
        <p:nvSpPr>
          <p:cNvPr id="6" name="step-15"/>
          <p:cNvSpPr/>
          <p:nvPr/>
        </p:nvSpPr>
        <p:spPr>
          <a:xfrm>
            <a:off x="548640" y="2011680"/>
            <a:ext cx="1627632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7" name="text-16"/>
          <p:cNvSpPr txBox="1"/>
          <p:nvPr/>
        </p:nvSpPr>
        <p:spPr>
          <a:xfrm>
            <a:off x="621792" y="2057400"/>
            <a:ext cx="1481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學生交程式</a:t>
            </a:r>
            <a:endParaRPr lang="en-US" sz="1500" dirty="0"/>
          </a:p>
        </p:txBody>
      </p:sp>
      <p:sp>
        <p:nvSpPr>
          <p:cNvPr id="8" name="arrow-17"/>
          <p:cNvSpPr/>
          <p:nvPr/>
        </p:nvSpPr>
        <p:spPr>
          <a:xfrm>
            <a:off x="2194560" y="2400300"/>
            <a:ext cx="210312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9" name="step-18"/>
          <p:cNvSpPr/>
          <p:nvPr/>
        </p:nvSpPr>
        <p:spPr>
          <a:xfrm>
            <a:off x="2423160" y="2011680"/>
            <a:ext cx="1627632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0" name="text-19"/>
          <p:cNvSpPr txBox="1"/>
          <p:nvPr/>
        </p:nvSpPr>
        <p:spPr>
          <a:xfrm>
            <a:off x="2496312" y="2057400"/>
            <a:ext cx="1481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安全執行</a:t>
            </a:r>
            <a:endParaRPr lang="en-US" sz="1500" dirty="0"/>
          </a:p>
        </p:txBody>
      </p:sp>
      <p:sp>
        <p:nvSpPr>
          <p:cNvPr id="11" name="arrow-20"/>
          <p:cNvSpPr/>
          <p:nvPr/>
        </p:nvSpPr>
        <p:spPr>
          <a:xfrm>
            <a:off x="4069080" y="2400300"/>
            <a:ext cx="210312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2" name="step-21"/>
          <p:cNvSpPr/>
          <p:nvPr/>
        </p:nvSpPr>
        <p:spPr>
          <a:xfrm>
            <a:off x="4297680" y="2011680"/>
            <a:ext cx="1627632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3" name="text-22"/>
          <p:cNvSpPr txBox="1"/>
          <p:nvPr/>
        </p:nvSpPr>
        <p:spPr>
          <a:xfrm>
            <a:off x="4370832" y="2057400"/>
            <a:ext cx="1481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跑測資判對錯</a:t>
            </a:r>
            <a:endParaRPr lang="en-US" sz="1500" dirty="0"/>
          </a:p>
        </p:txBody>
      </p:sp>
      <p:sp>
        <p:nvSpPr>
          <p:cNvPr id="14" name="arrow-23"/>
          <p:cNvSpPr/>
          <p:nvPr/>
        </p:nvSpPr>
        <p:spPr>
          <a:xfrm>
            <a:off x="5943600" y="2400300"/>
            <a:ext cx="210312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5" name="step-24"/>
          <p:cNvSpPr/>
          <p:nvPr/>
        </p:nvSpPr>
        <p:spPr>
          <a:xfrm>
            <a:off x="6172200" y="2011680"/>
            <a:ext cx="1627632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6" name="text-25"/>
          <p:cNvSpPr txBox="1"/>
          <p:nvPr/>
        </p:nvSpPr>
        <p:spPr>
          <a:xfrm>
            <a:off x="6245352" y="2057400"/>
            <a:ext cx="1481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AI 給提示</a:t>
            </a:r>
            <a:endParaRPr lang="en-US" sz="1500" dirty="0"/>
          </a:p>
        </p:txBody>
      </p:sp>
      <p:sp>
        <p:nvSpPr>
          <p:cNvPr id="17" name="arrow-26"/>
          <p:cNvSpPr/>
          <p:nvPr/>
        </p:nvSpPr>
        <p:spPr>
          <a:xfrm>
            <a:off x="7818120" y="2400300"/>
            <a:ext cx="210312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8" name="step-27"/>
          <p:cNvSpPr/>
          <p:nvPr/>
        </p:nvSpPr>
        <p:spPr>
          <a:xfrm>
            <a:off x="8046720" y="2011680"/>
            <a:ext cx="1627632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9" name="text-28"/>
          <p:cNvSpPr txBox="1"/>
          <p:nvPr/>
        </p:nvSpPr>
        <p:spPr>
          <a:xfrm>
            <a:off x="8119872" y="2057400"/>
            <a:ext cx="1481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檢查關</a:t>
            </a:r>
            <a:endParaRPr lang="en-US" sz="1500" dirty="0"/>
          </a:p>
        </p:txBody>
      </p:sp>
      <p:sp>
        <p:nvSpPr>
          <p:cNvPr id="20" name="arrow-29"/>
          <p:cNvSpPr/>
          <p:nvPr/>
        </p:nvSpPr>
        <p:spPr>
          <a:xfrm>
            <a:off x="9692640" y="2400300"/>
            <a:ext cx="210312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1" name="step-30"/>
          <p:cNvSpPr/>
          <p:nvPr/>
        </p:nvSpPr>
        <p:spPr>
          <a:xfrm>
            <a:off x="9921240" y="2011680"/>
            <a:ext cx="1627632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2" name="text-31"/>
          <p:cNvSpPr txBox="1"/>
          <p:nvPr/>
        </p:nvSpPr>
        <p:spPr>
          <a:xfrm>
            <a:off x="9994392" y="2057400"/>
            <a:ext cx="1481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回給學生</a:t>
            </a:r>
            <a:endParaRPr lang="en-US" sz="1500" dirty="0"/>
          </a:p>
        </p:txBody>
      </p:sp>
      <p:sp>
        <p:nvSpPr>
          <p:cNvPr id="23" name="card-32"/>
          <p:cNvSpPr/>
          <p:nvPr/>
        </p:nvSpPr>
        <p:spPr>
          <a:xfrm>
            <a:off x="6126480" y="2971800"/>
            <a:ext cx="3611880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4" name="text-33"/>
          <p:cNvSpPr txBox="1"/>
          <p:nvPr/>
        </p:nvSpPr>
        <p:spPr>
          <a:xfrm>
            <a:off x="6263640" y="301752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✕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AI 收不到學生程式碼，只收到題目、測資結果、虛擬碼</a:t>
            </a:r>
            <a:endParaRPr lang="en-US" sz="1600" dirty="0"/>
          </a:p>
        </p:txBody>
      </p:sp>
      <p:sp>
        <p:nvSpPr>
          <p:cNvPr id="25" name="text-34"/>
          <p:cNvSpPr txBox="1"/>
          <p:nvPr/>
        </p:nvSpPr>
        <p:spPr>
          <a:xfrm>
            <a:off x="548640" y="3840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下線｜給設計者</a:t>
            </a:r>
            <a:endParaRPr lang="en-US" sz="1500" dirty="0"/>
          </a:p>
        </p:txBody>
      </p:sp>
      <p:sp>
        <p:nvSpPr>
          <p:cNvPr id="26" name="step-35"/>
          <p:cNvSpPr/>
          <p:nvPr/>
        </p:nvSpPr>
        <p:spPr>
          <a:xfrm>
            <a:off x="548640" y="4251960"/>
            <a:ext cx="1627632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27" name="text-36"/>
          <p:cNvSpPr txBox="1"/>
          <p:nvPr/>
        </p:nvSpPr>
        <p:spPr>
          <a:xfrm>
            <a:off x="621792" y="4297680"/>
            <a:ext cx="1481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寫對／寫錯的程式樣本</a:t>
            </a:r>
            <a:endParaRPr lang="en-US" sz="1500" dirty="0"/>
          </a:p>
        </p:txBody>
      </p:sp>
      <p:sp>
        <p:nvSpPr>
          <p:cNvPr id="28" name="arrow-37"/>
          <p:cNvSpPr/>
          <p:nvPr/>
        </p:nvSpPr>
        <p:spPr>
          <a:xfrm>
            <a:off x="2194560" y="4640580"/>
            <a:ext cx="210312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9" name="step-38"/>
          <p:cNvSpPr/>
          <p:nvPr/>
        </p:nvSpPr>
        <p:spPr>
          <a:xfrm>
            <a:off x="2423160" y="4251960"/>
            <a:ext cx="1627632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30" name="text-39"/>
          <p:cNvSpPr txBox="1"/>
          <p:nvPr/>
        </p:nvSpPr>
        <p:spPr>
          <a:xfrm>
            <a:off x="2496312" y="4297680"/>
            <a:ext cx="1481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量測資好不好</a:t>
            </a:r>
            <a:endParaRPr lang="en-US" sz="1500" dirty="0"/>
          </a:p>
        </p:txBody>
      </p:sp>
      <p:sp>
        <p:nvSpPr>
          <p:cNvPr id="31" name="arrow-40"/>
          <p:cNvSpPr/>
          <p:nvPr/>
        </p:nvSpPr>
        <p:spPr>
          <a:xfrm>
            <a:off x="4069080" y="4640580"/>
            <a:ext cx="210312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32" name="step-41"/>
          <p:cNvSpPr/>
          <p:nvPr/>
        </p:nvSpPr>
        <p:spPr>
          <a:xfrm>
            <a:off x="4297680" y="4251960"/>
            <a:ext cx="1627632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33" name="text-42"/>
          <p:cNvSpPr txBox="1"/>
          <p:nvPr/>
        </p:nvSpPr>
        <p:spPr>
          <a:xfrm>
            <a:off x="4370832" y="4297680"/>
            <a:ext cx="1481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AI 提測資</a:t>
            </a:r>
            <a:endParaRPr lang="en-US" sz="1500" dirty="0"/>
          </a:p>
        </p:txBody>
      </p:sp>
      <p:sp>
        <p:nvSpPr>
          <p:cNvPr id="34" name="arrow-43"/>
          <p:cNvSpPr/>
          <p:nvPr/>
        </p:nvSpPr>
        <p:spPr>
          <a:xfrm>
            <a:off x="5943600" y="4640580"/>
            <a:ext cx="210312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35" name="step-44"/>
          <p:cNvSpPr/>
          <p:nvPr/>
        </p:nvSpPr>
        <p:spPr>
          <a:xfrm>
            <a:off x="6172200" y="4251960"/>
            <a:ext cx="1627632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36" name="text-45"/>
          <p:cNvSpPr txBox="1"/>
          <p:nvPr/>
        </p:nvSpPr>
        <p:spPr>
          <a:xfrm>
            <a:off x="6245352" y="4297680"/>
            <a:ext cx="1481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機器打分</a:t>
            </a:r>
            <a:endParaRPr lang="en-US" sz="1500" dirty="0"/>
          </a:p>
        </p:txBody>
      </p:sp>
      <p:sp>
        <p:nvSpPr>
          <p:cNvPr id="37" name="arrow-46"/>
          <p:cNvSpPr/>
          <p:nvPr/>
        </p:nvSpPr>
        <p:spPr>
          <a:xfrm>
            <a:off x="7818120" y="4640580"/>
            <a:ext cx="210312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38" name="step-47"/>
          <p:cNvSpPr/>
          <p:nvPr/>
        </p:nvSpPr>
        <p:spPr>
          <a:xfrm>
            <a:off x="8046720" y="4251960"/>
            <a:ext cx="1627632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39" name="text-48"/>
          <p:cNvSpPr txBox="1"/>
          <p:nvPr/>
        </p:nvSpPr>
        <p:spPr>
          <a:xfrm>
            <a:off x="8119872" y="4297680"/>
            <a:ext cx="1481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自動審核</a:t>
            </a:r>
            <a:endParaRPr lang="en-US" sz="1500" dirty="0"/>
          </a:p>
        </p:txBody>
      </p:sp>
      <p:sp>
        <p:nvSpPr>
          <p:cNvPr id="40" name="arrow-49"/>
          <p:cNvSpPr/>
          <p:nvPr/>
        </p:nvSpPr>
        <p:spPr>
          <a:xfrm>
            <a:off x="9692640" y="4640580"/>
            <a:ext cx="210312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41" name="step-50"/>
          <p:cNvSpPr/>
          <p:nvPr/>
        </p:nvSpPr>
        <p:spPr>
          <a:xfrm>
            <a:off x="9921240" y="4251960"/>
            <a:ext cx="1627632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42" name="text-51"/>
          <p:cNvSpPr txBox="1"/>
          <p:nvPr/>
        </p:nvSpPr>
        <p:spPr>
          <a:xfrm>
            <a:off x="9994392" y="4297680"/>
            <a:ext cx="1481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下一輪</a:t>
            </a:r>
            <a:endParaRPr lang="en-US" sz="1500" dirty="0"/>
          </a:p>
        </p:txBody>
      </p:sp>
      <p:sp>
        <p:nvSpPr>
          <p:cNvPr id="43" name="text-52"/>
          <p:cNvSpPr txBox="1"/>
          <p:nvPr/>
        </p:nvSpPr>
        <p:spPr>
          <a:xfrm>
            <a:off x="548640" y="53492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兩條線的交會：</a:t>
            </a:r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AI 提示只能看測資結果，所以測資越好，提示越有依據。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題庫 5 題，其中 3 題做了測資環境測試：買賣股票（簡單）、最長不重複子字串（中等）、最長合法括號（困難）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6459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範圍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這次的範圍與研究問題</a:t>
            </a:r>
            <a:endParaRPr lang="en-US" sz="3000" dirty="0"/>
          </a:p>
        </p:txBody>
      </p:sp>
      <p:sp>
        <p:nvSpPr>
          <p:cNvPr id="5" name="card-53"/>
          <p:cNvSpPr/>
          <p:nvPr/>
        </p:nvSpPr>
        <p:spPr>
          <a:xfrm>
            <a:off x="548640" y="1691640"/>
            <a:ext cx="11094415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6" name="text-54"/>
          <p:cNvSpPr txBox="1"/>
          <p:nvPr/>
        </p:nvSpPr>
        <p:spPr>
          <a:xfrm>
            <a:off x="868680" y="1828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研究問題</a:t>
            </a:r>
            <a:endParaRPr lang="en-US" sz="1400" dirty="0"/>
          </a:p>
        </p:txBody>
      </p:sp>
      <p:sp>
        <p:nvSpPr>
          <p:cNvPr id="7" name="text-55"/>
          <p:cNvSpPr txBox="1"/>
          <p:nvPr/>
        </p:nvSpPr>
        <p:spPr>
          <a:xfrm>
            <a:off x="868680" y="2240280"/>
            <a:ext cx="104543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「AI 提案＋機器評測＋依數字自動審核」的全自動流程，能不能在不同難度的題目上從頭跑到尾，並讓測資比起點進步？</a:t>
            </a:r>
            <a:endParaRPr lang="en-US" sz="2000" dirty="0"/>
          </a:p>
        </p:txBody>
      </p:sp>
      <p:sp>
        <p:nvSpPr>
          <p:cNvPr id="8" name="text-56"/>
          <p:cNvSpPr txBox="1"/>
          <p:nvPr/>
        </p:nvSpPr>
        <p:spPr>
          <a:xfrm>
            <a:off x="548640" y="342900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這次做</a:t>
            </a:r>
            <a:endParaRPr lang="en-US" sz="1800" dirty="0"/>
          </a:p>
        </p:txBody>
      </p:sp>
      <p:sp>
        <p:nvSpPr>
          <p:cNvPr id="9" name="text-57"/>
          <p:cNvSpPr txBox="1"/>
          <p:nvPr/>
        </p:nvSpPr>
        <p:spPr>
          <a:xfrm>
            <a:off x="548640" y="3931920"/>
            <a:ext cx="5303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提出「看不到程式碼的提示」＋「自動補測資」的做法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把環境搭起來，三題實際跑過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每個數字都標樣本數，只當觀察</a:t>
            </a:r>
            <a:endParaRPr lang="en-US" sz="1600" dirty="0"/>
          </a:p>
        </p:txBody>
      </p:sp>
      <p:sp>
        <p:nvSpPr>
          <p:cNvPr id="10" name="text-58"/>
          <p:cNvSpPr txBox="1"/>
          <p:nvPr/>
        </p:nvSpPr>
        <p:spPr>
          <a:xfrm>
            <a:off x="6217920" y="342900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這次不做</a:t>
            </a:r>
            <a:endParaRPr lang="en-US" sz="1800" dirty="0"/>
          </a:p>
        </p:txBody>
      </p:sp>
      <p:sp>
        <p:nvSpPr>
          <p:cNvPr id="11" name="text-59"/>
          <p:cNvSpPr txBox="1"/>
          <p:nvPr/>
        </p:nvSpPr>
        <p:spPr>
          <a:xfrm>
            <a:off x="6217920" y="3931920"/>
            <a:ext cx="5303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不宣稱準度、效度或學習成效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不設「達到多少算成功」的門檻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沒有人工審核：審核全部由程式依數字進行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6459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名詞 1／4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測資是什麼</a:t>
            </a:r>
            <a:endParaRPr lang="en-US" sz="3000" dirty="0"/>
          </a:p>
        </p:txBody>
      </p:sp>
      <p:sp>
        <p:nvSpPr>
          <p:cNvPr id="5" name="card-60"/>
          <p:cNvSpPr/>
          <p:nvPr/>
        </p:nvSpPr>
        <p:spPr>
          <a:xfrm>
            <a:off x="548640" y="1645920"/>
            <a:ext cx="11094415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6" name="text-61"/>
          <p:cNvSpPr txBox="1"/>
          <p:nvPr/>
        </p:nvSpPr>
        <p:spPr>
          <a:xfrm>
            <a:off x="868680" y="1783080"/>
            <a:ext cx="104543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例題：買賣股票　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給每天的股價，只能買一次、之後賣一次，求最大利潤；賺不到就回 0。</a:t>
            </a:r>
            <a:endParaRPr lang="en-US" sz="1700" dirty="0"/>
          </a:p>
        </p:txBody>
      </p:sp>
      <p:sp>
        <p:nvSpPr>
          <p:cNvPr id="7" name="text-62"/>
          <p:cNvSpPr txBox="1"/>
          <p:nvPr/>
        </p:nvSpPr>
        <p:spPr>
          <a:xfrm>
            <a:off x="548640" y="27432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DFA050"/>
                </a:solidFill>
              </a:rPr>
              <a:t>測資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＝一道測試題：一組輸入＋正確答案</a:t>
            </a:r>
            <a:endParaRPr lang="en-US" sz="2000" dirty="0"/>
          </a:p>
        </p:txBody>
      </p:sp>
      <p:graphicFrame>
        <p:nvGraphicFramePr>
          <p:cNvPr id="6" name="table-6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291840"/>
          <a:ext cx="11094415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3291840"/>
                <a:gridCol w="1463040"/>
                <a:gridCol w="505663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輸入（每天的股價）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正確答案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為什麼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測資 A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[7, 1, 5, 3, 6, 4]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第 2 天 1 元買、第 5 天 6 元賣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測資 B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[7, 6, 4, 3, 1]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一路下跌，怎麼買都賠，不買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9" name="text-64"/>
          <p:cNvSpPr txBox="1"/>
          <p:nvPr/>
        </p:nvSpPr>
        <p:spPr>
          <a:xfrm>
            <a:off x="548640" y="49834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為什麼測資這麼重要：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學生交的程式就是用這些測資判對錯；AI 給提示時也只看得到「哪道測資錯了」。</a:t>
            </a:r>
            <a:pPr indent="0" marL="0">
              <a:buNone/>
            </a:pPr>
            <a:r>
              <a:rPr lang="en-US" sz="1700" b="1" dirty="0">
                <a:solidFill>
                  <a:srgbClr val="DFA050"/>
                </a:solidFill>
              </a:rPr>
              <a:t>測資抓不到的錯，學生和 AI 都不會知道。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6459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名詞 2／4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寫對的程式（S+）與 TPR</a:t>
            </a:r>
            <a:endParaRPr lang="en-US" sz="3000" dirty="0"/>
          </a:p>
        </p:txBody>
      </p:sp>
      <p:sp>
        <p:nvSpPr>
          <p:cNvPr id="5" name="text-65"/>
          <p:cNvSpPr txBox="1"/>
          <p:nvPr/>
        </p:nvSpPr>
        <p:spPr>
          <a:xfrm>
            <a:off x="548640" y="16002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同一題用不同寫法寫出的正解，每題 3 份</a:t>
            </a:r>
            <a:endParaRPr lang="en-US" sz="1700" dirty="0"/>
          </a:p>
        </p:txBody>
      </p:sp>
      <p:sp>
        <p:nvSpPr>
          <p:cNvPr id="6" name="card-66"/>
          <p:cNvSpPr/>
          <p:nvPr/>
        </p:nvSpPr>
        <p:spPr>
          <a:xfrm>
            <a:off x="548640" y="2148840"/>
            <a:ext cx="676656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7" name="text-67"/>
          <p:cNvSpPr txBox="1"/>
          <p:nvPr/>
        </p:nvSpPr>
        <p:spPr>
          <a:xfrm>
            <a:off x="822960" y="224028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一次掃描</a:t>
            </a:r>
            <a:endParaRPr lang="en-US" sz="1800" dirty="0"/>
          </a:p>
        </p:txBody>
      </p:sp>
      <p:sp>
        <p:nvSpPr>
          <p:cNvPr id="8" name="text-68"/>
          <p:cNvSpPr txBox="1"/>
          <p:nvPr/>
        </p:nvSpPr>
        <p:spPr>
          <a:xfrm>
            <a:off x="2331720" y="2240280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從左到右走一遍，記住目前最低價，算今天賣能賺多少</a:t>
            </a:r>
            <a:endParaRPr lang="en-US" sz="1500" dirty="0"/>
          </a:p>
        </p:txBody>
      </p:sp>
      <p:sp>
        <p:nvSpPr>
          <p:cNvPr id="9" name="card-69"/>
          <p:cNvSpPr/>
          <p:nvPr/>
        </p:nvSpPr>
        <p:spPr>
          <a:xfrm>
            <a:off x="548640" y="3172968"/>
            <a:ext cx="676656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0" name="text-70"/>
          <p:cNvSpPr txBox="1"/>
          <p:nvPr/>
        </p:nvSpPr>
        <p:spPr>
          <a:xfrm>
            <a:off x="822960" y="3264408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暴力法</a:t>
            </a:r>
            <a:endParaRPr lang="en-US" sz="1800" dirty="0"/>
          </a:p>
        </p:txBody>
      </p:sp>
      <p:sp>
        <p:nvSpPr>
          <p:cNvPr id="11" name="text-71"/>
          <p:cNvSpPr txBox="1"/>
          <p:nvPr/>
        </p:nvSpPr>
        <p:spPr>
          <a:xfrm>
            <a:off x="2331720" y="3264408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雙層迴圈，試遍所有「先買後賣」的組合</a:t>
            </a:r>
            <a:endParaRPr lang="en-US" sz="1500" dirty="0"/>
          </a:p>
        </p:txBody>
      </p:sp>
      <p:sp>
        <p:nvSpPr>
          <p:cNvPr id="12" name="card-72"/>
          <p:cNvSpPr/>
          <p:nvPr/>
        </p:nvSpPr>
        <p:spPr>
          <a:xfrm>
            <a:off x="548640" y="4197096"/>
            <a:ext cx="676656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3" name="text-73"/>
          <p:cNvSpPr txBox="1"/>
          <p:nvPr/>
        </p:nvSpPr>
        <p:spPr>
          <a:xfrm>
            <a:off x="822960" y="4288536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價差法</a:t>
            </a:r>
            <a:endParaRPr lang="en-US" sz="1800" dirty="0"/>
          </a:p>
        </p:txBody>
      </p:sp>
      <p:sp>
        <p:nvSpPr>
          <p:cNvPr id="14" name="text-74"/>
          <p:cNvSpPr txBox="1"/>
          <p:nvPr/>
        </p:nvSpPr>
        <p:spPr>
          <a:xfrm>
            <a:off x="2331720" y="4288536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把每天的漲跌當成一串數字，找加總最大的一段</a:t>
            </a:r>
            <a:endParaRPr lang="en-US" sz="1500" dirty="0"/>
          </a:p>
        </p:txBody>
      </p:sp>
      <p:sp>
        <p:nvSpPr>
          <p:cNvPr id="15" name="card-75"/>
          <p:cNvSpPr/>
          <p:nvPr/>
        </p:nvSpPr>
        <p:spPr>
          <a:xfrm>
            <a:off x="7726680" y="2148840"/>
            <a:ext cx="3913632" cy="2916936"/>
          </a:xfrm>
          <a:prstGeom prst="roundRect">
            <a:avLst>
              <a:gd name="adj" fmla="val 2508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6" name="text-76"/>
          <p:cNvSpPr txBox="1"/>
          <p:nvPr/>
        </p:nvSpPr>
        <p:spPr>
          <a:xfrm>
            <a:off x="8001000" y="22860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TPR</a:t>
            </a:r>
            <a:endParaRPr lang="en-US" sz="1800" dirty="0"/>
          </a:p>
        </p:txBody>
      </p:sp>
      <p:sp>
        <p:nvSpPr>
          <p:cNvPr id="17" name="text-77"/>
          <p:cNvSpPr txBox="1"/>
          <p:nvPr/>
        </p:nvSpPr>
        <p:spPr>
          <a:xfrm>
            <a:off x="8001000" y="269748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100%</a:t>
            </a:r>
            <a:endParaRPr lang="en-US" sz="5400" dirty="0"/>
          </a:p>
        </p:txBody>
      </p:sp>
      <p:sp>
        <p:nvSpPr>
          <p:cNvPr id="18" name="text-78"/>
          <p:cNvSpPr txBox="1"/>
          <p:nvPr/>
        </p:nvSpPr>
        <p:spPr>
          <a:xfrm>
            <a:off x="8001000" y="3703320"/>
            <a:ext cx="3429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寫對的程式有沒有被冤枉：所有測資都要讓這 3 份答對</a:t>
            </a:r>
            <a:endParaRPr lang="en-US" sz="1500" dirty="0"/>
          </a:p>
        </p:txBody>
      </p:sp>
      <p:sp>
        <p:nvSpPr>
          <p:cNvPr id="19" name="text-79"/>
          <p:cNvSpPr txBox="1"/>
          <p:nvPr/>
        </p:nvSpPr>
        <p:spPr>
          <a:xfrm>
            <a:off x="548640" y="530352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為什麼要 3 份不同寫法：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如果某道測資的「正確答案」本身算錯，至少會有一份寫對的程式對不上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正確答案一律由寫對的程式算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，不讓 AI 給答案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6459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名詞 3／4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寫錯的程式（S-）</a:t>
            </a:r>
            <a:endParaRPr lang="en-US" sz="3000" dirty="0"/>
          </a:p>
        </p:txBody>
      </p:sp>
      <p:sp>
        <p:nvSpPr>
          <p:cNvPr id="5" name="text-80"/>
          <p:cNvSpPr txBox="1"/>
          <p:nvPr/>
        </p:nvSpPr>
        <p:spPr>
          <a:xfrm>
            <a:off x="548640" y="160020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每份故意藏一種初學者常犯的錯，每題 6 份。用</a:t>
            </a:r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測資 A</a:t>
            </a:r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（正確答案 </a:t>
            </a:r>
            <a:pPr indent="0" marL="0">
              <a:buNone/>
            </a:pPr>
            <a:r>
              <a:rPr lang="en-US" sz="1700" b="1" dirty="0">
                <a:solidFill>
                  <a:srgbClr val="DFA050"/>
                </a:solidFill>
              </a:rPr>
              <a:t>5</a:t>
            </a:r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）跑一次：</a:t>
            </a:r>
            <a:endParaRPr lang="en-US" sz="1700" dirty="0"/>
          </a:p>
        </p:txBody>
      </p:sp>
      <p:graphicFrame>
        <p:nvGraphicFramePr>
          <p:cNvPr id="8" name="table-8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48840"/>
          <a:ext cx="7863840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4343400"/>
                <a:gridCol w="1645920"/>
                <a:gridCol w="137160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#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錯在哪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在測資 A 回答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結果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只看相鄰兩天的價差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2"/>
                          </a:solidFill>
                        </a:rPr>
                        <a:t>✗ 擋下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固定第一天買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2"/>
                          </a:solidFill>
                        </a:rPr>
                        <a:t>✗ 擋下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最高價減最低價（忘了要先買後賣）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2"/>
                          </a:solidFill>
                        </a:rPr>
                        <a:t>✗ 擋下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賺不到的時候回負數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</a:rPr>
                        <a:t>沒擋到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迴圈少看最後一天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</a:rPr>
                        <a:t>沒擋到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把每次上漲都加起來（以為能買賣很多次）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2"/>
                          </a:solidFill>
                        </a:rPr>
                        <a:t>✗ 擋下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7" name="card-82"/>
          <p:cNvSpPr/>
          <p:nvPr/>
        </p:nvSpPr>
        <p:spPr>
          <a:xfrm>
            <a:off x="8732520" y="2148840"/>
            <a:ext cx="2907792" cy="3346704"/>
          </a:xfrm>
          <a:prstGeom prst="roundRect">
            <a:avLst>
              <a:gd name="adj" fmla="val 2516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8" name="text-83"/>
          <p:cNvSpPr txBox="1"/>
          <p:nvPr/>
        </p:nvSpPr>
        <p:spPr>
          <a:xfrm>
            <a:off x="8961120" y="23317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／ 6</a:t>
            </a:r>
            <a:endParaRPr lang="en-US" sz="4400" dirty="0"/>
          </a:p>
        </p:txBody>
      </p:sp>
      <p:sp>
        <p:nvSpPr>
          <p:cNvPr id="9" name="text-84"/>
          <p:cNvSpPr txBox="1"/>
          <p:nvPr/>
        </p:nvSpPr>
        <p:spPr>
          <a:xfrm>
            <a:off x="8961120" y="3200400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測資 A 擋下 4 種；第 4、5 種剛好答對 5，溜過去了</a:t>
            </a:r>
            <a:endParaRPr lang="en-US" sz="1500" dirty="0"/>
          </a:p>
        </p:txBody>
      </p:sp>
      <p:sp>
        <p:nvSpPr>
          <p:cNvPr id="10" name="text-85"/>
          <p:cNvSpPr txBox="1"/>
          <p:nvPr/>
        </p:nvSpPr>
        <p:spPr>
          <a:xfrm>
            <a:off x="8961120" y="4343400"/>
            <a:ext cx="2514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「答錯」不一定是當掉，常常是算出一個看起來合理、但不對的數字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6459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名詞 4／4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TNR（抓錯率）與漏網</a:t>
            </a:r>
            <a:endParaRPr lang="en-US" sz="3000" dirty="0"/>
          </a:p>
        </p:txBody>
      </p:sp>
      <p:sp>
        <p:nvSpPr>
          <p:cNvPr id="5" name="text-86"/>
          <p:cNvSpPr txBox="1"/>
          <p:nvPr/>
        </p:nvSpPr>
        <p:spPr>
          <a:xfrm>
            <a:off x="2103120" y="160020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錯 1</a:t>
            </a:r>
            <a:endParaRPr lang="en-US" sz="1400" dirty="0"/>
          </a:p>
        </p:txBody>
      </p:sp>
      <p:sp>
        <p:nvSpPr>
          <p:cNvPr id="6" name="text-87"/>
          <p:cNvSpPr txBox="1"/>
          <p:nvPr/>
        </p:nvSpPr>
        <p:spPr>
          <a:xfrm>
            <a:off x="3081528" y="160020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錯 2</a:t>
            </a:r>
            <a:endParaRPr lang="en-US" sz="1400" dirty="0"/>
          </a:p>
        </p:txBody>
      </p:sp>
      <p:sp>
        <p:nvSpPr>
          <p:cNvPr id="7" name="text-88"/>
          <p:cNvSpPr txBox="1"/>
          <p:nvPr/>
        </p:nvSpPr>
        <p:spPr>
          <a:xfrm>
            <a:off x="4059936" y="160020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錯 3</a:t>
            </a:r>
            <a:endParaRPr lang="en-US" sz="1400" dirty="0"/>
          </a:p>
        </p:txBody>
      </p:sp>
      <p:sp>
        <p:nvSpPr>
          <p:cNvPr id="8" name="text-89"/>
          <p:cNvSpPr txBox="1"/>
          <p:nvPr/>
        </p:nvSpPr>
        <p:spPr>
          <a:xfrm>
            <a:off x="5038344" y="160020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錯 4</a:t>
            </a:r>
            <a:endParaRPr lang="en-US" sz="1400" dirty="0"/>
          </a:p>
        </p:txBody>
      </p:sp>
      <p:sp>
        <p:nvSpPr>
          <p:cNvPr id="9" name="text-90"/>
          <p:cNvSpPr txBox="1"/>
          <p:nvPr/>
        </p:nvSpPr>
        <p:spPr>
          <a:xfrm>
            <a:off x="6016752" y="160020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錯 5</a:t>
            </a:r>
            <a:endParaRPr lang="en-US" sz="1400" dirty="0"/>
          </a:p>
        </p:txBody>
      </p:sp>
      <p:sp>
        <p:nvSpPr>
          <p:cNvPr id="10" name="text-91"/>
          <p:cNvSpPr txBox="1"/>
          <p:nvPr/>
        </p:nvSpPr>
        <p:spPr>
          <a:xfrm>
            <a:off x="6995160" y="160020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錯 6</a:t>
            </a:r>
            <a:endParaRPr lang="en-US" sz="1400" dirty="0"/>
          </a:p>
        </p:txBody>
      </p:sp>
      <p:sp>
        <p:nvSpPr>
          <p:cNvPr id="11" name="text-92"/>
          <p:cNvSpPr txBox="1"/>
          <p:nvPr/>
        </p:nvSpPr>
        <p:spPr>
          <a:xfrm>
            <a:off x="548640" y="201168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測資 A</a:t>
            </a:r>
            <a:endParaRPr lang="en-US" sz="1600" dirty="0"/>
          </a:p>
        </p:txBody>
      </p:sp>
      <p:sp>
        <p:nvSpPr>
          <p:cNvPr id="12" name="text-93"/>
          <p:cNvSpPr txBox="1"/>
          <p:nvPr/>
        </p:nvSpPr>
        <p:spPr>
          <a:xfrm>
            <a:off x="548640" y="2898648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測資 B</a:t>
            </a:r>
            <a:endParaRPr lang="en-US" sz="1600" dirty="0"/>
          </a:p>
        </p:txBody>
      </p:sp>
      <p:sp>
        <p:nvSpPr>
          <p:cNvPr id="13" name="cell-94"/>
          <p:cNvSpPr/>
          <p:nvPr/>
        </p:nvSpPr>
        <p:spPr>
          <a:xfrm>
            <a:off x="2103120" y="2011680"/>
            <a:ext cx="868680" cy="777240"/>
          </a:xfrm>
          <a:prstGeom prst="roundRect">
            <a:avLst>
              <a:gd name="adj" fmla="val 7059"/>
            </a:avLst>
          </a:prstGeom>
          <a:solidFill>
            <a:schemeClr val="accent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4" name="text-95"/>
          <p:cNvSpPr txBox="1"/>
          <p:nvPr/>
        </p:nvSpPr>
        <p:spPr>
          <a:xfrm>
            <a:off x="2103120" y="2011680"/>
            <a:ext cx="868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✗</a:t>
            </a:r>
            <a:endParaRPr lang="en-US" sz="2200" dirty="0"/>
          </a:p>
        </p:txBody>
      </p:sp>
      <p:sp>
        <p:nvSpPr>
          <p:cNvPr id="15" name="cell-96"/>
          <p:cNvSpPr/>
          <p:nvPr/>
        </p:nvSpPr>
        <p:spPr>
          <a:xfrm>
            <a:off x="3081528" y="2011680"/>
            <a:ext cx="868680" cy="777240"/>
          </a:xfrm>
          <a:prstGeom prst="roundRect">
            <a:avLst>
              <a:gd name="adj" fmla="val 7059"/>
            </a:avLst>
          </a:prstGeom>
          <a:solidFill>
            <a:schemeClr val="accent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6" name="text-97"/>
          <p:cNvSpPr txBox="1"/>
          <p:nvPr/>
        </p:nvSpPr>
        <p:spPr>
          <a:xfrm>
            <a:off x="3081528" y="2011680"/>
            <a:ext cx="868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✗</a:t>
            </a:r>
            <a:endParaRPr lang="en-US" sz="2200" dirty="0"/>
          </a:p>
        </p:txBody>
      </p:sp>
      <p:sp>
        <p:nvSpPr>
          <p:cNvPr id="17" name="cell-98"/>
          <p:cNvSpPr/>
          <p:nvPr/>
        </p:nvSpPr>
        <p:spPr>
          <a:xfrm>
            <a:off x="4059936" y="2011680"/>
            <a:ext cx="868680" cy="777240"/>
          </a:xfrm>
          <a:prstGeom prst="roundRect">
            <a:avLst>
              <a:gd name="adj" fmla="val 7059"/>
            </a:avLst>
          </a:prstGeom>
          <a:solidFill>
            <a:schemeClr val="accent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8" name="text-99"/>
          <p:cNvSpPr txBox="1"/>
          <p:nvPr/>
        </p:nvSpPr>
        <p:spPr>
          <a:xfrm>
            <a:off x="4059936" y="2011680"/>
            <a:ext cx="868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✗</a:t>
            </a:r>
            <a:endParaRPr lang="en-US" sz="2200" dirty="0"/>
          </a:p>
        </p:txBody>
      </p:sp>
      <p:sp>
        <p:nvSpPr>
          <p:cNvPr id="19" name="cell-100"/>
          <p:cNvSpPr/>
          <p:nvPr/>
        </p:nvSpPr>
        <p:spPr>
          <a:xfrm>
            <a:off x="5038344" y="2011680"/>
            <a:ext cx="868680" cy="77724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0" name="text-101"/>
          <p:cNvSpPr txBox="1"/>
          <p:nvPr/>
        </p:nvSpPr>
        <p:spPr>
          <a:xfrm>
            <a:off x="5038344" y="2011680"/>
            <a:ext cx="868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2200" dirty="0"/>
          </a:p>
        </p:txBody>
      </p:sp>
      <p:sp>
        <p:nvSpPr>
          <p:cNvPr id="21" name="cell-102"/>
          <p:cNvSpPr/>
          <p:nvPr/>
        </p:nvSpPr>
        <p:spPr>
          <a:xfrm>
            <a:off x="6016752" y="2011680"/>
            <a:ext cx="868680" cy="77724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2" name="text-103"/>
          <p:cNvSpPr txBox="1"/>
          <p:nvPr/>
        </p:nvSpPr>
        <p:spPr>
          <a:xfrm>
            <a:off x="6016752" y="2011680"/>
            <a:ext cx="868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2200" dirty="0"/>
          </a:p>
        </p:txBody>
      </p:sp>
      <p:sp>
        <p:nvSpPr>
          <p:cNvPr id="23" name="cell-104"/>
          <p:cNvSpPr/>
          <p:nvPr/>
        </p:nvSpPr>
        <p:spPr>
          <a:xfrm>
            <a:off x="6995160" y="2011680"/>
            <a:ext cx="868680" cy="777240"/>
          </a:xfrm>
          <a:prstGeom prst="roundRect">
            <a:avLst>
              <a:gd name="adj" fmla="val 7059"/>
            </a:avLst>
          </a:prstGeom>
          <a:solidFill>
            <a:schemeClr val="accent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4" name="text-105"/>
          <p:cNvSpPr txBox="1"/>
          <p:nvPr/>
        </p:nvSpPr>
        <p:spPr>
          <a:xfrm>
            <a:off x="6995160" y="2011680"/>
            <a:ext cx="868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✗</a:t>
            </a:r>
            <a:endParaRPr lang="en-US" sz="2200" dirty="0"/>
          </a:p>
        </p:txBody>
      </p:sp>
      <p:sp>
        <p:nvSpPr>
          <p:cNvPr id="25" name="cell-106"/>
          <p:cNvSpPr/>
          <p:nvPr/>
        </p:nvSpPr>
        <p:spPr>
          <a:xfrm>
            <a:off x="2103120" y="2898648"/>
            <a:ext cx="868680" cy="77724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6" name="text-107"/>
          <p:cNvSpPr txBox="1"/>
          <p:nvPr/>
        </p:nvSpPr>
        <p:spPr>
          <a:xfrm>
            <a:off x="2103120" y="2898648"/>
            <a:ext cx="868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2200" dirty="0"/>
          </a:p>
        </p:txBody>
      </p:sp>
      <p:sp>
        <p:nvSpPr>
          <p:cNvPr id="27" name="cell-108"/>
          <p:cNvSpPr/>
          <p:nvPr/>
        </p:nvSpPr>
        <p:spPr>
          <a:xfrm>
            <a:off x="3081528" y="2898648"/>
            <a:ext cx="868680" cy="77724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8" name="text-109"/>
          <p:cNvSpPr txBox="1"/>
          <p:nvPr/>
        </p:nvSpPr>
        <p:spPr>
          <a:xfrm>
            <a:off x="3081528" y="2898648"/>
            <a:ext cx="868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2200" dirty="0"/>
          </a:p>
        </p:txBody>
      </p:sp>
      <p:sp>
        <p:nvSpPr>
          <p:cNvPr id="29" name="cell-110"/>
          <p:cNvSpPr/>
          <p:nvPr/>
        </p:nvSpPr>
        <p:spPr>
          <a:xfrm>
            <a:off x="4059936" y="2898648"/>
            <a:ext cx="868680" cy="777240"/>
          </a:xfrm>
          <a:prstGeom prst="roundRect">
            <a:avLst>
              <a:gd name="adj" fmla="val 7059"/>
            </a:avLst>
          </a:prstGeom>
          <a:solidFill>
            <a:schemeClr val="accent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0" name="text-111"/>
          <p:cNvSpPr txBox="1"/>
          <p:nvPr/>
        </p:nvSpPr>
        <p:spPr>
          <a:xfrm>
            <a:off x="4059936" y="2898648"/>
            <a:ext cx="868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✗</a:t>
            </a:r>
            <a:endParaRPr lang="en-US" sz="2200" dirty="0"/>
          </a:p>
        </p:txBody>
      </p:sp>
      <p:sp>
        <p:nvSpPr>
          <p:cNvPr id="31" name="cell-112"/>
          <p:cNvSpPr/>
          <p:nvPr/>
        </p:nvSpPr>
        <p:spPr>
          <a:xfrm>
            <a:off x="5038344" y="2898648"/>
            <a:ext cx="868680" cy="777240"/>
          </a:xfrm>
          <a:prstGeom prst="roundRect">
            <a:avLst>
              <a:gd name="adj" fmla="val 7059"/>
            </a:avLst>
          </a:prstGeom>
          <a:solidFill>
            <a:schemeClr val="accent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2" name="text-113"/>
          <p:cNvSpPr txBox="1"/>
          <p:nvPr/>
        </p:nvSpPr>
        <p:spPr>
          <a:xfrm>
            <a:off x="5038344" y="2898648"/>
            <a:ext cx="868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✗</a:t>
            </a:r>
            <a:endParaRPr lang="en-US" sz="2200" dirty="0"/>
          </a:p>
        </p:txBody>
      </p:sp>
      <p:sp>
        <p:nvSpPr>
          <p:cNvPr id="33" name="cell-114"/>
          <p:cNvSpPr/>
          <p:nvPr/>
        </p:nvSpPr>
        <p:spPr>
          <a:xfrm>
            <a:off x="6016752" y="2898648"/>
            <a:ext cx="868680" cy="77724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4" name="text-115"/>
          <p:cNvSpPr txBox="1"/>
          <p:nvPr/>
        </p:nvSpPr>
        <p:spPr>
          <a:xfrm>
            <a:off x="6016752" y="2898648"/>
            <a:ext cx="868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2200" dirty="0"/>
          </a:p>
        </p:txBody>
      </p:sp>
      <p:sp>
        <p:nvSpPr>
          <p:cNvPr id="35" name="cell-116"/>
          <p:cNvSpPr/>
          <p:nvPr/>
        </p:nvSpPr>
        <p:spPr>
          <a:xfrm>
            <a:off x="6995160" y="2898648"/>
            <a:ext cx="868680" cy="77724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6" name="text-117"/>
          <p:cNvSpPr txBox="1"/>
          <p:nvPr/>
        </p:nvSpPr>
        <p:spPr>
          <a:xfrm>
            <a:off x="6995160" y="2898648"/>
            <a:ext cx="868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2200" dirty="0"/>
          </a:p>
        </p:txBody>
      </p:sp>
      <p:sp>
        <p:nvSpPr>
          <p:cNvPr id="37" name="miss-118"/>
          <p:cNvSpPr/>
          <p:nvPr/>
        </p:nvSpPr>
        <p:spPr>
          <a:xfrm>
            <a:off x="5961888" y="1554480"/>
            <a:ext cx="978408" cy="2231136"/>
          </a:xfrm>
          <a:prstGeom prst="roundRect">
            <a:avLst>
              <a:gd name="adj" fmla="val 7477"/>
            </a:avLst>
          </a:prstGeom>
          <a:ln w="25400">
            <a:solidFill>
              <a:schemeClr val="accent1"/>
            </a:solidFill>
            <a:prstDash val="dash"/>
          </a:ln>
        </p:spPr>
      </p:sp>
      <p:sp>
        <p:nvSpPr>
          <p:cNvPr id="38" name="card-119"/>
          <p:cNvSpPr/>
          <p:nvPr/>
        </p:nvSpPr>
        <p:spPr>
          <a:xfrm>
            <a:off x="8412480" y="1600200"/>
            <a:ext cx="3227832" cy="196596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9" name="text-120"/>
          <p:cNvSpPr txBox="1"/>
          <p:nvPr/>
        </p:nvSpPr>
        <p:spPr>
          <a:xfrm>
            <a:off x="8641080" y="17373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TNR</a:t>
            </a:r>
            <a:endParaRPr lang="en-US" sz="1600" dirty="0"/>
          </a:p>
        </p:txBody>
      </p:sp>
      <p:sp>
        <p:nvSpPr>
          <p:cNvPr id="40" name="text-121"/>
          <p:cNvSpPr txBox="1"/>
          <p:nvPr/>
        </p:nvSpPr>
        <p:spPr>
          <a:xfrm>
            <a:off x="8641080" y="210312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÷ 12 = 0.5</a:t>
            </a:r>
            <a:endParaRPr lang="en-US" sz="3000" dirty="0"/>
          </a:p>
        </p:txBody>
      </p:sp>
      <p:sp>
        <p:nvSpPr>
          <p:cNvPr id="41" name="text-122"/>
          <p:cNvSpPr txBox="1"/>
          <p:nvPr/>
        </p:nvSpPr>
        <p:spPr>
          <a:xfrm>
            <a:off x="8641080" y="278892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塗色的格子 ÷ 全部格子：寫錯的程式平均有一半被擋下</a:t>
            </a:r>
            <a:endParaRPr lang="en-US" sz="1300" dirty="0"/>
          </a:p>
        </p:txBody>
      </p:sp>
      <p:sp>
        <p:nvSpPr>
          <p:cNvPr id="42" name="card-123"/>
          <p:cNvSpPr/>
          <p:nvPr/>
        </p:nvSpPr>
        <p:spPr>
          <a:xfrm>
            <a:off x="548640" y="4023360"/>
            <a:ext cx="11094415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3" name="text-124"/>
          <p:cNvSpPr txBox="1"/>
          <p:nvPr/>
        </p:nvSpPr>
        <p:spPr>
          <a:xfrm>
            <a:off x="868680" y="4160520"/>
            <a:ext cx="104543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FA050"/>
                </a:solidFill>
              </a:rPr>
              <a:t>漏網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：某份寫錯的程式通過了全部測資。</a:t>
            </a:r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錯 5「迴圈少看最後一天」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兩道都答對 → </a:t>
            </a:r>
            <a:pPr indent="0" marL="0">
              <a:buNone/>
            </a:pPr>
            <a:r>
              <a:rPr lang="en-US" sz="1700" b="1" dirty="0">
                <a:solidFill>
                  <a:srgbClr val="DFA050"/>
                </a:solidFill>
              </a:rPr>
              <a:t>只用官方範例，就漏掉一種常見錯誤</a:t>
            </a:r>
            <a:endParaRPr lang="en-US" sz="1700" dirty="0"/>
          </a:p>
        </p:txBody>
      </p:sp>
      <p:sp>
        <p:nvSpPr>
          <p:cNvPr id="44" name="text-125"/>
          <p:cNvSpPr txBox="1"/>
          <p:nvPr/>
        </p:nvSpPr>
        <p:spPr>
          <a:xfrm>
            <a:off x="548640" y="54406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TNR 越高越好；但後面會看到，TNR 高不一定代表測資好。接下來三個發現，都是這把尺本身的陷阱。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6459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發現一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人工調的測資會「背答案」</a:t>
            </a:r>
            <a:endParaRPr lang="en-US" sz="3000" dirty="0"/>
          </a:p>
        </p:txBody>
      </p:sp>
      <p:sp>
        <p:nvSpPr>
          <p:cNvPr id="5" name="card-126"/>
          <p:cNvSpPr/>
          <p:nvPr/>
        </p:nvSpPr>
        <p:spPr>
          <a:xfrm>
            <a:off x="548640" y="1645920"/>
            <a:ext cx="11094415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6" name="text-127"/>
          <p:cNvSpPr txBox="1"/>
          <p:nvPr/>
        </p:nvSpPr>
        <p:spPr>
          <a:xfrm>
            <a:off x="868680" y="1737360"/>
            <a:ext cx="104543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FA050"/>
                </a:solidFill>
              </a:rPr>
              <a:t>驗收組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：調整測資時只看 6 份寫錯的程式（調整組）；另外 3 份先藏起來、調整時完全不看，最後才跑一次。</a:t>
            </a:r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調整組像模擬考，驗收組像期末考。</a:t>
            </a:r>
            <a:endParaRPr lang="en-US" sz="1600" dirty="0"/>
          </a:p>
        </p:txBody>
      </p:sp>
      <p:sp>
        <p:nvSpPr>
          <p:cNvPr id="7" name="text-128"/>
          <p:cNvSpPr txBox="1"/>
          <p:nvPr/>
        </p:nvSpPr>
        <p:spPr>
          <a:xfrm>
            <a:off x="548640" y="2743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最長不重複子字串｜人工調了 4 輪、留下 17 道測資</a:t>
            </a:r>
            <a:endParaRPr lang="en-US" sz="1500" dirty="0"/>
          </a:p>
        </p:txBody>
      </p:sp>
      <p:sp>
        <p:nvSpPr>
          <p:cNvPr id="8" name="text-129"/>
          <p:cNvSpPr txBox="1"/>
          <p:nvPr/>
        </p:nvSpPr>
        <p:spPr>
          <a:xfrm>
            <a:off x="548640" y="310896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0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0.882</a:t>
            </a:r>
            <a:endParaRPr lang="en-US" sz="6000" dirty="0"/>
          </a:p>
        </p:txBody>
      </p:sp>
      <p:sp>
        <p:nvSpPr>
          <p:cNvPr id="9" name="text-130"/>
          <p:cNvSpPr txBox="1"/>
          <p:nvPr/>
        </p:nvSpPr>
        <p:spPr>
          <a:xfrm>
            <a:off x="548640" y="40233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調整組 TNR（模擬考）</a:t>
            </a:r>
            <a:endParaRPr lang="en-US" sz="1400" dirty="0"/>
          </a:p>
        </p:txBody>
      </p:sp>
      <p:sp>
        <p:nvSpPr>
          <p:cNvPr id="10" name="text-131"/>
          <p:cNvSpPr txBox="1"/>
          <p:nvPr/>
        </p:nvSpPr>
        <p:spPr>
          <a:xfrm>
            <a:off x="4480560" y="310896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0.471</a:t>
            </a:r>
            <a:endParaRPr lang="en-US" sz="6000" dirty="0"/>
          </a:p>
        </p:txBody>
      </p:sp>
      <p:sp>
        <p:nvSpPr>
          <p:cNvPr id="11" name="text-132"/>
          <p:cNvSpPr txBox="1"/>
          <p:nvPr/>
        </p:nvSpPr>
        <p:spPr>
          <a:xfrm>
            <a:off x="4480560" y="40233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驗收組 TNR（期末考）</a:t>
            </a:r>
            <a:endParaRPr lang="en-US" sz="1400" dirty="0"/>
          </a:p>
        </p:txBody>
      </p:sp>
      <p:sp>
        <p:nvSpPr>
          <p:cNvPr id="12" name="arrow-133"/>
          <p:cNvSpPr/>
          <p:nvPr/>
        </p:nvSpPr>
        <p:spPr>
          <a:xfrm>
            <a:off x="3520440" y="3657600"/>
            <a:ext cx="777240" cy="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3" name="card-134"/>
          <p:cNvSpPr/>
          <p:nvPr/>
        </p:nvSpPr>
        <p:spPr>
          <a:xfrm>
            <a:off x="7406640" y="2788920"/>
            <a:ext cx="4233672" cy="196596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4" name="text-135"/>
          <p:cNvSpPr txBox="1"/>
          <p:nvPr/>
        </p:nvSpPr>
        <p:spPr>
          <a:xfrm>
            <a:off x="7680960" y="2926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具體例子</a:t>
            </a:r>
            <a:endParaRPr lang="en-US" sz="1400" dirty="0"/>
          </a:p>
        </p:txBody>
      </p:sp>
      <p:sp>
        <p:nvSpPr>
          <p:cNvPr id="15" name="text-136"/>
          <p:cNvSpPr txBox="1"/>
          <p:nvPr/>
        </p:nvSpPr>
        <p:spPr>
          <a:xfrm>
            <a:off x="7680960" y="3337560"/>
            <a:ext cx="3749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經典的 </a:t>
            </a:r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"abba"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錯誤（更新左邊界時忘了取最大值）：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17 道只有 1 道擋到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，而且那一道是隨機產生的字串。</a:t>
            </a:r>
            <a:endParaRPr lang="en-US" sz="1600" dirty="0"/>
          </a:p>
        </p:txBody>
      </p:sp>
      <p:sp>
        <p:nvSpPr>
          <p:cNvPr id="16" name="text-137"/>
          <p:cNvSpPr txBox="1"/>
          <p:nvPr/>
        </p:nvSpPr>
        <p:spPr>
          <a:xfrm>
            <a:off x="548640" y="54406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測資對「看過的錯誤」很強，換一批就漏了。</a:t>
            </a:r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之後每個數字都同時報調整組和驗收組。　樣本：1 題、3 份驗收用錯誤程式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6459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發現二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固定門檻不能套用到每一題 → 改用達成率</a:t>
            </a:r>
            <a:endParaRPr lang="en-US" sz="3000" dirty="0"/>
          </a:p>
        </p:txBody>
      </p:sp>
      <p:sp>
        <p:nvSpPr>
          <p:cNvPr id="5" name="text-138"/>
          <p:cNvSpPr txBox="1"/>
          <p:nvPr/>
        </p:nvSpPr>
        <p:spPr>
          <a:xfrm>
            <a:off x="548640" y="160020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原本的標準：TNR ≥ 0.85 才算好。但有些題目怎麼補都到不了：</a:t>
            </a:r>
            <a:endParaRPr lang="en-US" sz="1700" dirty="0"/>
          </a:p>
        </p:txBody>
      </p:sp>
      <p:sp>
        <p:nvSpPr>
          <p:cNvPr id="6" name="card-139"/>
          <p:cNvSpPr/>
          <p:nvPr/>
        </p:nvSpPr>
        <p:spPr>
          <a:xfrm>
            <a:off x="548640" y="2148840"/>
            <a:ext cx="3200400" cy="251460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7" name="text-140"/>
          <p:cNvSpPr txBox="1"/>
          <p:nvPr/>
        </p:nvSpPr>
        <p:spPr>
          <a:xfrm>
            <a:off x="822960" y="2286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括號是否成對</a:t>
            </a:r>
            <a:endParaRPr lang="en-US" sz="1600" dirty="0"/>
          </a:p>
        </p:txBody>
      </p:sp>
      <p:sp>
        <p:nvSpPr>
          <p:cNvPr id="8" name="text-141"/>
          <p:cNvSpPr txBox="1"/>
          <p:nvPr/>
        </p:nvSpPr>
        <p:spPr>
          <a:xfrm>
            <a:off x="822960" y="269748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上限 </a:t>
            </a:r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0.667</a:t>
            </a:r>
            <a:endParaRPr lang="en-US" sz="1600" dirty="0"/>
          </a:p>
        </p:txBody>
      </p:sp>
      <p:sp>
        <p:nvSpPr>
          <p:cNvPr id="9" name="text-142"/>
          <p:cNvSpPr txBox="1"/>
          <p:nvPr/>
        </p:nvSpPr>
        <p:spPr>
          <a:xfrm>
            <a:off x="822960" y="3520440"/>
            <a:ext cx="2697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窮舉長度 1–8 的全部 201 萬個輸入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一道測資最多同時擋下 4 種</a:t>
            </a:r>
            <a:endParaRPr lang="en-US" sz="1300" dirty="0"/>
          </a:p>
        </p:txBody>
      </p:sp>
      <p:sp>
        <p:nvSpPr>
          <p:cNvPr id="10" name="card-143"/>
          <p:cNvSpPr/>
          <p:nvPr/>
        </p:nvSpPr>
        <p:spPr>
          <a:xfrm>
            <a:off x="3977640" y="2148840"/>
            <a:ext cx="3200400" cy="251460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1" name="text-144"/>
          <p:cNvSpPr txBox="1"/>
          <p:nvPr/>
        </p:nvSpPr>
        <p:spPr>
          <a:xfrm>
            <a:off x="4251960" y="2286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買賣股票</a:t>
            </a:r>
            <a:endParaRPr lang="en-US" sz="1600" dirty="0"/>
          </a:p>
        </p:txBody>
      </p:sp>
      <p:sp>
        <p:nvSpPr>
          <p:cNvPr id="12" name="text-145"/>
          <p:cNvSpPr txBox="1"/>
          <p:nvPr/>
        </p:nvSpPr>
        <p:spPr>
          <a:xfrm>
            <a:off x="4251960" y="269748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上限 </a:t>
            </a:r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0.833</a:t>
            </a:r>
            <a:endParaRPr lang="en-US" sz="1600" dirty="0"/>
          </a:p>
        </p:txBody>
      </p:sp>
      <p:sp>
        <p:nvSpPr>
          <p:cNvPr id="13" name="text-146"/>
          <p:cNvSpPr txBox="1"/>
          <p:nvPr/>
        </p:nvSpPr>
        <p:spPr>
          <a:xfrm>
            <a:off x="4251960" y="3520440"/>
            <a:ext cx="2697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答案是 0 的輸入才抓得到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回負數的錯，但抓不到其他錯誤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一道最多擋 5 種</a:t>
            </a:r>
            <a:endParaRPr lang="en-US" sz="1300" dirty="0"/>
          </a:p>
        </p:txBody>
      </p:sp>
      <p:sp>
        <p:nvSpPr>
          <p:cNvPr id="14" name="card-147"/>
          <p:cNvSpPr/>
          <p:nvPr/>
        </p:nvSpPr>
        <p:spPr>
          <a:xfrm>
            <a:off x="7543800" y="2148840"/>
            <a:ext cx="4096512" cy="251460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5" name="text-148"/>
          <p:cNvSpPr txBox="1"/>
          <p:nvPr/>
        </p:nvSpPr>
        <p:spPr>
          <a:xfrm>
            <a:off x="7818120" y="2286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為什麼</a:t>
            </a:r>
            <a:endParaRPr lang="en-US" sz="1600" dirty="0"/>
          </a:p>
        </p:txBody>
      </p:sp>
      <p:sp>
        <p:nvSpPr>
          <p:cNvPr id="16" name="text-149"/>
          <p:cNvSpPr txBox="1"/>
          <p:nvPr/>
        </p:nvSpPr>
        <p:spPr>
          <a:xfrm>
            <a:off x="7818120" y="2697480"/>
            <a:ext cx="36118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有些錯誤只在特定答案時才會露出來。太寬鬆的錯誤只在答案是 False 時抓得到，太嚴格的只在答案是 True 時抓得到。一道測資的答案只有一個，不可能兩邊都抓。</a:t>
            </a:r>
            <a:endParaRPr lang="en-US" sz="1400" dirty="0"/>
          </a:p>
        </p:txBody>
      </p:sp>
      <p:sp>
        <p:nvSpPr>
          <p:cNvPr id="17" name="text-150"/>
          <p:cNvSpPr txBox="1"/>
          <p:nvPr/>
        </p:nvSpPr>
        <p:spPr>
          <a:xfrm>
            <a:off x="548640" y="48920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DFA050"/>
                </a:solidFill>
              </a:rPr>
              <a:t>上限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＝一道測資最多能同時擋下幾種錯誤 ÷ 錯誤總數　　</a:t>
            </a:r>
            <a:pPr indent="0" marL="0">
              <a:buNone/>
            </a:pPr>
            <a:r>
              <a:rPr lang="en-US" sz="1700" b="1" dirty="0">
                <a:solidFill>
                  <a:srgbClr val="DFA050"/>
                </a:solidFill>
              </a:rPr>
              <a:t>達成率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＝TNR ÷ 上限</a:t>
            </a:r>
            <a:endParaRPr lang="en-US" sz="1700" dirty="0"/>
          </a:p>
        </p:txBody>
      </p:sp>
      <p:sp>
        <p:nvSpPr>
          <p:cNvPr id="18" name="text-151"/>
          <p:cNvSpPr txBox="1"/>
          <p:nvPr/>
        </p:nvSpPr>
        <p:spPr>
          <a:xfrm>
            <a:off x="548640" y="53949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例：買賣股票 0.583 ÷ 0.833 ＝ </a:t>
            </a:r>
            <a:pPr indent="0" marL="0">
              <a:buNone/>
            </a:pPr>
            <a:r>
              <a:rPr lang="en-US" sz="1500" b="1" dirty="0">
                <a:solidFill>
                  <a:srgbClr val="DFA050"/>
                </a:solidFill>
              </a:rPr>
              <a:t>0.70</a:t>
            </a:r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每題跟自己的上限比，才能跨題比較；上限是題目本身的性質，跟 AI 或出題的人能力無關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6459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全自動流程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一個指令跑完：提 → 測 → 審 → 判斷</a:t>
            </a:r>
            <a:endParaRPr lang="en-US" sz="3000" dirty="0"/>
          </a:p>
        </p:txBody>
      </p:sp>
      <p:sp>
        <p:nvSpPr>
          <p:cNvPr id="5" name="card-152"/>
          <p:cNvSpPr/>
          <p:nvPr/>
        </p:nvSpPr>
        <p:spPr>
          <a:xfrm>
            <a:off x="548640" y="1783080"/>
            <a:ext cx="2514600" cy="187452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6" name="text-153"/>
          <p:cNvSpPr txBox="1"/>
          <p:nvPr/>
        </p:nvSpPr>
        <p:spPr>
          <a:xfrm>
            <a:off x="777240" y="19202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-154"/>
          <p:cNvSpPr txBox="1"/>
          <p:nvPr/>
        </p:nvSpPr>
        <p:spPr>
          <a:xfrm>
            <a:off x="777240" y="24231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AI 提候選測資</a:t>
            </a:r>
            <a:endParaRPr lang="en-US" sz="1800" dirty="0"/>
          </a:p>
        </p:txBody>
      </p:sp>
      <p:sp>
        <p:nvSpPr>
          <p:cNvPr id="8" name="text-155"/>
          <p:cNvSpPr txBox="1"/>
          <p:nvPr/>
        </p:nvSpPr>
        <p:spPr>
          <a:xfrm>
            <a:off x="777240" y="292608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只給輸入，不給答案；答案由寫對的程式算</a:t>
            </a:r>
            <a:endParaRPr lang="en-US" sz="1300" dirty="0"/>
          </a:p>
        </p:txBody>
      </p:sp>
      <p:sp>
        <p:nvSpPr>
          <p:cNvPr id="9" name="arrow-156"/>
          <p:cNvSpPr/>
          <p:nvPr/>
        </p:nvSpPr>
        <p:spPr>
          <a:xfrm>
            <a:off x="3090672" y="2715768"/>
            <a:ext cx="274320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0" name="card-157"/>
          <p:cNvSpPr/>
          <p:nvPr/>
        </p:nvSpPr>
        <p:spPr>
          <a:xfrm>
            <a:off x="3392424" y="1783080"/>
            <a:ext cx="2514600" cy="187452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1" name="text-158"/>
          <p:cNvSpPr txBox="1"/>
          <p:nvPr/>
        </p:nvSpPr>
        <p:spPr>
          <a:xfrm>
            <a:off x="3621024" y="19202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-159"/>
          <p:cNvSpPr txBox="1"/>
          <p:nvPr/>
        </p:nvSpPr>
        <p:spPr>
          <a:xfrm>
            <a:off x="3621024" y="24231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機器評測</a:t>
            </a:r>
            <a:endParaRPr lang="en-US" sz="1800" dirty="0"/>
          </a:p>
        </p:txBody>
      </p:sp>
      <p:sp>
        <p:nvSpPr>
          <p:cNvPr id="13" name="text-160"/>
          <p:cNvSpPr txBox="1"/>
          <p:nvPr/>
        </p:nvSpPr>
        <p:spPr>
          <a:xfrm>
            <a:off x="3621024" y="292608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算出每道擋下哪幾種錯、TPR、TNR</a:t>
            </a:r>
            <a:endParaRPr lang="en-US" sz="1300" dirty="0"/>
          </a:p>
        </p:txBody>
      </p:sp>
      <p:sp>
        <p:nvSpPr>
          <p:cNvPr id="14" name="arrow-161"/>
          <p:cNvSpPr/>
          <p:nvPr/>
        </p:nvSpPr>
        <p:spPr>
          <a:xfrm>
            <a:off x="5934456" y="2715768"/>
            <a:ext cx="274320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5" name="card-162"/>
          <p:cNvSpPr/>
          <p:nvPr/>
        </p:nvSpPr>
        <p:spPr>
          <a:xfrm>
            <a:off x="6236208" y="1783080"/>
            <a:ext cx="2514600" cy="187452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6" name="text-163"/>
          <p:cNvSpPr txBox="1"/>
          <p:nvPr/>
        </p:nvSpPr>
        <p:spPr>
          <a:xfrm>
            <a:off x="6464808" y="19202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-164"/>
          <p:cNvSpPr txBox="1"/>
          <p:nvPr/>
        </p:nvSpPr>
        <p:spPr>
          <a:xfrm>
            <a:off x="6464808" y="24231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自動審核</a:t>
            </a:r>
            <a:endParaRPr lang="en-US" sz="1800" dirty="0"/>
          </a:p>
        </p:txBody>
      </p:sp>
      <p:sp>
        <p:nvSpPr>
          <p:cNvPr id="18" name="text-165"/>
          <p:cNvSpPr txBox="1"/>
          <p:nvPr/>
        </p:nvSpPr>
        <p:spPr>
          <a:xfrm>
            <a:off x="6464808" y="292608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只看分數，不看 AI 的理由；挑讓平均 TNR 最高的一道，不再提高就停</a:t>
            </a:r>
            <a:endParaRPr lang="en-US" sz="1300" dirty="0"/>
          </a:p>
        </p:txBody>
      </p:sp>
      <p:sp>
        <p:nvSpPr>
          <p:cNvPr id="19" name="arrow-166"/>
          <p:cNvSpPr/>
          <p:nvPr/>
        </p:nvSpPr>
        <p:spPr>
          <a:xfrm>
            <a:off x="8778240" y="2715768"/>
            <a:ext cx="274320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0" name="card-167"/>
          <p:cNvSpPr/>
          <p:nvPr/>
        </p:nvSpPr>
        <p:spPr>
          <a:xfrm>
            <a:off x="9079992" y="1783080"/>
            <a:ext cx="2514600" cy="187452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1" name="text-168"/>
          <p:cNvSpPr txBox="1"/>
          <p:nvPr/>
        </p:nvSpPr>
        <p:spPr>
          <a:xfrm>
            <a:off x="9308592" y="19202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2600" dirty="0"/>
          </a:p>
        </p:txBody>
      </p:sp>
      <p:sp>
        <p:nvSpPr>
          <p:cNvPr id="22" name="text-169"/>
          <p:cNvSpPr txBox="1"/>
          <p:nvPr/>
        </p:nvSpPr>
        <p:spPr>
          <a:xfrm>
            <a:off x="9308592" y="24231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判斷停不停</a:t>
            </a:r>
            <a:endParaRPr lang="en-US" sz="1800" dirty="0"/>
          </a:p>
        </p:txBody>
      </p:sp>
      <p:sp>
        <p:nvSpPr>
          <p:cNvPr id="23" name="text-170"/>
          <p:cNvSpPr txBox="1"/>
          <p:nvPr/>
        </p:nvSpPr>
        <p:spPr>
          <a:xfrm>
            <a:off x="9308592" y="292608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達成率 ≥ 0.85、上一輪沒留下新測資、或跑滿輪數</a:t>
            </a:r>
            <a:endParaRPr lang="en-US" sz="1300" dirty="0"/>
          </a:p>
        </p:txBody>
      </p:sp>
      <p:sp>
        <p:nvSpPr>
          <p:cNvPr id="24" name="text-171"/>
          <p:cNvSpPr txBox="1"/>
          <p:nvPr/>
        </p:nvSpPr>
        <p:spPr>
          <a:xfrm>
            <a:off x="548640" y="3886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↺ 沒停就回到第 1 步，進入下一輪</a:t>
            </a:r>
            <a:endParaRPr lang="en-US" sz="1400" dirty="0"/>
          </a:p>
        </p:txBody>
      </p:sp>
      <p:sp>
        <p:nvSpPr>
          <p:cNvPr id="25" name="card-172"/>
          <p:cNvSpPr/>
          <p:nvPr/>
        </p:nvSpPr>
        <p:spPr>
          <a:xfrm>
            <a:off x="7406640" y="3840480"/>
            <a:ext cx="4233672" cy="777240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6" name="text-173"/>
          <p:cNvSpPr txBox="1"/>
          <p:nvPr/>
        </p:nvSpPr>
        <p:spPr>
          <a:xfrm>
            <a:off x="7635240" y="3858768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結束：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驗收組只跑一次，結果存檔</a:t>
            </a:r>
            <a:endParaRPr lang="en-US" sz="1600" dirty="0"/>
          </a:p>
        </p:txBody>
      </p:sp>
      <p:sp>
        <p:nvSpPr>
          <p:cNvPr id="27" name="text-174"/>
          <p:cNvSpPr txBox="1"/>
          <p:nvPr/>
        </p:nvSpPr>
        <p:spPr>
          <a:xfrm>
            <a:off x="548640" y="48920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可重現：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所有提案、審核、評測都存檔；用正式版程式重算既有 8 輪，</a:t>
            </a:r>
            <a:pPr indent="0" marL="0">
              <a:buNone/>
            </a:pPr>
            <a:r>
              <a:rPr lang="en-US" sz="1500" b="1" dirty="0">
                <a:solidFill>
                  <a:srgbClr val="5CB87C"/>
                </a:solidFill>
              </a:rPr>
              <a:t>結果全部一致</a:t>
            </a:r>
            <a:endParaRPr lang="en-US" sz="1500" dirty="0"/>
          </a:p>
        </p:txBody>
      </p:sp>
      <p:sp>
        <p:nvSpPr>
          <p:cNvPr id="28" name="text-175"/>
          <p:cNvSpPr txBox="1"/>
          <p:nvPr/>
        </p:nvSpPr>
        <p:spPr>
          <a:xfrm>
            <a:off x="548640" y="53949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指令　</a:t>
            </a:r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testgen.pipeline --problem &lt;題目&gt;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6459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環境測試結果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回饋驅動迭代：文獻怎麼說，我們觀察到什麼</a:t>
            </a:r>
            <a:endParaRPr lang="en-US" sz="3000" dirty="0"/>
          </a:p>
        </p:txBody>
      </p:sp>
      <p:sp>
        <p:nvSpPr>
          <p:cNvPr id="5" name="card-176"/>
          <p:cNvSpPr/>
          <p:nvPr/>
        </p:nvSpPr>
        <p:spPr>
          <a:xfrm>
            <a:off x="548640" y="1645920"/>
            <a:ext cx="548640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6" name="text-177"/>
          <p:cNvSpPr txBox="1"/>
          <p:nvPr/>
        </p:nvSpPr>
        <p:spPr>
          <a:xfrm>
            <a:off x="822960" y="17830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論文觀點　</a:t>
            </a:r>
            <a:pPr indent="0" marL="0">
              <a:buNone/>
            </a:pPr>
            <a:r>
              <a:rPr lang="en-US" sz="140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</a:t>
            </a:r>
            <a:endParaRPr lang="en-US" sz="1400" dirty="0"/>
          </a:p>
        </p:txBody>
      </p:sp>
      <p:sp>
        <p:nvSpPr>
          <p:cNvPr id="7" name="text-178"/>
          <p:cNvSpPr txBox="1"/>
          <p:nvPr/>
        </p:nvSpPr>
        <p:spPr>
          <a:xfrm>
            <a:off x="822960" y="219456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只靠 LLM 自己產生的測資不夠多樣；把測資拿去跑已知的正確解與錯誤解，再把執行結果回饋給 LLM 一輪輪修正，可以提高測資的鑑別力</a:t>
            </a:r>
            <a:endParaRPr lang="en-US" sz="1600" dirty="0"/>
          </a:p>
        </p:txBody>
      </p:sp>
      <p:sp>
        <p:nvSpPr>
          <p:cNvPr id="8" name="text-179"/>
          <p:cNvSpPr txBox="1"/>
          <p:nvPr/>
        </p:nvSpPr>
        <p:spPr>
          <a:xfrm>
            <a:off x="822960" y="32461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Cai et al., CodeContests-O, 2026</a:t>
            </a:r>
            <a:endParaRPr lang="en-US" sz="1200" dirty="0"/>
          </a:p>
        </p:txBody>
      </p:sp>
      <p:sp>
        <p:nvSpPr>
          <p:cNvPr id="9" name="card-180"/>
          <p:cNvSpPr/>
          <p:nvPr/>
        </p:nvSpPr>
        <p:spPr>
          <a:xfrm>
            <a:off x="548640" y="3931920"/>
            <a:ext cx="548640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0" name="text-181"/>
          <p:cNvSpPr txBox="1"/>
          <p:nvPr/>
        </p:nvSpPr>
        <p:spPr>
          <a:xfrm>
            <a:off x="822960" y="40690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論文觀點　</a:t>
            </a:r>
            <a:pPr indent="0" marL="0">
              <a:buNone/>
            </a:pPr>
            <a:r>
              <a:rPr lang="en-US" sz="140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[9]</a:t>
            </a:r>
            <a:endParaRPr lang="en-US" sz="1400" dirty="0"/>
          </a:p>
        </p:txBody>
      </p:sp>
      <p:sp>
        <p:nvSpPr>
          <p:cNvPr id="11" name="text-182"/>
          <p:cNvSpPr txBox="1"/>
          <p:nvPr/>
        </p:nvSpPr>
        <p:spPr>
          <a:xfrm>
            <a:off x="822960" y="44805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LLM 產出 → 驗證器評分 → 再決定怎麼處理</a:t>
            </a:r>
            <a:endParaRPr lang="en-US" sz="1600" dirty="0"/>
          </a:p>
        </p:txBody>
      </p:sp>
      <p:sp>
        <p:nvSpPr>
          <p:cNvPr id="12" name="text-183"/>
          <p:cNvSpPr txBox="1"/>
          <p:nvPr/>
        </p:nvSpPr>
        <p:spPr>
          <a:xfrm>
            <a:off x="822960" y="50749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Wang et al., CHI 2024</a:t>
            </a:r>
            <a:endParaRPr lang="en-US" sz="1200" dirty="0"/>
          </a:p>
        </p:txBody>
      </p:sp>
      <p:sp>
        <p:nvSpPr>
          <p:cNvPr id="13" name="obs-184"/>
          <p:cNvSpPr/>
          <p:nvPr/>
        </p:nvSpPr>
        <p:spPr>
          <a:xfrm>
            <a:off x="6263640" y="1645920"/>
            <a:ext cx="5376672" cy="3931920"/>
          </a:xfrm>
          <a:prstGeom prst="roundRect">
            <a:avLst>
              <a:gd name="adj" fmla="val 1860"/>
            </a:avLst>
          </a:prstGeom>
          <a:solidFill>
            <a:schemeClr val="bg2"/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14" name="text-185"/>
          <p:cNvSpPr txBox="1"/>
          <p:nvPr/>
        </p:nvSpPr>
        <p:spPr>
          <a:xfrm>
            <a:off x="6537960" y="1783080"/>
            <a:ext cx="4828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本專題觀察　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全自動流程能跑完</a:t>
            </a:r>
            <a:endParaRPr lang="en-US" sz="1400" dirty="0"/>
          </a:p>
        </p:txBody>
      </p:sp>
      <p:sp>
        <p:nvSpPr>
          <p:cNvPr id="15" name="text-186"/>
          <p:cNvSpPr txBox="1"/>
          <p:nvPr/>
        </p:nvSpPr>
        <p:spPr>
          <a:xfrm>
            <a:off x="6537960" y="2286000"/>
            <a:ext cx="4873752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同一個迴圈，用 TPR／TNR 評測當驗證器，審核只看分數</a:t>
            </a:r>
            <a:endParaRPr lang="en-US" sz="1700" dirty="0"/>
          </a:p>
          <a:p>
            <a:pPr marL="203200" indent="-203200">
              <a:spcAft>
                <a:spcPts val="1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兩題都從頭跑到結束，</a:t>
            </a:r>
            <a:pPr indent="0" marL="0">
              <a:spcAft>
                <a:spcPts val="1600"/>
              </a:spcAft>
              <a:buNone/>
            </a:pPr>
            <a:r>
              <a:rPr lang="en-US" sz="1700" b="1" dirty="0">
                <a:solidFill>
                  <a:srgbClr val="5CB87C"/>
                </a:solidFill>
              </a:rPr>
              <a:t>測資都比起點進步</a:t>
            </a:r>
            <a:endParaRPr lang="en-US" sz="1700" dirty="0"/>
          </a:p>
          <a:p>
            <a:pPr marL="203200" indent="-203200">
              <a:spcAft>
                <a:spcPts val="1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困難題進步較多；簡單題較早停滯</a:t>
            </a:r>
            <a:endParaRPr lang="en-US" sz="1700" dirty="0"/>
          </a:p>
          <a:p>
            <a:pPr marL="203200" indent="-203200">
              <a:spcAft>
                <a:spcPts val="1600"/>
              </a:spcAft>
              <a:buSzPct val="100000"/>
              <a:buChar char="•"/>
            </a:pPr>
            <a:r>
              <a:rPr lang="en-US" sz="1700" b="1" dirty="0">
                <a:solidFill>
                  <a:srgbClr val="D96870"/>
                </a:solidFill>
              </a:rPr>
              <a:t>兩題都沒有達到 0.85</a:t>
            </a:r>
            <a:endParaRPr lang="en-US" sz="1700" dirty="0"/>
          </a:p>
        </p:txBody>
      </p:sp>
      <p:sp>
        <p:nvSpPr>
          <p:cNvPr id="16" name="text-187"/>
          <p:cNvSpPr txBox="1"/>
          <p:nvPr/>
        </p:nvSpPr>
        <p:spPr>
          <a:xfrm>
            <a:off x="548640" y="57150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意涵　</a:t>
            </a:r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文獻的迴圈在小規模也跑得起來；但每題只有一次實驗、6 份錯誤程式，只能當可行性觀察，不能和文獻的數字直接比較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6459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發現三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測資品質有兩個面向：覆蓋與暴露</a:t>
            </a:r>
            <a:endParaRPr lang="en-US" sz="3000" dirty="0"/>
          </a:p>
        </p:txBody>
      </p:sp>
      <p:sp>
        <p:nvSpPr>
          <p:cNvPr id="5" name="card-188"/>
          <p:cNvSpPr/>
          <p:nvPr/>
        </p:nvSpPr>
        <p:spPr>
          <a:xfrm>
            <a:off x="548640" y="1645920"/>
            <a:ext cx="5486400" cy="3931920"/>
          </a:xfrm>
          <a:prstGeom prst="roundRect">
            <a:avLst>
              <a:gd name="adj" fmla="val 1860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6" name="text-189"/>
          <p:cNvSpPr txBox="1"/>
          <p:nvPr/>
        </p:nvSpPr>
        <p:spPr>
          <a:xfrm>
            <a:off x="822960" y="17830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論文觀點　</a:t>
            </a:r>
            <a:pPr indent="0" marL="0">
              <a:buNone/>
            </a:pPr>
            <a:r>
              <a:rPr lang="en-US" sz="140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[13]</a:t>
            </a:r>
            <a:endParaRPr lang="en-US" sz="1400" dirty="0"/>
          </a:p>
        </p:txBody>
      </p:sp>
      <p:sp>
        <p:nvSpPr>
          <p:cNvPr id="7" name="text-190"/>
          <p:cNvSpPr txBox="1"/>
          <p:nvPr/>
        </p:nvSpPr>
        <p:spPr>
          <a:xfrm>
            <a:off x="822960" y="21945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評估 LLM 產生的測資，要看兩個面向：</a:t>
            </a:r>
            <a:endParaRPr lang="en-US" sz="1600" dirty="0"/>
          </a:p>
        </p:txBody>
      </p:sp>
      <p:sp>
        <p:nvSpPr>
          <p:cNvPr id="8" name="dim-191"/>
          <p:cNvSpPr/>
          <p:nvPr/>
        </p:nvSpPr>
        <p:spPr>
          <a:xfrm>
            <a:off x="822960" y="2743200"/>
            <a:ext cx="4937760" cy="9144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9" name="text-192"/>
          <p:cNvSpPr txBox="1"/>
          <p:nvPr/>
        </p:nvSpPr>
        <p:spPr>
          <a:xfrm>
            <a:off x="1005840" y="28346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錯誤覆蓋</a:t>
            </a:r>
            <a:endParaRPr lang="en-US" sz="1700" dirty="0"/>
          </a:p>
        </p:txBody>
      </p:sp>
      <p:sp>
        <p:nvSpPr>
          <p:cNvPr id="10" name="text-193"/>
          <p:cNvSpPr txBox="1"/>
          <p:nvPr/>
        </p:nvSpPr>
        <p:spPr>
          <a:xfrm>
            <a:off x="2423160" y="283464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一組測資能涵蓋多少種失敗方式</a:t>
            </a:r>
            <a:endParaRPr lang="en-US" sz="1400" dirty="0"/>
          </a:p>
        </p:txBody>
      </p:sp>
      <p:sp>
        <p:nvSpPr>
          <p:cNvPr id="11" name="dim-194"/>
          <p:cNvSpPr/>
          <p:nvPr/>
        </p:nvSpPr>
        <p:spPr>
          <a:xfrm>
            <a:off x="822960" y="3840480"/>
            <a:ext cx="4937760" cy="9144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2" name="text-195"/>
          <p:cNvSpPr txBox="1"/>
          <p:nvPr/>
        </p:nvSpPr>
        <p:spPr>
          <a:xfrm>
            <a:off x="1005840" y="393192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錯誤暴露</a:t>
            </a:r>
            <a:endParaRPr lang="en-US" sz="1700" dirty="0"/>
          </a:p>
        </p:txBody>
      </p:sp>
      <p:sp>
        <p:nvSpPr>
          <p:cNvPr id="13" name="text-196"/>
          <p:cNvSpPr txBox="1"/>
          <p:nvPr/>
        </p:nvSpPr>
        <p:spPr>
          <a:xfrm>
            <a:off x="2423160" y="393192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能不能針對某個錯誤寫法，產生讓它出錯的輸入</a:t>
            </a:r>
            <a:endParaRPr lang="en-US" sz="1400" dirty="0"/>
          </a:p>
        </p:txBody>
      </p:sp>
      <p:sp>
        <p:nvSpPr>
          <p:cNvPr id="14" name="text-197"/>
          <p:cNvSpPr txBox="1"/>
          <p:nvPr/>
        </p:nvSpPr>
        <p:spPr>
          <a:xfrm>
            <a:off x="822960" y="50749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Yang et al., TestCase-Eval, ACL 2025</a:t>
            </a:r>
            <a:endParaRPr lang="en-US" sz="1200" dirty="0"/>
          </a:p>
        </p:txBody>
      </p:sp>
      <p:sp>
        <p:nvSpPr>
          <p:cNvPr id="15" name="obs-198"/>
          <p:cNvSpPr/>
          <p:nvPr/>
        </p:nvSpPr>
        <p:spPr>
          <a:xfrm>
            <a:off x="6263640" y="1645920"/>
            <a:ext cx="5376672" cy="3931920"/>
          </a:xfrm>
          <a:prstGeom prst="roundRect">
            <a:avLst>
              <a:gd name="adj" fmla="val 1860"/>
            </a:avLst>
          </a:prstGeom>
          <a:solidFill>
            <a:schemeClr val="bg2"/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16" name="text-199"/>
          <p:cNvSpPr txBox="1"/>
          <p:nvPr/>
        </p:nvSpPr>
        <p:spPr>
          <a:xfrm>
            <a:off x="6537960" y="1783080"/>
            <a:ext cx="4828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本專題觀察　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兩個面向會互相拉扯</a:t>
            </a:r>
            <a:endParaRPr lang="en-US" sz="1400" dirty="0"/>
          </a:p>
        </p:txBody>
      </p:sp>
      <p:sp>
        <p:nvSpPr>
          <p:cNvPr id="17" name="text-200"/>
          <p:cNvSpPr txBox="1"/>
          <p:nvPr/>
        </p:nvSpPr>
        <p:spPr>
          <a:xfrm>
            <a:off x="6537960" y="2286000"/>
            <a:ext cx="4873752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自動審核只追</a:t>
            </a:r>
            <a:pPr indent="0" marL="0">
              <a:spcAft>
                <a:spcPts val="16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平均 TNR</a:t>
            </a:r>
            <a:pPr indent="0" marL="0">
              <a:spcAft>
                <a:spcPts val="1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，只收能提高平均的測資</a:t>
            </a:r>
            <a:endParaRPr lang="en-US" sz="1700" dirty="0"/>
          </a:p>
          <a:p>
            <a:pPr marL="203200" indent="-203200">
              <a:spcAft>
                <a:spcPts val="1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結果：停在 4 道，</a:t>
            </a:r>
            <a:pPr indent="0" marL="0">
              <a:spcAft>
                <a:spcPts val="1600"/>
              </a:spcAft>
              <a:buNone/>
            </a:pPr>
            <a:r>
              <a:rPr lang="en-US" sz="1700" b="1" dirty="0">
                <a:solidFill>
                  <a:srgbClr val="D96870"/>
                </a:solidFill>
              </a:rPr>
              <a:t>驗收組漏掉一種錯誤</a:t>
            </a:r>
            <a:endParaRPr lang="en-US" sz="1700" dirty="0"/>
          </a:p>
          <a:p>
            <a:pPr marL="203200" indent="-203200">
              <a:spcAft>
                <a:spcPts val="1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也就是</a:t>
            </a:r>
            <a:pPr indent="0" marL="0">
              <a:spcAft>
                <a:spcPts val="1600"/>
              </a:spcAft>
              <a:buNone/>
            </a:pPr>
            <a:r>
              <a:rPr lang="en-US" sz="1700" b="1" dirty="0">
                <a:solidFill>
                  <a:srgbClr val="D96870"/>
                </a:solidFill>
              </a:rPr>
              <a:t>覆蓋不足</a:t>
            </a:r>
            <a:endParaRPr lang="en-US" sz="1700" dirty="0"/>
          </a:p>
          <a:p>
            <a:pPr marL="203200" indent="-203200">
              <a:spcAft>
                <a:spcPts val="1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補上邊界案例後：</a:t>
            </a:r>
            <a:pPr indent="0" marL="0">
              <a:spcAft>
                <a:spcPts val="1600"/>
              </a:spcAft>
              <a:buNone/>
            </a:pPr>
            <a:r>
              <a:rPr lang="en-US" sz="1700" b="1" dirty="0">
                <a:solidFill>
                  <a:srgbClr val="5CB87C"/>
                </a:solidFill>
              </a:rPr>
              <a:t>覆蓋完整</a:t>
            </a:r>
            <a:pPr indent="0" marL="0">
              <a:spcAft>
                <a:spcPts val="1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，但平均 TNR </a:t>
            </a:r>
            <a:pPr indent="0" marL="0">
              <a:spcAft>
                <a:spcPts val="1600"/>
              </a:spcAft>
              <a:buNone/>
            </a:pPr>
            <a:r>
              <a:rPr lang="en-US" sz="1700" b="1" dirty="0">
                <a:solidFill>
                  <a:srgbClr val="D96870"/>
                </a:solidFill>
              </a:rPr>
              <a:t>下降</a:t>
            </a:r>
            <a:endParaRPr lang="en-US" sz="1700" dirty="0"/>
          </a:p>
        </p:txBody>
      </p:sp>
      <p:sp>
        <p:nvSpPr>
          <p:cNvPr id="18" name="text-201"/>
          <p:cNvSpPr txBox="1"/>
          <p:nvPr/>
        </p:nvSpPr>
        <p:spPr>
          <a:xfrm>
            <a:off x="548640" y="57150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意涵　</a:t>
            </a:r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分數高不等於覆蓋完整；審核要同時看兩個面向。下一步：改成「覆蓋優先」的審核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6459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提示線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不直接給答案的提示：文獻的兩個提醒</a:t>
            </a:r>
            <a:endParaRPr lang="en-US" sz="3000" dirty="0"/>
          </a:p>
        </p:txBody>
      </p:sp>
      <p:sp>
        <p:nvSpPr>
          <p:cNvPr id="5" name="card-202"/>
          <p:cNvSpPr/>
          <p:nvPr/>
        </p:nvSpPr>
        <p:spPr>
          <a:xfrm>
            <a:off x="548640" y="1645920"/>
            <a:ext cx="5486400" cy="187452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6" name="text-203"/>
          <p:cNvSpPr txBox="1"/>
          <p:nvPr/>
        </p:nvSpPr>
        <p:spPr>
          <a:xfrm>
            <a:off x="822960" y="17830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論文觀點　</a:t>
            </a:r>
            <a:pPr indent="0" marL="0">
              <a:buNone/>
            </a:pPr>
            <a:r>
              <a:rPr lang="en-US" sz="140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[12]</a:t>
            </a:r>
            <a:endParaRPr lang="en-US" sz="1400" dirty="0"/>
          </a:p>
        </p:txBody>
      </p:sp>
      <p:sp>
        <p:nvSpPr>
          <p:cNvPr id="7" name="text-204"/>
          <p:cNvSpPr txBox="1"/>
          <p:nvPr/>
        </p:nvSpPr>
        <p:spPr>
          <a:xfrm>
            <a:off x="822960" y="219456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避免直接給答案；改用帶逐行說明的虛擬碼（700 名學生、12 週的課堂部署）</a:t>
            </a:r>
            <a:endParaRPr lang="en-US" sz="1600" dirty="0"/>
          </a:p>
        </p:txBody>
      </p:sp>
      <p:sp>
        <p:nvSpPr>
          <p:cNvPr id="8" name="text-205"/>
          <p:cNvSpPr txBox="1"/>
          <p:nvPr/>
        </p:nvSpPr>
        <p:spPr>
          <a:xfrm>
            <a:off x="822960" y="30175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Kazemitabaar et al., CodeAid, 2024</a:t>
            </a:r>
            <a:endParaRPr lang="en-US" sz="1200" dirty="0"/>
          </a:p>
        </p:txBody>
      </p:sp>
      <p:sp>
        <p:nvSpPr>
          <p:cNvPr id="9" name="card-206"/>
          <p:cNvSpPr/>
          <p:nvPr/>
        </p:nvSpPr>
        <p:spPr>
          <a:xfrm>
            <a:off x="548640" y="3703320"/>
            <a:ext cx="5486400" cy="187452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0" name="text-207"/>
          <p:cNvSpPr txBox="1"/>
          <p:nvPr/>
        </p:nvSpPr>
        <p:spPr>
          <a:xfrm>
            <a:off x="822960" y="38404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論文觀點　</a:t>
            </a:r>
            <a:pPr indent="0" marL="0">
              <a:buNone/>
            </a:pPr>
            <a:r>
              <a:rPr lang="en-US" sz="140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[11]</a:t>
            </a:r>
            <a:endParaRPr lang="en-US" sz="1400" dirty="0"/>
          </a:p>
        </p:txBody>
      </p:sp>
      <p:sp>
        <p:nvSpPr>
          <p:cNvPr id="11" name="text-208"/>
          <p:cNvSpPr txBox="1"/>
          <p:nvPr/>
        </p:nvSpPr>
        <p:spPr>
          <a:xfrm>
            <a:off x="822960" y="425196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只有高層次的文字提示，可能沒有幫助甚至誤導；更具體的提示較能幫到新手</a:t>
            </a:r>
            <a:endParaRPr lang="en-US" sz="1600" dirty="0"/>
          </a:p>
        </p:txBody>
      </p:sp>
      <p:sp>
        <p:nvSpPr>
          <p:cNvPr id="12" name="text-209"/>
          <p:cNvSpPr txBox="1"/>
          <p:nvPr/>
        </p:nvSpPr>
        <p:spPr>
          <a:xfrm>
            <a:off x="822960" y="50749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Xiao et al., 2024</a:t>
            </a:r>
            <a:endParaRPr lang="en-US" sz="1200" dirty="0"/>
          </a:p>
        </p:txBody>
      </p:sp>
      <p:sp>
        <p:nvSpPr>
          <p:cNvPr id="13" name="obs-210"/>
          <p:cNvSpPr/>
          <p:nvPr/>
        </p:nvSpPr>
        <p:spPr>
          <a:xfrm>
            <a:off x="6263640" y="1645920"/>
            <a:ext cx="5376672" cy="3931920"/>
          </a:xfrm>
          <a:prstGeom prst="roundRect">
            <a:avLst>
              <a:gd name="adj" fmla="val 1860"/>
            </a:avLst>
          </a:prstGeom>
          <a:solidFill>
            <a:schemeClr val="bg2"/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14" name="text-211"/>
          <p:cNvSpPr txBox="1"/>
          <p:nvPr/>
        </p:nvSpPr>
        <p:spPr>
          <a:xfrm>
            <a:off x="6537960" y="1783080"/>
            <a:ext cx="4828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本專題觀察　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本專題的對應做法</a:t>
            </a:r>
            <a:endParaRPr lang="en-US" sz="1400" dirty="0"/>
          </a:p>
        </p:txBody>
      </p:sp>
      <p:sp>
        <p:nvSpPr>
          <p:cNvPr id="15" name="text-212"/>
          <p:cNvSpPr txBox="1"/>
          <p:nvPr/>
        </p:nvSpPr>
        <p:spPr>
          <a:xfrm>
            <a:off x="6537960" y="2286000"/>
            <a:ext cx="4873752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60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>看不到程式碼：</a:t>
            </a:r>
            <a:pPr indent="0" marL="0">
              <a:spcAft>
                <a:spcPts val="1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AI 結構上拿不到學生的程式，想代寫也辦不到</a:t>
            </a:r>
            <a:endParaRPr lang="en-US" sz="1700" dirty="0"/>
          </a:p>
          <a:p>
            <a:pPr marL="203200" indent="-203200">
              <a:spcAft>
                <a:spcPts val="160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>虛擬碼當中間層：</a:t>
            </a:r>
            <a:pPr indent="0" marL="0">
              <a:spcAft>
                <a:spcPts val="1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比文字提示具體，但不是能直接貼上的答案；先通過往返檢查才使用</a:t>
            </a:r>
            <a:endParaRPr lang="en-US" sz="1700" dirty="0"/>
          </a:p>
          <a:p>
            <a:pPr marL="203200" indent="-203200">
              <a:spcAft>
                <a:spcPts val="160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>檢查關：</a:t>
            </a:r>
            <a:pPr indent="0" marL="0">
              <a:spcAft>
                <a:spcPts val="1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擋下夾帶程式碼或照抄虛擬碼的提示</a:t>
            </a:r>
            <a:endParaRPr lang="en-US" sz="1700" dirty="0"/>
          </a:p>
        </p:txBody>
      </p:sp>
      <p:sp>
        <p:nvSpPr>
          <p:cNvPr id="16" name="text-213"/>
          <p:cNvSpPr txBox="1"/>
          <p:nvPr/>
        </p:nvSpPr>
        <p:spPr>
          <a:xfrm>
            <a:off x="548640" y="57150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意涵　</a:t>
            </a:r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在「太抽象沒用」與「太具體變答案」之間取中間層；提示方向好不好，機器判斷不了，仍需要人看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6459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Demo：對照文獻的設計原則來看</a:t>
            </a:r>
            <a:endParaRPr lang="en-US" sz="3000" dirty="0"/>
          </a:p>
        </p:txBody>
      </p:sp>
      <p:sp>
        <p:nvSpPr>
          <p:cNvPr id="5" name="card-214"/>
          <p:cNvSpPr/>
          <p:nvPr/>
        </p:nvSpPr>
        <p:spPr>
          <a:xfrm>
            <a:off x="548640" y="1645920"/>
            <a:ext cx="352044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6" name="text-215"/>
          <p:cNvSpPr txBox="1"/>
          <p:nvPr/>
        </p:nvSpPr>
        <p:spPr>
          <a:xfrm>
            <a:off x="822960" y="17830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設計原則　</a:t>
            </a:r>
            <a:pPr indent="0" marL="0">
              <a:buNone/>
            </a:pPr>
            <a:r>
              <a:rPr lang="en-US" sz="130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[12]</a:t>
            </a:r>
            <a:endParaRPr lang="en-US" sz="1300" dirty="0"/>
          </a:p>
        </p:txBody>
      </p:sp>
      <p:sp>
        <p:nvSpPr>
          <p:cNvPr id="7" name="text-216"/>
          <p:cNvSpPr txBox="1"/>
          <p:nvPr/>
        </p:nvSpPr>
        <p:spPr>
          <a:xfrm>
            <a:off x="822960" y="21945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不給完整答案</a:t>
            </a:r>
            <a:endParaRPr lang="en-US" sz="2000" dirty="0"/>
          </a:p>
        </p:txBody>
      </p:sp>
      <p:sp>
        <p:nvSpPr>
          <p:cNvPr id="8" name="text-217"/>
          <p:cNvSpPr txBox="1"/>
          <p:nvPr/>
        </p:nvSpPr>
        <p:spPr>
          <a:xfrm>
            <a:off x="822960" y="278892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Demo 時看：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提示裡沒有可以直接貼上的程式</a:t>
            </a:r>
            <a:endParaRPr lang="en-US" sz="1500" dirty="0"/>
          </a:p>
        </p:txBody>
      </p:sp>
      <p:sp>
        <p:nvSpPr>
          <p:cNvPr id="9" name="card-218"/>
          <p:cNvSpPr/>
          <p:nvPr/>
        </p:nvSpPr>
        <p:spPr>
          <a:xfrm>
            <a:off x="4297680" y="1645920"/>
            <a:ext cx="352044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0" name="text-219"/>
          <p:cNvSpPr txBox="1"/>
          <p:nvPr/>
        </p:nvSpPr>
        <p:spPr>
          <a:xfrm>
            <a:off x="4572000" y="17830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設計原則　</a:t>
            </a:r>
            <a:pPr indent="0" marL="0">
              <a:buNone/>
            </a:pPr>
            <a:r>
              <a:rPr lang="en-US" sz="130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[11]</a:t>
            </a:r>
            <a:endParaRPr lang="en-US" sz="1300" dirty="0"/>
          </a:p>
        </p:txBody>
      </p:sp>
      <p:sp>
        <p:nvSpPr>
          <p:cNvPr id="11" name="text-220"/>
          <p:cNvSpPr txBox="1"/>
          <p:nvPr/>
        </p:nvSpPr>
        <p:spPr>
          <a:xfrm>
            <a:off x="4572000" y="21945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比文字提示更具體</a:t>
            </a:r>
            <a:endParaRPr lang="en-US" sz="2000" dirty="0"/>
          </a:p>
        </p:txBody>
      </p:sp>
      <p:sp>
        <p:nvSpPr>
          <p:cNvPr id="12" name="text-221"/>
          <p:cNvSpPr txBox="1"/>
          <p:nvPr/>
        </p:nvSpPr>
        <p:spPr>
          <a:xfrm>
            <a:off x="4572000" y="278892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Demo 時看：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提示會指到虛擬碼的步驟</a:t>
            </a:r>
            <a:endParaRPr lang="en-US" sz="1500" dirty="0"/>
          </a:p>
        </p:txBody>
      </p:sp>
      <p:sp>
        <p:nvSpPr>
          <p:cNvPr id="13" name="card-222"/>
          <p:cNvSpPr/>
          <p:nvPr/>
        </p:nvSpPr>
        <p:spPr>
          <a:xfrm>
            <a:off x="8046720" y="1645920"/>
            <a:ext cx="352044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4" name="text-223"/>
          <p:cNvSpPr txBox="1"/>
          <p:nvPr/>
        </p:nvSpPr>
        <p:spPr>
          <a:xfrm>
            <a:off x="8321040" y="17830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設計原則　</a:t>
            </a:r>
            <a:pPr indent="0" marL="0">
              <a:buNone/>
            </a:pPr>
            <a:r>
              <a:rPr lang="en-US" sz="130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[12]</a:t>
            </a:r>
            <a:endParaRPr lang="en-US" sz="1300" dirty="0"/>
          </a:p>
        </p:txBody>
      </p:sp>
      <p:sp>
        <p:nvSpPr>
          <p:cNvPr id="15" name="text-224"/>
          <p:cNvSpPr txBox="1"/>
          <p:nvPr/>
        </p:nvSpPr>
        <p:spPr>
          <a:xfrm>
            <a:off x="8321040" y="21945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讓學生自己判斷</a:t>
            </a:r>
            <a:endParaRPr lang="en-US" sz="2000" dirty="0"/>
          </a:p>
        </p:txBody>
      </p:sp>
      <p:sp>
        <p:nvSpPr>
          <p:cNvPr id="16" name="text-225"/>
          <p:cNvSpPr txBox="1"/>
          <p:nvPr/>
        </p:nvSpPr>
        <p:spPr>
          <a:xfrm>
            <a:off x="8321040" y="278892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Demo 時看：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輸入、預期、實際結果都攤開</a:t>
            </a:r>
            <a:endParaRPr lang="en-US" sz="1500" dirty="0"/>
          </a:p>
        </p:txBody>
      </p:sp>
      <p:sp>
        <p:nvSpPr>
          <p:cNvPr id="17" name="text-226"/>
          <p:cNvSpPr txBox="1"/>
          <p:nvPr/>
        </p:nvSpPr>
        <p:spPr>
          <a:xfrm>
            <a:off x="548640" y="4297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操作</a:t>
            </a:r>
            <a:endParaRPr lang="en-US" sz="1600" dirty="0"/>
          </a:p>
        </p:txBody>
      </p:sp>
      <p:sp>
        <p:nvSpPr>
          <p:cNvPr id="18" name="demo-227"/>
          <p:cNvSpPr/>
          <p:nvPr/>
        </p:nvSpPr>
        <p:spPr>
          <a:xfrm>
            <a:off x="548640" y="4709160"/>
            <a:ext cx="329184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9" name="text-228"/>
          <p:cNvSpPr txBox="1"/>
          <p:nvPr/>
        </p:nvSpPr>
        <p:spPr>
          <a:xfrm>
            <a:off x="731520" y="470916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1　打開題目頁、展開虛擬碼</a:t>
            </a:r>
            <a:endParaRPr lang="en-US" sz="1500" dirty="0"/>
          </a:p>
        </p:txBody>
      </p:sp>
      <p:sp>
        <p:nvSpPr>
          <p:cNvPr id="20" name="arrow-229"/>
          <p:cNvSpPr/>
          <p:nvPr/>
        </p:nvSpPr>
        <p:spPr>
          <a:xfrm>
            <a:off x="3867912" y="5052060"/>
            <a:ext cx="402336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1" name="demo-230"/>
          <p:cNvSpPr/>
          <p:nvPr/>
        </p:nvSpPr>
        <p:spPr>
          <a:xfrm>
            <a:off x="4297680" y="4709160"/>
            <a:ext cx="329184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2" name="text-231"/>
          <p:cNvSpPr txBox="1"/>
          <p:nvPr/>
        </p:nvSpPr>
        <p:spPr>
          <a:xfrm>
            <a:off x="4480560" y="470916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2　交一份常見錯解</a:t>
            </a:r>
            <a:endParaRPr lang="en-US" sz="1500" dirty="0"/>
          </a:p>
        </p:txBody>
      </p:sp>
      <p:sp>
        <p:nvSpPr>
          <p:cNvPr id="23" name="arrow-232"/>
          <p:cNvSpPr/>
          <p:nvPr/>
        </p:nvSpPr>
        <p:spPr>
          <a:xfrm>
            <a:off x="7616952" y="5052060"/>
            <a:ext cx="402336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4" name="demo-233"/>
          <p:cNvSpPr/>
          <p:nvPr/>
        </p:nvSpPr>
        <p:spPr>
          <a:xfrm>
            <a:off x="8046720" y="4709160"/>
            <a:ext cx="329184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5" name="text-234"/>
          <p:cNvSpPr txBox="1"/>
          <p:nvPr/>
        </p:nvSpPr>
        <p:spPr>
          <a:xfrm>
            <a:off x="8229600" y="470916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3　看系統怎麼判、AI 怎麼提示</a:t>
            </a:r>
            <a:endParaRPr lang="en-US" sz="1500" dirty="0"/>
          </a:p>
        </p:txBody>
      </p:sp>
      <p:sp>
        <p:nvSpPr>
          <p:cNvPr id="26" name="text-235"/>
          <p:cNvSpPr txBox="1"/>
          <p:nvPr/>
        </p:nvSpPr>
        <p:spPr>
          <a:xfrm>
            <a:off x="548640" y="56692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備案：事先錄好影片，現場網路或 AI 服務出問題時播放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6459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限制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限制</a:t>
            </a:r>
            <a:endParaRPr lang="en-US" sz="3000" dirty="0"/>
          </a:p>
        </p:txBody>
      </p:sp>
      <p:sp>
        <p:nvSpPr>
          <p:cNvPr id="5" name="card-236"/>
          <p:cNvSpPr/>
          <p:nvPr/>
        </p:nvSpPr>
        <p:spPr>
          <a:xfrm>
            <a:off x="548640" y="1691640"/>
            <a:ext cx="539496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6" name="text-237"/>
          <p:cNvSpPr txBox="1"/>
          <p:nvPr/>
        </p:nvSpPr>
        <p:spPr>
          <a:xfrm>
            <a:off x="822960" y="18288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樣本少</a:t>
            </a:r>
            <a:endParaRPr lang="en-US" sz="1700" dirty="0"/>
          </a:p>
        </p:txBody>
      </p:sp>
      <p:sp>
        <p:nvSpPr>
          <p:cNvPr id="7" name="text-238"/>
          <p:cNvSpPr txBox="1"/>
          <p:nvPr/>
        </p:nvSpPr>
        <p:spPr>
          <a:xfrm>
            <a:off x="822960" y="2258568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不做準度與效度驗證；每題一次實驗，數字只當觀察</a:t>
            </a:r>
            <a:endParaRPr lang="en-US" sz="1400" dirty="0"/>
          </a:p>
        </p:txBody>
      </p:sp>
      <p:sp>
        <p:nvSpPr>
          <p:cNvPr id="8" name="card-239"/>
          <p:cNvSpPr/>
          <p:nvPr/>
        </p:nvSpPr>
        <p:spPr>
          <a:xfrm>
            <a:off x="6217920" y="1691640"/>
            <a:ext cx="539496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9" name="text-240"/>
          <p:cNvSpPr txBox="1"/>
          <p:nvPr/>
        </p:nvSpPr>
        <p:spPr>
          <a:xfrm>
            <a:off x="6492240" y="18288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沒有人工審核</a:t>
            </a:r>
            <a:endParaRPr lang="en-US" sz="1700" dirty="0"/>
          </a:p>
        </p:txBody>
      </p:sp>
      <p:sp>
        <p:nvSpPr>
          <p:cNvPr id="10" name="text-241"/>
          <p:cNvSpPr txBox="1"/>
          <p:nvPr/>
        </p:nvSpPr>
        <p:spPr>
          <a:xfrm>
            <a:off x="6492240" y="2258568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審核全部由程式依數字自動進行</a:t>
            </a:r>
            <a:endParaRPr lang="en-US" sz="1400" dirty="0"/>
          </a:p>
        </p:txBody>
      </p:sp>
      <p:sp>
        <p:nvSpPr>
          <p:cNvPr id="11" name="card-242"/>
          <p:cNvSpPr/>
          <p:nvPr/>
        </p:nvSpPr>
        <p:spPr>
          <a:xfrm>
            <a:off x="548640" y="3108960"/>
            <a:ext cx="539496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2" name="text-243"/>
          <p:cNvSpPr txBox="1"/>
          <p:nvPr/>
        </p:nvSpPr>
        <p:spPr>
          <a:xfrm>
            <a:off x="822960" y="32461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沒有收斂</a:t>
            </a:r>
            <a:endParaRPr lang="en-US" sz="1700" dirty="0"/>
          </a:p>
        </p:txBody>
      </p:sp>
      <p:sp>
        <p:nvSpPr>
          <p:cNvPr id="13" name="text-244"/>
          <p:cNvSpPr txBox="1"/>
          <p:nvPr/>
        </p:nvSpPr>
        <p:spPr>
          <a:xfrm>
            <a:off x="822960" y="3675888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三題的達成率都沒有到 0.85</a:t>
            </a:r>
            <a:endParaRPr lang="en-US" sz="1400" dirty="0"/>
          </a:p>
        </p:txBody>
      </p:sp>
      <p:sp>
        <p:nvSpPr>
          <p:cNvPr id="14" name="card-245"/>
          <p:cNvSpPr/>
          <p:nvPr/>
        </p:nvSpPr>
        <p:spPr>
          <a:xfrm>
            <a:off x="6217920" y="3108960"/>
            <a:ext cx="539496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5" name="text-246"/>
          <p:cNvSpPr txBox="1"/>
          <p:nvPr/>
        </p:nvSpPr>
        <p:spPr>
          <a:xfrm>
            <a:off x="6492240" y="32461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共同盲點</a:t>
            </a:r>
            <a:endParaRPr lang="en-US" sz="1700" dirty="0"/>
          </a:p>
        </p:txBody>
      </p:sp>
      <p:sp>
        <p:nvSpPr>
          <p:cNvPr id="16" name="text-247"/>
          <p:cNvSpPr txBox="1"/>
          <p:nvPr/>
        </p:nvSpPr>
        <p:spPr>
          <a:xfrm>
            <a:off x="6492240" y="3675888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寫錯的程式與驗收組由同一批人設計</a:t>
            </a:r>
            <a:endParaRPr lang="en-US" sz="1400" dirty="0"/>
          </a:p>
        </p:txBody>
      </p:sp>
      <p:sp>
        <p:nvSpPr>
          <p:cNvPr id="17" name="card-248"/>
          <p:cNvSpPr/>
          <p:nvPr/>
        </p:nvSpPr>
        <p:spPr>
          <a:xfrm>
            <a:off x="548640" y="4526280"/>
            <a:ext cx="539496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8" name="text-249"/>
          <p:cNvSpPr txBox="1"/>
          <p:nvPr/>
        </p:nvSpPr>
        <p:spPr>
          <a:xfrm>
            <a:off x="822960" y="46634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實驗途中有調整</a:t>
            </a:r>
            <a:endParaRPr lang="en-US" sz="1700" dirty="0"/>
          </a:p>
        </p:txBody>
      </p:sp>
      <p:sp>
        <p:nvSpPr>
          <p:cNvPr id="19" name="text-250"/>
          <p:cNvSpPr txBox="1"/>
          <p:nvPr/>
        </p:nvSpPr>
        <p:spPr>
          <a:xfrm>
            <a:off x="822960" y="5093208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例如換過給 AI 的指示；都記錄在計畫文件</a:t>
            </a:r>
            <a:endParaRPr lang="en-US" sz="1400" dirty="0"/>
          </a:p>
        </p:txBody>
      </p:sp>
      <p:sp>
        <p:nvSpPr>
          <p:cNvPr id="20" name="card-251"/>
          <p:cNvSpPr/>
          <p:nvPr/>
        </p:nvSpPr>
        <p:spPr>
          <a:xfrm>
            <a:off x="6217920" y="4526280"/>
            <a:ext cx="539496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1" name="text-252"/>
          <p:cNvSpPr txBox="1"/>
          <p:nvPr/>
        </p:nvSpPr>
        <p:spPr>
          <a:xfrm>
            <a:off x="6492240" y="46634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範圍</a:t>
            </a:r>
            <a:endParaRPr lang="en-US" sz="1700" dirty="0"/>
          </a:p>
        </p:txBody>
      </p:sp>
      <p:sp>
        <p:nvSpPr>
          <p:cNvPr id="22" name="text-253"/>
          <p:cNvSpPr txBox="1"/>
          <p:nvPr/>
        </p:nvSpPr>
        <p:spPr>
          <a:xfrm>
            <a:off x="6492240" y="5093208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只檢查答案對不對，不檢查快不快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安全執行只擋不小心的誤用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6459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接下來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先讓「測資好不好」看得見</a:t>
            </a:r>
            <a:endParaRPr lang="en-US" sz="3000" dirty="0"/>
          </a:p>
        </p:txBody>
      </p:sp>
      <p:sp>
        <p:nvSpPr>
          <p:cNvPr id="5" name="card-254"/>
          <p:cNvSpPr/>
          <p:nvPr/>
        </p:nvSpPr>
        <p:spPr>
          <a:xfrm>
            <a:off x="548640" y="1691640"/>
            <a:ext cx="539496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6" name="text-255"/>
          <p:cNvSpPr txBox="1"/>
          <p:nvPr/>
        </p:nvSpPr>
        <p:spPr>
          <a:xfrm>
            <a:off x="822960" y="18288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覆蓋優先的審核</a:t>
            </a:r>
            <a:endParaRPr lang="en-US" sz="1800" dirty="0"/>
          </a:p>
        </p:txBody>
      </p:sp>
      <p:sp>
        <p:nvSpPr>
          <p:cNvPr id="7" name="text-256"/>
          <p:cNvSpPr txBox="1"/>
          <p:nvPr/>
        </p:nvSpPr>
        <p:spPr>
          <a:xfrm>
            <a:off x="822960" y="228600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優先留下能補漏洞的測資，不只追平均</a:t>
            </a:r>
            <a:endParaRPr lang="en-US" sz="1500" dirty="0"/>
          </a:p>
        </p:txBody>
      </p:sp>
      <p:sp>
        <p:nvSpPr>
          <p:cNvPr id="8" name="card-257"/>
          <p:cNvSpPr/>
          <p:nvPr/>
        </p:nvSpPr>
        <p:spPr>
          <a:xfrm>
            <a:off x="6217920" y="1691640"/>
            <a:ext cx="539496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9" name="text-258"/>
          <p:cNvSpPr txBox="1"/>
          <p:nvPr/>
        </p:nvSpPr>
        <p:spPr>
          <a:xfrm>
            <a:off x="6492240" y="18288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AI 先建池</a:t>
            </a:r>
            <a:endParaRPr lang="en-US" sz="1800" dirty="0"/>
          </a:p>
        </p:txBody>
      </p:sp>
      <p:sp>
        <p:nvSpPr>
          <p:cNvPr id="10" name="text-259"/>
          <p:cNvSpPr txBox="1"/>
          <p:nvPr/>
        </p:nvSpPr>
        <p:spPr>
          <a:xfrm>
            <a:off x="6492240" y="228600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讓 AI 寫「寫對／寫錯的程式」，再由機器把關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設計已完成，尚未實作</a:t>
            </a:r>
            <a:endParaRPr lang="en-US" sz="1500" dirty="0"/>
          </a:p>
        </p:txBody>
      </p:sp>
      <p:sp>
        <p:nvSpPr>
          <p:cNvPr id="11" name="text-260"/>
          <p:cNvSpPr txBox="1"/>
          <p:nvPr/>
        </p:nvSpPr>
        <p:spPr>
          <a:xfrm>
            <a:off x="548640" y="356616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先讓「測資好不好」看得見，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才知道 AI 的提示有沒有依據。</a:t>
            </a:r>
            <a:endParaRPr lang="en-US" sz="3200" dirty="0"/>
          </a:p>
        </p:txBody>
      </p:sp>
      <p:sp>
        <p:nvSpPr>
          <p:cNvPr id="12" name="text-261"/>
          <p:cNvSpPr txBox="1"/>
          <p:nvPr/>
        </p:nvSpPr>
        <p:spPr>
          <a:xfrm>
            <a:off x="548640" y="525780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2"/>
                </a:solidFill>
              </a:rPr>
              <a:t>謝謝聆聽　Q &amp; A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6459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附錄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參考文獻</a:t>
            </a:r>
            <a:endParaRPr lang="en-US" sz="3000" dirty="0"/>
          </a:p>
        </p:txBody>
      </p:sp>
      <p:sp>
        <p:nvSpPr>
          <p:cNvPr id="5" name="text-262"/>
          <p:cNvSpPr txBox="1"/>
          <p:nvPr/>
        </p:nvSpPr>
        <p:spPr>
          <a:xfrm>
            <a:off x="548640" y="1645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</a:t>
            </a:r>
            <a:endParaRPr lang="en-US" sz="1500" dirty="0"/>
          </a:p>
        </p:txBody>
      </p:sp>
      <p:sp>
        <p:nvSpPr>
          <p:cNvPr id="6" name="text-263"/>
          <p:cNvSpPr txBox="1"/>
          <p:nvPr/>
        </p:nvSpPr>
        <p:spPr>
          <a:xfrm>
            <a:off x="1371600" y="1645920"/>
            <a:ext cx="102714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J. Cai et al., "CodeContests-O: Powering LLMs via Feedback-Driven Iterative Test Case Generation," arXiv:2601.13682, 2026.</a:t>
            </a:r>
            <a:endParaRPr lang="en-US" sz="1400" dirty="0"/>
          </a:p>
        </p:txBody>
      </p:sp>
      <p:sp>
        <p:nvSpPr>
          <p:cNvPr id="7" name="text-264"/>
          <p:cNvSpPr txBox="1"/>
          <p:nvPr/>
        </p:nvSpPr>
        <p:spPr>
          <a:xfrm>
            <a:off x="548640" y="2514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[9]</a:t>
            </a:r>
            <a:endParaRPr lang="en-US" sz="1500" dirty="0"/>
          </a:p>
        </p:txBody>
      </p:sp>
      <p:sp>
        <p:nvSpPr>
          <p:cNvPr id="8" name="text-265"/>
          <p:cNvSpPr txBox="1"/>
          <p:nvPr/>
        </p:nvSpPr>
        <p:spPr>
          <a:xfrm>
            <a:off x="1371600" y="2514600"/>
            <a:ext cx="102714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X. Wang et al., "Human-LLM Collaborative Annotation Through Effective Verification of LLM Labels," in Proc. CHI '24, 2024.</a:t>
            </a:r>
            <a:endParaRPr lang="en-US" sz="1400" dirty="0"/>
          </a:p>
        </p:txBody>
      </p:sp>
      <p:sp>
        <p:nvSpPr>
          <p:cNvPr id="9" name="text-266"/>
          <p:cNvSpPr txBox="1"/>
          <p:nvPr/>
        </p:nvSpPr>
        <p:spPr>
          <a:xfrm>
            <a:off x="548640" y="3383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[11]</a:t>
            </a:r>
            <a:endParaRPr lang="en-US" sz="1500" dirty="0"/>
          </a:p>
        </p:txBody>
      </p:sp>
      <p:sp>
        <p:nvSpPr>
          <p:cNvPr id="10" name="text-267"/>
          <p:cNvSpPr txBox="1"/>
          <p:nvPr/>
        </p:nvSpPr>
        <p:spPr>
          <a:xfrm>
            <a:off x="1371600" y="3383280"/>
            <a:ext cx="102714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R. Xiao, X. Hou, and J. Stamper, "Exploring How Multiple Levels of GPT-Generated Programming Hints Support or Disappoint Novices," arXiv:2404.02213, 2024.</a:t>
            </a:r>
            <a:endParaRPr lang="en-US" sz="1400" dirty="0"/>
          </a:p>
        </p:txBody>
      </p:sp>
      <p:sp>
        <p:nvSpPr>
          <p:cNvPr id="11" name="text-268"/>
          <p:cNvSpPr txBox="1"/>
          <p:nvPr/>
        </p:nvSpPr>
        <p:spPr>
          <a:xfrm>
            <a:off x="548640" y="4251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[12]</a:t>
            </a:r>
            <a:endParaRPr lang="en-US" sz="1500" dirty="0"/>
          </a:p>
        </p:txBody>
      </p:sp>
      <p:sp>
        <p:nvSpPr>
          <p:cNvPr id="12" name="text-269"/>
          <p:cNvSpPr txBox="1"/>
          <p:nvPr/>
        </p:nvSpPr>
        <p:spPr>
          <a:xfrm>
            <a:off x="1371600" y="4251960"/>
            <a:ext cx="102714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M. Kazemitabaar et al., "CodeAid: Evaluating a Classroom Deployment of an LLM-based Programming Assistant that Balances Student and Educator Needs," arXiv:2401.11314, 2024.</a:t>
            </a:r>
            <a:endParaRPr lang="en-US" sz="1400" dirty="0"/>
          </a:p>
        </p:txBody>
      </p:sp>
      <p:sp>
        <p:nvSpPr>
          <p:cNvPr id="13" name="text-270"/>
          <p:cNvSpPr txBox="1"/>
          <p:nvPr/>
        </p:nvSpPr>
        <p:spPr>
          <a:xfrm>
            <a:off x="548640" y="5120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[13]</a:t>
            </a:r>
            <a:endParaRPr lang="en-US" sz="1500" dirty="0"/>
          </a:p>
        </p:txBody>
      </p:sp>
      <p:sp>
        <p:nvSpPr>
          <p:cNvPr id="14" name="text-271"/>
          <p:cNvSpPr txBox="1"/>
          <p:nvPr/>
        </p:nvSpPr>
        <p:spPr>
          <a:xfrm>
            <a:off x="1371600" y="5120640"/>
            <a:ext cx="102714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Z. Yang, Z. Kuang, X. Xia, and Y. Zhao, "Can LLMs Generate High-Quality Test Cases for Algorithm Problems? TestCase-Eval: A Systematic Evaluation of Fault Coverage and Exposure," in Proc. ACL, 2025.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6459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附錄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名詞總表</a:t>
            </a:r>
            <a:endParaRPr lang="en-US" sz="3000" dirty="0"/>
          </a:p>
        </p:txBody>
      </p:sp>
      <p:graphicFrame>
        <p:nvGraphicFramePr>
          <p:cNvPr id="20" name="table-27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807415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名詞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白話說法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測資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一道測試題：一組輸入＋正確答案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寫對的程式（S+）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用不同寫法寫出的正解，每題 3 份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寫錯的程式（S-）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每份故意藏一種常見錯誤，每題 6 份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TPR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寫對的程式有沒有被冤枉；要 100%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TNR（抓錯率）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寫錯的程式平均被擋下的比例；只當觀察指標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漏網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某份寫錯的程式通過了全部測資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調整組／驗收組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補測資時看的錯誤程式／先藏起來、最後才跑一次的（像期末考）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上限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這一題 TNR 理論上最高能到多少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達成率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TNR ÷ 上限；讓不同題目可以比較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code-blind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AI 根本看不到學生的程式碼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虛擬碼／往返檢查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用文字寫出解法步驟／另一個 AI 只看虛擬碼寫程式，要和正解一致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6459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備用 A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題目適不適用這套方法：四關判斷</a:t>
            </a:r>
            <a:endParaRPr lang="en-US" sz="3000" dirty="0"/>
          </a:p>
        </p:txBody>
      </p:sp>
      <p:sp>
        <p:nvSpPr>
          <p:cNvPr id="5" name="card-273"/>
          <p:cNvSpPr/>
          <p:nvPr/>
        </p:nvSpPr>
        <p:spPr>
          <a:xfrm>
            <a:off x="548640" y="1691640"/>
            <a:ext cx="2606040" cy="187452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6" name="text-274"/>
          <p:cNvSpPr txBox="1"/>
          <p:nvPr/>
        </p:nvSpPr>
        <p:spPr>
          <a:xfrm>
            <a:off x="777240" y="1828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第一關</a:t>
            </a:r>
            <a:endParaRPr lang="en-US" sz="1500" dirty="0"/>
          </a:p>
        </p:txBody>
      </p:sp>
      <p:sp>
        <p:nvSpPr>
          <p:cNvPr id="7" name="text-275"/>
          <p:cNvSpPr txBox="1"/>
          <p:nvPr/>
        </p:nvSpPr>
        <p:spPr>
          <a:xfrm>
            <a:off x="777240" y="221284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只讀題目篩選</a:t>
            </a:r>
            <a:endParaRPr lang="en-US" sz="1700" dirty="0"/>
          </a:p>
        </p:txBody>
      </p:sp>
      <p:sp>
        <p:nvSpPr>
          <p:cNvPr id="8" name="text-276"/>
          <p:cNvSpPr txBox="1"/>
          <p:nvPr/>
        </p:nvSpPr>
        <p:spPr>
          <a:xfrm>
            <a:off x="777240" y="2670048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平台能不能跑、答案是否唯一</a:t>
            </a:r>
            <a:endParaRPr lang="en-US" sz="1300" dirty="0"/>
          </a:p>
        </p:txBody>
      </p:sp>
      <p:sp>
        <p:nvSpPr>
          <p:cNvPr id="9" name="card-277"/>
          <p:cNvSpPr/>
          <p:nvPr/>
        </p:nvSpPr>
        <p:spPr>
          <a:xfrm>
            <a:off x="3383280" y="1691640"/>
            <a:ext cx="2606040" cy="187452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0" name="text-278"/>
          <p:cNvSpPr txBox="1"/>
          <p:nvPr/>
        </p:nvSpPr>
        <p:spPr>
          <a:xfrm>
            <a:off x="3611880" y="1828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第二關</a:t>
            </a:r>
            <a:endParaRPr lang="en-US" sz="1500" dirty="0"/>
          </a:p>
        </p:txBody>
      </p:sp>
      <p:sp>
        <p:nvSpPr>
          <p:cNvPr id="11" name="text-279"/>
          <p:cNvSpPr txBox="1"/>
          <p:nvPr/>
        </p:nvSpPr>
        <p:spPr>
          <a:xfrm>
            <a:off x="3611880" y="221284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寫程式驗證樣本</a:t>
            </a:r>
            <a:endParaRPr lang="en-US" sz="1700" dirty="0"/>
          </a:p>
        </p:txBody>
      </p:sp>
      <p:sp>
        <p:nvSpPr>
          <p:cNvPr id="12" name="text-280"/>
          <p:cNvSpPr txBox="1"/>
          <p:nvPr/>
        </p:nvSpPr>
        <p:spPr>
          <a:xfrm>
            <a:off x="3611880" y="2670048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正解一致、錯解真的會錯且不重複</a:t>
            </a:r>
            <a:endParaRPr lang="en-US" sz="1300" dirty="0"/>
          </a:p>
        </p:txBody>
      </p:sp>
      <p:sp>
        <p:nvSpPr>
          <p:cNvPr id="13" name="card-281"/>
          <p:cNvSpPr/>
          <p:nvPr/>
        </p:nvSpPr>
        <p:spPr>
          <a:xfrm>
            <a:off x="6217920" y="1691640"/>
            <a:ext cx="2606040" cy="187452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4" name="text-282"/>
          <p:cNvSpPr txBox="1"/>
          <p:nvPr/>
        </p:nvSpPr>
        <p:spPr>
          <a:xfrm>
            <a:off x="6446520" y="1828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第三關</a:t>
            </a:r>
            <a:endParaRPr lang="en-US" sz="1500" dirty="0"/>
          </a:p>
        </p:txBody>
      </p:sp>
      <p:sp>
        <p:nvSpPr>
          <p:cNvPr id="15" name="text-283"/>
          <p:cNvSpPr txBox="1"/>
          <p:nvPr/>
        </p:nvSpPr>
        <p:spPr>
          <a:xfrm>
            <a:off x="6446520" y="221284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估上限</a:t>
            </a:r>
            <a:endParaRPr lang="en-US" sz="1700" dirty="0"/>
          </a:p>
        </p:txBody>
      </p:sp>
      <p:sp>
        <p:nvSpPr>
          <p:cNvPr id="16" name="text-284"/>
          <p:cNvSpPr txBox="1"/>
          <p:nvPr/>
        </p:nvSpPr>
        <p:spPr>
          <a:xfrm>
            <a:off x="6446520" y="2670048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窮舉小輸入＋隨機搜尋</a:t>
            </a:r>
            <a:endParaRPr lang="en-US" sz="1300" dirty="0"/>
          </a:p>
        </p:txBody>
      </p:sp>
      <p:sp>
        <p:nvSpPr>
          <p:cNvPr id="17" name="card-285"/>
          <p:cNvSpPr/>
          <p:nvPr/>
        </p:nvSpPr>
        <p:spPr>
          <a:xfrm>
            <a:off x="9052560" y="1691640"/>
            <a:ext cx="2606040" cy="187452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8" name="text-286"/>
          <p:cNvSpPr txBox="1"/>
          <p:nvPr/>
        </p:nvSpPr>
        <p:spPr>
          <a:xfrm>
            <a:off x="9281160" y="1828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第四關</a:t>
            </a:r>
            <a:endParaRPr lang="en-US" sz="1500" dirty="0"/>
          </a:p>
        </p:txBody>
      </p:sp>
      <p:sp>
        <p:nvSpPr>
          <p:cNvPr id="19" name="text-287"/>
          <p:cNvSpPr txBox="1"/>
          <p:nvPr/>
        </p:nvSpPr>
        <p:spPr>
          <a:xfrm>
            <a:off x="9281160" y="221284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值不值得做實驗</a:t>
            </a:r>
            <a:endParaRPr lang="en-US" sz="1700" dirty="0"/>
          </a:p>
        </p:txBody>
      </p:sp>
      <p:sp>
        <p:nvSpPr>
          <p:cNvPr id="20" name="text-288"/>
          <p:cNvSpPr txBox="1"/>
          <p:nvPr/>
        </p:nvSpPr>
        <p:spPr>
          <a:xfrm>
            <a:off x="9281160" y="2670048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起點不能太高、符合實驗設計</a:t>
            </a:r>
            <a:endParaRPr lang="en-US" sz="1300" dirty="0"/>
          </a:p>
        </p:txBody>
      </p:sp>
      <p:sp>
        <p:nvSpPr>
          <p:cNvPr id="21" name="text-289"/>
          <p:cNvSpPr txBox="1"/>
          <p:nvPr/>
        </p:nvSpPr>
        <p:spPr>
          <a:xfrm>
            <a:off x="548640" y="3886200"/>
            <a:ext cx="1109441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實際評過 6 題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積水題（LC42）方法能用，但起點已經 0.83，不適合當實驗題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兩陣列中位數難在效率，這套方法只能檢查答案對不對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LC42 的錯誤樣本裡有兩份行為完全一樣，被第二關抓出來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6459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備用 B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給 AI 的指示 v1 → v2、看分數再改</a:t>
            </a:r>
            <a:endParaRPr lang="en-US" sz="3000" dirty="0"/>
          </a:p>
        </p:txBody>
      </p:sp>
      <p:sp>
        <p:nvSpPr>
          <p:cNvPr id="5" name="card-290"/>
          <p:cNvSpPr/>
          <p:nvPr/>
        </p:nvSpPr>
        <p:spPr>
          <a:xfrm>
            <a:off x="548640" y="1691640"/>
            <a:ext cx="5394960" cy="196596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6" name="text-291"/>
          <p:cNvSpPr txBox="1"/>
          <p:nvPr/>
        </p:nvSpPr>
        <p:spPr>
          <a:xfrm>
            <a:off x="822960" y="18288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指示 v1 → v2</a:t>
            </a:r>
            <a:endParaRPr lang="en-US" sz="1800" dirty="0"/>
          </a:p>
        </p:txBody>
      </p:sp>
      <p:sp>
        <p:nvSpPr>
          <p:cNvPr id="7" name="text-292"/>
          <p:cNvSpPr txBox="1"/>
          <p:nvPr/>
        </p:nvSpPr>
        <p:spPr>
          <a:xfrm>
            <a:off x="822960" y="228600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v1：AI 提的測資大多一道只擋一種錯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v2：要求一道擋越多種越好，並告訴它目前每道擋幾種</a:t>
            </a:r>
            <a:endParaRPr lang="en-US" sz="1500" dirty="0"/>
          </a:p>
        </p:txBody>
      </p:sp>
      <p:sp>
        <p:nvSpPr>
          <p:cNvPr id="8" name="card-293"/>
          <p:cNvSpPr/>
          <p:nvPr/>
        </p:nvSpPr>
        <p:spPr>
          <a:xfrm>
            <a:off x="6245352" y="1691640"/>
            <a:ext cx="5394960" cy="196596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9" name="text-294"/>
          <p:cNvSpPr txBox="1"/>
          <p:nvPr/>
        </p:nvSpPr>
        <p:spPr>
          <a:xfrm>
            <a:off x="6519672" y="18288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看分數再改（3 次觀察）</a:t>
            </a:r>
            <a:endParaRPr lang="en-US" sz="1800" dirty="0"/>
          </a:p>
        </p:txBody>
      </p:sp>
      <p:sp>
        <p:nvSpPr>
          <p:cNvPr id="10" name="text-295"/>
          <p:cNvSpPr txBox="1"/>
          <p:nvPr/>
        </p:nvSpPr>
        <p:spPr>
          <a:xfrm>
            <a:off x="6519672" y="214884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23/98</a:t>
            </a:r>
            <a:endParaRPr lang="en-US" sz="3000" dirty="0"/>
          </a:p>
        </p:txBody>
      </p:sp>
      <p:sp>
        <p:nvSpPr>
          <p:cNvPr id="11" name="text-296"/>
          <p:cNvSpPr txBox="1"/>
          <p:nvPr/>
        </p:nvSpPr>
        <p:spPr>
          <a:xfrm>
            <a:off x="6519672" y="30632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看分數再改</a:t>
            </a:r>
            <a:endParaRPr lang="en-US" sz="1400" dirty="0"/>
          </a:p>
        </p:txBody>
      </p:sp>
      <p:sp>
        <p:nvSpPr>
          <p:cNvPr id="12" name="text-297"/>
          <p:cNvSpPr txBox="1"/>
          <p:nvPr/>
        </p:nvSpPr>
        <p:spPr>
          <a:xfrm>
            <a:off x="9052560" y="214884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0/93</a:t>
            </a:r>
            <a:endParaRPr lang="en-US" sz="3000" dirty="0"/>
          </a:p>
        </p:txBody>
      </p:sp>
      <p:sp>
        <p:nvSpPr>
          <p:cNvPr id="13" name="text-298"/>
          <p:cNvSpPr txBox="1"/>
          <p:nvPr/>
        </p:nvSpPr>
        <p:spPr>
          <a:xfrm>
            <a:off x="9052560" y="30632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不看分數</a:t>
            </a:r>
            <a:endParaRPr lang="en-US" sz="1400" dirty="0"/>
          </a:p>
        </p:txBody>
      </p:sp>
      <p:sp>
        <p:nvSpPr>
          <p:cNvPr id="14" name="text-299"/>
          <p:cNvSpPr txBox="1"/>
          <p:nvPr/>
        </p:nvSpPr>
        <p:spPr>
          <a:xfrm>
            <a:off x="548640" y="39319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數字是擋到最難那種錯誤的測資數。只有 3 次觀察、結果起伏大，只當線索。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6459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備用 C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工程上遇到的問題</a:t>
            </a:r>
            <a:endParaRPr lang="en-US" sz="3000" dirty="0"/>
          </a:p>
        </p:txBody>
      </p:sp>
      <p:sp>
        <p:nvSpPr>
          <p:cNvPr id="5" name="card-300"/>
          <p:cNvSpPr/>
          <p:nvPr/>
        </p:nvSpPr>
        <p:spPr>
          <a:xfrm>
            <a:off x="548640" y="1691640"/>
            <a:ext cx="11094415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6" name="text-301"/>
          <p:cNvSpPr txBox="1"/>
          <p:nvPr/>
        </p:nvSpPr>
        <p:spPr>
          <a:xfrm>
            <a:off x="868680" y="182880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判題的輸入長度上限</a:t>
            </a:r>
            <a:endParaRPr lang="en-US" sz="1800" dirty="0"/>
          </a:p>
        </p:txBody>
      </p:sp>
      <p:sp>
        <p:nvSpPr>
          <p:cNvPr id="7" name="text-302"/>
          <p:cNvSpPr txBox="1"/>
          <p:nvPr/>
        </p:nvSpPr>
        <p:spPr>
          <a:xfrm>
            <a:off x="4572000" y="182880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原本把程式塞進命令列，Windows 超過約 3.2 萬字元就失敗；改從標準輸入傳，10 萬筆輸入也能判</a:t>
            </a:r>
            <a:endParaRPr lang="en-US" sz="1500" dirty="0"/>
          </a:p>
        </p:txBody>
      </p:sp>
      <p:sp>
        <p:nvSpPr>
          <p:cNvPr id="8" name="card-303"/>
          <p:cNvSpPr/>
          <p:nvPr/>
        </p:nvSpPr>
        <p:spPr>
          <a:xfrm>
            <a:off x="548640" y="3063240"/>
            <a:ext cx="11094415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9" name="text-304"/>
          <p:cNvSpPr txBox="1"/>
          <p:nvPr/>
        </p:nvSpPr>
        <p:spPr>
          <a:xfrm>
            <a:off x="868680" y="320040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AI 服務變動</a:t>
            </a:r>
            <a:endParaRPr lang="en-US" sz="1800" dirty="0"/>
          </a:p>
        </p:txBody>
      </p:sp>
      <p:sp>
        <p:nvSpPr>
          <p:cNvPr id="10" name="text-305"/>
          <p:cNvSpPr txBox="1"/>
          <p:nvPr/>
        </p:nvSpPr>
        <p:spPr>
          <a:xfrm>
            <a:off x="4572000" y="320040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Groq 下架 Llama、免費方案每分鐘 8000 tokens：改用 gpt-oss-120b、壓低推理量，額度用完自動等一分鐘重試</a:t>
            </a:r>
            <a:endParaRPr lang="en-US" sz="1500" dirty="0"/>
          </a:p>
        </p:txBody>
      </p:sp>
      <p:sp>
        <p:nvSpPr>
          <p:cNvPr id="11" name="card-306"/>
          <p:cNvSpPr/>
          <p:nvPr/>
        </p:nvSpPr>
        <p:spPr>
          <a:xfrm>
            <a:off x="548640" y="4434840"/>
            <a:ext cx="11094415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2" name="text-307"/>
          <p:cNvSpPr txBox="1"/>
          <p:nvPr/>
        </p:nvSpPr>
        <p:spPr>
          <a:xfrm>
            <a:off x="868680" y="457200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自動測試</a:t>
            </a:r>
            <a:endParaRPr lang="en-US" sz="1800" dirty="0"/>
          </a:p>
        </p:txBody>
      </p:sp>
      <p:sp>
        <p:nvSpPr>
          <p:cNvPr id="13" name="text-308"/>
          <p:cNvSpPr txBox="1"/>
          <p:nvPr/>
        </p:nvSpPr>
        <p:spPr>
          <a:xfrm>
            <a:off x="4572000" y="457200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後端 123 個測試全部通過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6459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備用 D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實驗紀律</a:t>
            </a:r>
            <a:endParaRPr lang="en-US" sz="3000" dirty="0"/>
          </a:p>
        </p:txBody>
      </p:sp>
      <p:sp>
        <p:nvSpPr>
          <p:cNvPr id="5" name="dot-309"/>
          <p:cNvSpPr/>
          <p:nvPr/>
        </p:nvSpPr>
        <p:spPr>
          <a:xfrm>
            <a:off x="548640" y="1801368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-310"/>
          <p:cNvSpPr txBox="1"/>
          <p:nvPr/>
        </p:nvSpPr>
        <p:spPr>
          <a:xfrm>
            <a:off x="548640" y="1801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✓</a:t>
            </a:r>
            <a:endParaRPr lang="en-US" sz="1600" dirty="0"/>
          </a:p>
        </p:txBody>
      </p:sp>
      <p:sp>
        <p:nvSpPr>
          <p:cNvPr id="7" name="text-311"/>
          <p:cNvSpPr txBox="1"/>
          <p:nvPr/>
        </p:nvSpPr>
        <p:spPr>
          <a:xfrm>
            <a:off x="1234440" y="1691640"/>
            <a:ext cx="104086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AI 不給答案：正確答案一律由寫對的程式算</a:t>
            </a:r>
            <a:endParaRPr lang="en-US" sz="1800" dirty="0"/>
          </a:p>
        </p:txBody>
      </p:sp>
      <p:sp>
        <p:nvSpPr>
          <p:cNvPr id="8" name="dot-312"/>
          <p:cNvSpPr/>
          <p:nvPr/>
        </p:nvSpPr>
        <p:spPr>
          <a:xfrm>
            <a:off x="548640" y="2670048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-313"/>
          <p:cNvSpPr txBox="1"/>
          <p:nvPr/>
        </p:nvSpPr>
        <p:spPr>
          <a:xfrm>
            <a:off x="548640" y="2670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✓</a:t>
            </a:r>
            <a:endParaRPr lang="en-US" sz="1600" dirty="0"/>
          </a:p>
        </p:txBody>
      </p:sp>
      <p:sp>
        <p:nvSpPr>
          <p:cNvPr id="10" name="text-314"/>
          <p:cNvSpPr txBox="1"/>
          <p:nvPr/>
        </p:nvSpPr>
        <p:spPr>
          <a:xfrm>
            <a:off x="1234440" y="2560320"/>
            <a:ext cx="104086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不能重抽到滿意為止：重新提案時，舊的提案一定保留</a:t>
            </a:r>
            <a:endParaRPr lang="en-US" sz="1800" dirty="0"/>
          </a:p>
        </p:txBody>
      </p:sp>
      <p:sp>
        <p:nvSpPr>
          <p:cNvPr id="11" name="dot-315"/>
          <p:cNvSpPr/>
          <p:nvPr/>
        </p:nvSpPr>
        <p:spPr>
          <a:xfrm>
            <a:off x="548640" y="3538728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ext-316"/>
          <p:cNvSpPr txBox="1"/>
          <p:nvPr/>
        </p:nvSpPr>
        <p:spPr>
          <a:xfrm>
            <a:off x="548640" y="3538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ext-317"/>
          <p:cNvSpPr txBox="1"/>
          <p:nvPr/>
        </p:nvSpPr>
        <p:spPr>
          <a:xfrm>
            <a:off x="1234440" y="3429000"/>
            <a:ext cx="104086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試跑和正式紀錄分開存</a:t>
            </a:r>
            <a:endParaRPr lang="en-US" sz="1800" dirty="0"/>
          </a:p>
        </p:txBody>
      </p:sp>
      <p:sp>
        <p:nvSpPr>
          <p:cNvPr id="14" name="dot-318"/>
          <p:cNvSpPr/>
          <p:nvPr/>
        </p:nvSpPr>
        <p:spPr>
          <a:xfrm>
            <a:off x="548640" y="4407408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text-319"/>
          <p:cNvSpPr txBox="1"/>
          <p:nvPr/>
        </p:nvSpPr>
        <p:spPr>
          <a:xfrm>
            <a:off x="548640" y="4407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✓</a:t>
            </a:r>
            <a:endParaRPr lang="en-US" sz="1600" dirty="0"/>
          </a:p>
        </p:txBody>
      </p:sp>
      <p:sp>
        <p:nvSpPr>
          <p:cNvPr id="16" name="text-320"/>
          <p:cNvSpPr txBox="1"/>
          <p:nvPr/>
        </p:nvSpPr>
        <p:spPr>
          <a:xfrm>
            <a:off x="1234440" y="4297680"/>
            <a:ext cx="104086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驗收組只在最後跑一次，看了結果也不回頭改測資</a:t>
            </a:r>
            <a:endParaRPr lang="en-US" sz="1800" dirty="0"/>
          </a:p>
        </p:txBody>
      </p:sp>
      <p:sp>
        <p:nvSpPr>
          <p:cNvPr id="17" name="dot-321"/>
          <p:cNvSpPr/>
          <p:nvPr/>
        </p:nvSpPr>
        <p:spPr>
          <a:xfrm>
            <a:off x="548640" y="5276088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8" name="text-322"/>
          <p:cNvSpPr txBox="1"/>
          <p:nvPr/>
        </p:nvSpPr>
        <p:spPr>
          <a:xfrm>
            <a:off x="548640" y="5276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✓</a:t>
            </a:r>
            <a:endParaRPr lang="en-US" sz="1600" dirty="0"/>
          </a:p>
        </p:txBody>
      </p:sp>
      <p:sp>
        <p:nvSpPr>
          <p:cNvPr id="19" name="text-323"/>
          <p:cNvSpPr txBox="1"/>
          <p:nvPr/>
        </p:nvSpPr>
        <p:spPr>
          <a:xfrm>
            <a:off x="1234440" y="5166360"/>
            <a:ext cx="104086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偏離計畫的地方逐條記錄在計畫文件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6459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arm Terminal">
  <a:themeElements>
    <a:clrScheme name="Warm Terminal">
      <a:dk1>
        <a:srgbClr val="EDE4D0"/>
      </a:dk1>
      <a:lt1>
        <a:srgbClr val="151310"/>
      </a:lt1>
      <a:dk2>
        <a:srgbClr val="A89E8C"/>
      </a:dk2>
      <a:lt2>
        <a:srgbClr val="1F1B16"/>
      </a:lt2>
      <a:accent1>
        <a:srgbClr val="DFA050"/>
      </a:accent1>
      <a:accent2>
        <a:srgbClr val="D96870"/>
      </a:accent2>
      <a:accent3>
        <a:srgbClr val="5CB87C"/>
      </a:accent3>
      <a:accent4>
        <a:srgbClr val="5AB8B2"/>
      </a:accent4>
      <a:accent5>
        <a:srgbClr val="6B6459"/>
      </a:accent5>
      <a:accent6>
        <a:srgbClr val="3A352C"/>
      </a:accent6>
      <a:hlink>
        <a:srgbClr val="DFA050"/>
      </a:hlink>
      <a:folHlink>
        <a:srgbClr val="A89E8C"/>
      </a:folHlink>
    </a:clrScheme>
    <a:fontScheme name="Warm Terminal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不給答案的程式學習提示</dc:title>
  <dc:subject>畢業專題：提案與環境測試</dc:subject>
  <dc:creator>PptxGenJS</dc:creator>
  <cp:lastModifiedBy>PptxGenJS</cp:lastModifiedBy>
  <cp:revision>1</cp:revision>
  <dcterms:created xsi:type="dcterms:W3CDTF">2026-10-13T15:38:34Z</dcterms:created>
  <dcterms:modified xsi:type="dcterms:W3CDTF">2026-10-13T15:38:34Z</dcterms:modified>
</cp:coreProperties>
</file>