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626d334b-07b2-8131-8816-a36ab420512e}">
          <p14:sldIdLst>
            <p14:sldId id="256"/>
            <p14:sldId id="257"/>
            <p14:sldId id="258"/>
            <p14:sldId id="259"/>
          </p14:sldIdLst>
        </p14:section>
        <p14:section name="名詞" id="{762795c9-8cbd-146d-d029-8925e33c538b}">
          <p14:sldIdLst>
            <p14:sldId id="260"/>
            <p14:sldId id="261"/>
            <p14:sldId id="262"/>
            <p14:sldId id="263"/>
          </p14:sldIdLst>
        </p14:section>
        <p14:section name="發現與結果" id="{7be1c696-128c-3c58-4c7a-663cf7ee4db4}">
          <p14:sldIdLst>
            <p14:sldId id="264"/>
            <p14:sldId id="265"/>
            <p14:sldId id="266"/>
            <p14:sldId id="267"/>
            <p14:sldId id="268"/>
          </p14:sldIdLst>
        </p14:section>
        <p14:section name="提示線與 Demo" id="{67e21546-cdc3-75d7-4dd7-ea1cc3b7ce42}">
          <p14:sldIdLst>
            <p14:sldId id="269"/>
            <p14:sldId id="270"/>
          </p14:sldIdLst>
        </p14:section>
        <p14:section name="結尾" id="{557e0430-f0ee-13e8-bb33-a0c834c7be37}">
          <p14:sldIdLst>
            <p14:sldId id="271"/>
            <p14:sldId id="272"/>
          </p14:sldIdLst>
        </p14:section>
        <p14:section name="附錄" id="{0284867c-5b67-5e52-84b4-41a8607becbe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開場：我們想讓 AI 只給方向、不代寫程式；這件事的前提，是測資要夠好。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學生卡關時很容易直接叫 AI 給完整答案。要讓 AI 只給方向，它得知道學生錯在哪，而這要靠測資把錯誤擋下來。但測資通常靠人想，沒人知道夠不夠。所以我們做兩件事。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上面那條給學生：交程式、安全執行、跑測資、AI 給提示、檢查關。重點是 AI 只收到題目、測資結果和虛擬碼，學生程式碼這條路根本不存在。下面那條給設計者：用寫對和寫錯的程式量測資好不好，再讓 AI 自動補。兩條線的交會：測資越好，提示越有依據。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我們的研究問題是：全自動的流程能不能從頭跑到尾，並讓測資比起點進步。這次不宣稱準度、效度或學習成效，也不設成功門檻。範圍是 3 題、每題一次實驗、審核全部由程式依數字自動進行。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接下來四頁都用同一題「買賣股票」。題目是：給每天的股價，只能買一次、之後賣一次，求最大利潤，賺不到就回 0。測資就是一道測試題：一組輸入加上正確答案。這兩道是 LeetCode 官方給的範例。問題是，只靠這兩道夠不夠？接下來三頁就是我們回答這個問題的尺。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第二個名詞是寫對的程式。我們每題準備 3 份不同寫法的正解。TPR 是寫對的程式有沒有被冤枉，要 100%。為什麼要 3 份不同寫法？如果某道測資的正確答案本身算錯，至少會有一份寫對的程式和它對不上，我們就會發現。所以正確答案一律由寫對的程式算出來，不讓 AI 給答案。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第三個名詞是寫錯的程式。每份故意藏一種初學者常犯的錯，每題 6 份。用測資 A 跑一次：有 4 種回答錯的數字，被擋下來；第 4 和第 5 種剛好答對 5，溜過去了。注意，答錯不一定是程式當掉，很多時候是算出一個看起來合理、但不對的數字。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把兩道測資和 6 份錯誤程式排成格子，被擋下的格子塗色。12 格擋下 6 格，TNR 就是 0.5，也就是寫錯的程式平均有一半被擋下。漏網是指某份寫錯的程式通過了全部測資：第 5 種「迴圈少看最後一天」兩道都答對，所以只用官方範例，就漏掉一種常見錯誤。後面會看到，TNR 高不一定代表測資好。接下來三個發現，都是用這把尺量出來的，也都是這把尺本身的陷阱。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先介紹驗收組：調整測資時，我們只看 6 份寫錯的程式；另外再寫 3 份，先藏起來、調整時完全不看，最後才跑一次。調整組像模擬考，驗收組像期末考。最長不重複子字串，我們人工調了 4 輪、留下 17 道測資。在調整時看的錯誤程式上 TNR 0.882，看起來很好；換成藏起來的那批，只有 0.471。經典的 abba 錯誤，17 道只有 1 道擋到，而且那一道是隨機產生的。測資對看過的錯誤很強，換一批就漏了。所以之後每個數字都同時報調整組和驗收組。樣本：1 題、3 份驗收用錯誤程式。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原本的標準是 TNR 大於等於 0.85 才算好。但有些題目怎麼補都到不了。括號是否成對：我們窮舉長度 1 到 8 的全部 201 萬個輸入，一道測資最多只能同時擋下 6 種錯誤裡的 4 種，所以 TNR 上限是 0.667。買賣股票的上限是 0.833。原因是：有些錯誤只在特定答案時才會露出來。太寬鬆的錯誤只有答案是 False 時抓得到，太嚴格的只有答案是 True 時抓得到，一道測資的答案只有一個。TNR 其實是每道測資平均擋幾種錯，平均不可能超過單道的最大值。所以我們改用達成率：TNR 除以上限。上限是題目本身的性質，跟 AI 或出題的人能力無關。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全自動流程：AI 提出候選測資，只提供輸入、不給答案，答案由寫對的程式算。機器評測算出 TPR 和 TNR。自動審核只看分數、不看 AI 寫的理由，每次挑加進來後平均 TNR 最高的一道，不再提高就停。然後判斷要不要停：達成率到 0.85、上一輪沒留下新測資、或跑滿輪數。結束後驗收組只跑一次。所有提案、審核、評測都存檔；用正式版程式重算既有 8 輪，結果全部一致。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這一頁用一個故事說明流程。每一輪，AI 先讀題目，提出一批候選測資，只給輸入、不給答案。機器把每一道拿去考那些寫錯的程式，看它擋下哪些。只有真的有用的會留下，沒用的丟掉並記錄原因。下一輪，AI 會看到上一輪的結果，針對還沒抓到的弱點再出題。過程中有一段插曲：有一種錯誤，只從左往右掃一遍，很狡猾。AI 連續兩輪都說要抓它，卻都沒抓到；直到它在回饋裡看見自己落空，才終於補上。這說明回饋不是裝飾，AI 要看見自己哪裡沒做到，才會修正方向，這也是 Cai 等人回饋驅動迭代的核心。兩題都在沒有人介入的情況下跑完。被問到數字時：最長合法括號 TNR 0.278 到 0.676，買賣股票 0.500 到 0.583，各一次實驗，都沒有達到 0.85。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考卷來比喻。一種好考卷是題題都很難，每一題都能刷掉很多種錯誤，文獻叫錯誤暴露。另一種好考卷是每個觀念都考到，每一種錯誤至少被一題抓到，文獻叫錯誤覆蓋。我們的自動審核只喜歡很難的題。結果在買賣股票這題，它把一些看起來平凡、但能抓到特定錯誤的題目丟掉了，最後有一種錯誤從頭到尾沒被考到。當我們把這些平凡但必要的題目補回去，考卷變完整了，但平均難度反而下降。所以分數高，不代表考卷完整；這也呼應前面的發現：單一個平均分數，說不完測資的好壞。下一步，我們要讓審核同時看這兩種好。被問到數字時：補強前驗收組漏一種、平均 TNR 0.583；補強後驗收組無漏網、平均 TNR 0.383。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測資決定了系統知道學生錯在哪；這一頁看 AI 怎麼把它變成提示。這是平台實際產生的一次提示，題目是最長合法括號。學生交了一個常見的寫法：只認得相鄰的括號對。系統告訴他：輸入 (())() 應該是 6，你的程式回答 2。AI 的提示沒有給任何程式碼，用問句引導，而且指到具體的失敗輸入和虛擬碼的步驟，這符合 CodeAid 不直接給答案的原則。但也有不夠的地方：AI 看不到程式，它以為學生照虛擬碼用了 stack，其實這位學生根本沒用 stack，所以提示可能會帶錯方向，這也呼應 Xiao 等人提醒的，提示可能誤導。看不到程式碼，換來的是不洩漏答案；代價是有時會猜錯學生的思路。這是一次實際產生的結果，模型 gpt-oss-20b，不代表每次都一樣。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我們跟著一位學生走一遍。他先讀題目、展開虛擬碼，寫出直覺的解法送出。系統告訴他哪一道測資沒過，輸入、預期、實際結果都攤開。接著他讀 AI 的問句提示，回頭對照虛擬碼的步驟，修改之後再送出。請大家留意兩件事：提示裡沒有可以直接貼上的程式；提示會指到具體的測資和步驟。事先錄好影片當備案。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限制：不做準度與效度驗證，每題一次實驗、樣本少，數字只當觀察。審核全部由程式依數字自動進行，沒有人工審核。三題都沒有達到 0.85；寫錯的程式和驗收組由同一批人設計，可能有共同盲點。實驗途中有調整，例如換過給 AI 的指示，都記錄在計畫文件。只檢查答案對不對，不檢查程式快不快；安全執行只擋不小心的誤用。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接下來：審核規則改成覆蓋優先，優先留下能補漏洞的測資。AI 先建池：讓 AI 自己寫寫對和寫錯的程式，再由機器把關，設計已完成、尚未實作。結語：先讓測資好不好看得見，才知道 AI 的提示有沒有依據。謝謝聆聽。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到 15 頁引用的文獻，編號與論文 IEEE_Paper.md 的參考文獻一致。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問答時翻回這頁查名詞。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被問到「這套方法能不能用在別的題目」時使用。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 AI 提案怎麼調整時使用。看分數再改只有 3 次觀察，只當線索。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被問到工程細節時使用。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被問到實驗是否可信時使用。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1440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spc="6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1874520"/>
            <a:ext cx="10332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1440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spc="6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提 案 與 環 境 測 試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18745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不給答案的程式學習提示</a:t>
            </a:r>
            <a:endParaRPr lang="en-US" sz="4800" dirty="0"/>
          </a:p>
        </p:txBody>
      </p:sp>
      <p:sp>
        <p:nvSpPr>
          <p:cNvPr id="5" name="text-1"/>
          <p:cNvSpPr txBox="1"/>
          <p:nvPr/>
        </p:nvSpPr>
        <p:spPr>
          <a:xfrm>
            <a:off x="91440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</a:rPr>
              <a:t>先把測資做好，再讓 AI 當教練</a:t>
            </a:r>
            <a:endParaRPr lang="en-US" sz="2600" dirty="0"/>
          </a:p>
        </p:txBody>
      </p:sp>
      <p:sp>
        <p:nvSpPr>
          <p:cNvPr id="6" name="text-2"/>
          <p:cNvSpPr txBox="1"/>
          <p:nvPr/>
        </p:nvSpPr>
        <p:spPr>
          <a:xfrm>
            <a:off x="91440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看不到程式碼的 AI 提示 × 自動補測資的環境測試</a:t>
            </a:r>
            <a:endParaRPr lang="en-US" sz="1800" dirty="0"/>
          </a:p>
        </p:txBody>
      </p:sp>
      <p:sp>
        <p:nvSpPr>
          <p:cNvPr id="7" name="text-3"/>
          <p:cNvSpPr txBox="1"/>
          <p:nvPr/>
        </p:nvSpPr>
        <p:spPr>
          <a:xfrm>
            <a:off x="914400" y="5669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姓名｜系所｜指導教授｜日期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問題意識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為什麼做：兩個卡住的地方</a:t>
            </a:r>
            <a:endParaRPr lang="en-US" sz="3000" dirty="0"/>
          </a:p>
        </p:txBody>
      </p:sp>
      <p:sp>
        <p:nvSpPr>
          <p:cNvPr id="5" name="card-4"/>
          <p:cNvSpPr/>
          <p:nvPr/>
        </p:nvSpPr>
        <p:spPr>
          <a:xfrm>
            <a:off x="548640" y="1691640"/>
            <a:ext cx="5349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5"/>
          <p:cNvSpPr txBox="1"/>
          <p:nvPr/>
        </p:nvSpPr>
        <p:spPr>
          <a:xfrm>
            <a:off x="86868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①</a:t>
            </a:r>
            <a:endParaRPr lang="en-US" sz="3600" dirty="0"/>
          </a:p>
        </p:txBody>
      </p:sp>
      <p:sp>
        <p:nvSpPr>
          <p:cNvPr id="7" name="text-6"/>
          <p:cNvSpPr txBox="1"/>
          <p:nvPr/>
        </p:nvSpPr>
        <p:spPr>
          <a:xfrm>
            <a:off x="1600200" y="20116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學生直接要答案</a:t>
            </a:r>
            <a:endParaRPr lang="en-US" sz="2200" dirty="0"/>
          </a:p>
        </p:txBody>
      </p:sp>
      <p:sp>
        <p:nvSpPr>
          <p:cNvPr id="8" name="text-7"/>
          <p:cNvSpPr txBox="1"/>
          <p:nvPr/>
        </p:nvSpPr>
        <p:spPr>
          <a:xfrm>
            <a:off x="868680" y="28346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遇到卡關，容易直接叫 AI 給完整程式，沒有真的學到除錯</a:t>
            </a:r>
            <a:endParaRPr lang="en-US" sz="1600" dirty="0"/>
          </a:p>
        </p:txBody>
      </p:sp>
      <p:sp>
        <p:nvSpPr>
          <p:cNvPr id="9" name="card-8"/>
          <p:cNvSpPr/>
          <p:nvPr/>
        </p:nvSpPr>
        <p:spPr>
          <a:xfrm>
            <a:off x="6217920" y="1691640"/>
            <a:ext cx="5349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-9"/>
          <p:cNvSpPr txBox="1"/>
          <p:nvPr/>
        </p:nvSpPr>
        <p:spPr>
          <a:xfrm>
            <a:off x="653796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②</a:t>
            </a:r>
            <a:endParaRPr lang="en-US" sz="3600" dirty="0"/>
          </a:p>
        </p:txBody>
      </p:sp>
      <p:sp>
        <p:nvSpPr>
          <p:cNvPr id="11" name="text-10"/>
          <p:cNvSpPr txBox="1"/>
          <p:nvPr/>
        </p:nvSpPr>
        <p:spPr>
          <a:xfrm>
            <a:off x="7269480" y="20116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測資靠人想</a:t>
            </a:r>
            <a:endParaRPr lang="en-US" sz="2200" dirty="0"/>
          </a:p>
        </p:txBody>
      </p:sp>
      <p:sp>
        <p:nvSpPr>
          <p:cNvPr id="12" name="text-11"/>
          <p:cNvSpPr txBox="1"/>
          <p:nvPr/>
        </p:nvSpPr>
        <p:spPr>
          <a:xfrm>
            <a:off x="6537960" y="28346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要讓 AI 只給方向，得先知道學生錯在哪——這要靠測資擋下錯誤；但沒人知道測資夠不夠</a:t>
            </a:r>
            <a:endParaRPr lang="en-US" sz="1600" dirty="0"/>
          </a:p>
        </p:txBody>
      </p:sp>
      <p:sp>
        <p:nvSpPr>
          <p:cNvPr id="13" name="text-12"/>
          <p:cNvSpPr txBox="1"/>
          <p:nvPr/>
        </p:nvSpPr>
        <p:spPr>
          <a:xfrm>
            <a:off x="548640" y="4069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所以我們做兩件事</a:t>
            </a:r>
            <a:endParaRPr lang="en-US" sz="1600" dirty="0"/>
          </a:p>
        </p:txBody>
      </p:sp>
      <p:sp>
        <p:nvSpPr>
          <p:cNvPr id="14" name="text-13"/>
          <p:cNvSpPr txBox="1"/>
          <p:nvPr/>
        </p:nvSpPr>
        <p:spPr>
          <a:xfrm>
            <a:off x="548640" y="4526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 只引導、不代寫</a:t>
            </a:r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　　×　　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測資好不好要看得見、能自動補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系統概觀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兩條線：給學生的提示、給設計者的測資</a:t>
            </a:r>
            <a:endParaRPr lang="en-US" sz="3000" dirty="0"/>
          </a:p>
        </p:txBody>
      </p:sp>
      <p:sp>
        <p:nvSpPr>
          <p:cNvPr id="5" name="text-14"/>
          <p:cNvSpPr txBox="1"/>
          <p:nvPr/>
        </p:nvSpPr>
        <p:spPr>
          <a:xfrm>
            <a:off x="54864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上線｜給學生</a:t>
            </a:r>
            <a:endParaRPr lang="en-US" sz="1500" dirty="0"/>
          </a:p>
        </p:txBody>
      </p:sp>
      <p:sp>
        <p:nvSpPr>
          <p:cNvPr id="6" name="step-15"/>
          <p:cNvSpPr/>
          <p:nvPr/>
        </p:nvSpPr>
        <p:spPr>
          <a:xfrm>
            <a:off x="54864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-16"/>
          <p:cNvSpPr txBox="1"/>
          <p:nvPr/>
        </p:nvSpPr>
        <p:spPr>
          <a:xfrm>
            <a:off x="62179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學生交程式</a:t>
            </a:r>
            <a:endParaRPr lang="en-US" sz="1500" dirty="0"/>
          </a:p>
        </p:txBody>
      </p:sp>
      <p:sp>
        <p:nvSpPr>
          <p:cNvPr id="8" name="arrow-17"/>
          <p:cNvSpPr/>
          <p:nvPr/>
        </p:nvSpPr>
        <p:spPr>
          <a:xfrm>
            <a:off x="2194560" y="240030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tep-18"/>
          <p:cNvSpPr/>
          <p:nvPr/>
        </p:nvSpPr>
        <p:spPr>
          <a:xfrm>
            <a:off x="242316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text-19"/>
          <p:cNvSpPr txBox="1"/>
          <p:nvPr/>
        </p:nvSpPr>
        <p:spPr>
          <a:xfrm>
            <a:off x="249631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安全執行</a:t>
            </a:r>
            <a:endParaRPr lang="en-US" sz="1500" dirty="0"/>
          </a:p>
        </p:txBody>
      </p:sp>
      <p:sp>
        <p:nvSpPr>
          <p:cNvPr id="11" name="arrow-20"/>
          <p:cNvSpPr/>
          <p:nvPr/>
        </p:nvSpPr>
        <p:spPr>
          <a:xfrm>
            <a:off x="4069080" y="240030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step-21"/>
          <p:cNvSpPr/>
          <p:nvPr/>
        </p:nvSpPr>
        <p:spPr>
          <a:xfrm>
            <a:off x="429768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text-22"/>
          <p:cNvSpPr txBox="1"/>
          <p:nvPr/>
        </p:nvSpPr>
        <p:spPr>
          <a:xfrm>
            <a:off x="437083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跑測資判對錯</a:t>
            </a:r>
            <a:endParaRPr lang="en-US" sz="1500" dirty="0"/>
          </a:p>
        </p:txBody>
      </p:sp>
      <p:sp>
        <p:nvSpPr>
          <p:cNvPr id="14" name="arrow-23"/>
          <p:cNvSpPr/>
          <p:nvPr/>
        </p:nvSpPr>
        <p:spPr>
          <a:xfrm>
            <a:off x="5943600" y="240030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tep-24"/>
          <p:cNvSpPr/>
          <p:nvPr/>
        </p:nvSpPr>
        <p:spPr>
          <a:xfrm>
            <a:off x="617220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text-25"/>
          <p:cNvSpPr txBox="1"/>
          <p:nvPr/>
        </p:nvSpPr>
        <p:spPr>
          <a:xfrm>
            <a:off x="624535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給提示</a:t>
            </a:r>
            <a:endParaRPr lang="en-US" sz="1500" dirty="0"/>
          </a:p>
        </p:txBody>
      </p:sp>
      <p:sp>
        <p:nvSpPr>
          <p:cNvPr id="17" name="arrow-26"/>
          <p:cNvSpPr/>
          <p:nvPr/>
        </p:nvSpPr>
        <p:spPr>
          <a:xfrm>
            <a:off x="7818120" y="240030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step-27"/>
          <p:cNvSpPr/>
          <p:nvPr/>
        </p:nvSpPr>
        <p:spPr>
          <a:xfrm>
            <a:off x="804672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-28"/>
          <p:cNvSpPr txBox="1"/>
          <p:nvPr/>
        </p:nvSpPr>
        <p:spPr>
          <a:xfrm>
            <a:off x="811987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檢查關</a:t>
            </a:r>
            <a:endParaRPr lang="en-US" sz="1500" dirty="0"/>
          </a:p>
        </p:txBody>
      </p:sp>
      <p:sp>
        <p:nvSpPr>
          <p:cNvPr id="20" name="arrow-29"/>
          <p:cNvSpPr/>
          <p:nvPr/>
        </p:nvSpPr>
        <p:spPr>
          <a:xfrm>
            <a:off x="9692640" y="240030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tep-30"/>
          <p:cNvSpPr/>
          <p:nvPr/>
        </p:nvSpPr>
        <p:spPr>
          <a:xfrm>
            <a:off x="992124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-31"/>
          <p:cNvSpPr txBox="1"/>
          <p:nvPr/>
        </p:nvSpPr>
        <p:spPr>
          <a:xfrm>
            <a:off x="999439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回給學生</a:t>
            </a:r>
            <a:endParaRPr lang="en-US" sz="1500" dirty="0"/>
          </a:p>
        </p:txBody>
      </p:sp>
      <p:sp>
        <p:nvSpPr>
          <p:cNvPr id="23" name="card-32"/>
          <p:cNvSpPr/>
          <p:nvPr/>
        </p:nvSpPr>
        <p:spPr>
          <a:xfrm>
            <a:off x="6126480" y="2971800"/>
            <a:ext cx="3611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-33"/>
          <p:cNvSpPr txBox="1"/>
          <p:nvPr/>
        </p:nvSpPr>
        <p:spPr>
          <a:xfrm>
            <a:off x="6263640" y="3017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✕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收不到學生程式碼，只收到題目、測資結果、虛擬碼</a:t>
            </a:r>
            <a:endParaRPr lang="en-US" sz="1600" dirty="0"/>
          </a:p>
        </p:txBody>
      </p:sp>
      <p:sp>
        <p:nvSpPr>
          <p:cNvPr id="25" name="text-34"/>
          <p:cNvSpPr txBox="1"/>
          <p:nvPr/>
        </p:nvSpPr>
        <p:spPr>
          <a:xfrm>
            <a:off x="54864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下線｜給設計者</a:t>
            </a:r>
            <a:endParaRPr lang="en-US" sz="1500" dirty="0"/>
          </a:p>
        </p:txBody>
      </p:sp>
      <p:sp>
        <p:nvSpPr>
          <p:cNvPr id="26" name="step-35"/>
          <p:cNvSpPr/>
          <p:nvPr/>
        </p:nvSpPr>
        <p:spPr>
          <a:xfrm>
            <a:off x="54864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7" name="text-36"/>
          <p:cNvSpPr txBox="1"/>
          <p:nvPr/>
        </p:nvSpPr>
        <p:spPr>
          <a:xfrm>
            <a:off x="62179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寫對／寫錯的程式樣本</a:t>
            </a:r>
            <a:endParaRPr lang="en-US" sz="1500" dirty="0"/>
          </a:p>
        </p:txBody>
      </p:sp>
      <p:sp>
        <p:nvSpPr>
          <p:cNvPr id="28" name="arrow-37"/>
          <p:cNvSpPr/>
          <p:nvPr/>
        </p:nvSpPr>
        <p:spPr>
          <a:xfrm>
            <a:off x="2194560" y="464058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9" name="step-38"/>
          <p:cNvSpPr/>
          <p:nvPr/>
        </p:nvSpPr>
        <p:spPr>
          <a:xfrm>
            <a:off x="242316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0" name="text-39"/>
          <p:cNvSpPr txBox="1"/>
          <p:nvPr/>
        </p:nvSpPr>
        <p:spPr>
          <a:xfrm>
            <a:off x="249631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量測資好不好</a:t>
            </a:r>
            <a:endParaRPr lang="en-US" sz="1500" dirty="0"/>
          </a:p>
        </p:txBody>
      </p:sp>
      <p:sp>
        <p:nvSpPr>
          <p:cNvPr id="31" name="arrow-40"/>
          <p:cNvSpPr/>
          <p:nvPr/>
        </p:nvSpPr>
        <p:spPr>
          <a:xfrm>
            <a:off x="4069080" y="464058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2" name="step-41"/>
          <p:cNvSpPr/>
          <p:nvPr/>
        </p:nvSpPr>
        <p:spPr>
          <a:xfrm>
            <a:off x="429768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text-42"/>
          <p:cNvSpPr txBox="1"/>
          <p:nvPr/>
        </p:nvSpPr>
        <p:spPr>
          <a:xfrm>
            <a:off x="437083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提測資</a:t>
            </a:r>
            <a:endParaRPr lang="en-US" sz="1500" dirty="0"/>
          </a:p>
        </p:txBody>
      </p:sp>
      <p:sp>
        <p:nvSpPr>
          <p:cNvPr id="34" name="arrow-43"/>
          <p:cNvSpPr/>
          <p:nvPr/>
        </p:nvSpPr>
        <p:spPr>
          <a:xfrm>
            <a:off x="5943600" y="464058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5" name="step-44"/>
          <p:cNvSpPr/>
          <p:nvPr/>
        </p:nvSpPr>
        <p:spPr>
          <a:xfrm>
            <a:off x="617220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6" name="text-45"/>
          <p:cNvSpPr txBox="1"/>
          <p:nvPr/>
        </p:nvSpPr>
        <p:spPr>
          <a:xfrm>
            <a:off x="624535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機器打分</a:t>
            </a:r>
            <a:endParaRPr lang="en-US" sz="1500" dirty="0"/>
          </a:p>
        </p:txBody>
      </p:sp>
      <p:sp>
        <p:nvSpPr>
          <p:cNvPr id="37" name="arrow-46"/>
          <p:cNvSpPr/>
          <p:nvPr/>
        </p:nvSpPr>
        <p:spPr>
          <a:xfrm>
            <a:off x="7818120" y="464058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8" name="step-47"/>
          <p:cNvSpPr/>
          <p:nvPr/>
        </p:nvSpPr>
        <p:spPr>
          <a:xfrm>
            <a:off x="804672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9" name="text-48"/>
          <p:cNvSpPr txBox="1"/>
          <p:nvPr/>
        </p:nvSpPr>
        <p:spPr>
          <a:xfrm>
            <a:off x="811987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自動審核</a:t>
            </a:r>
            <a:endParaRPr lang="en-US" sz="1500" dirty="0"/>
          </a:p>
        </p:txBody>
      </p:sp>
      <p:sp>
        <p:nvSpPr>
          <p:cNvPr id="40" name="arrow-49"/>
          <p:cNvSpPr/>
          <p:nvPr/>
        </p:nvSpPr>
        <p:spPr>
          <a:xfrm>
            <a:off x="9692640" y="464058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step-50"/>
          <p:cNvSpPr/>
          <p:nvPr/>
        </p:nvSpPr>
        <p:spPr>
          <a:xfrm>
            <a:off x="992124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2" name="text-51"/>
          <p:cNvSpPr txBox="1"/>
          <p:nvPr/>
        </p:nvSpPr>
        <p:spPr>
          <a:xfrm>
            <a:off x="999439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下一輪</a:t>
            </a:r>
            <a:endParaRPr lang="en-US" sz="1500" dirty="0"/>
          </a:p>
        </p:txBody>
      </p:sp>
      <p:sp>
        <p:nvSpPr>
          <p:cNvPr id="43" name="text-52"/>
          <p:cNvSpPr txBox="1"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兩條線的交會：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AI 提示只能看測資結果，所以測資越好，提示越有依據。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題庫 5 題，其中 3 題做了測資環境測試：買賣股票（簡單）、最長不重複子字串（中等）、最長合法括號（困難）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範圍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這次的範圍與研究問題</a:t>
            </a:r>
            <a:endParaRPr lang="en-US" sz="3000" dirty="0"/>
          </a:p>
        </p:txBody>
      </p:sp>
      <p:sp>
        <p:nvSpPr>
          <p:cNvPr id="5" name="card-5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54"/>
          <p:cNvSpPr txBox="1"/>
          <p:nvPr/>
        </p:nvSpPr>
        <p:spPr>
          <a:xfrm>
            <a:off x="86868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研究問題</a:t>
            </a:r>
            <a:endParaRPr lang="en-US" sz="1400" dirty="0"/>
          </a:p>
        </p:txBody>
      </p:sp>
      <p:sp>
        <p:nvSpPr>
          <p:cNvPr id="7" name="text-55"/>
          <p:cNvSpPr txBox="1"/>
          <p:nvPr/>
        </p:nvSpPr>
        <p:spPr>
          <a:xfrm>
            <a:off x="868680" y="224028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「AI 提案＋機器評測＋依數字自動審核」的全自動流程，能不能在不同難度的題目上從頭跑到尾，並讓測資比起點進步？</a:t>
            </a:r>
            <a:endParaRPr lang="en-US" sz="2000" dirty="0"/>
          </a:p>
        </p:txBody>
      </p:sp>
      <p:sp>
        <p:nvSpPr>
          <p:cNvPr id="8" name="text-56"/>
          <p:cNvSpPr txBox="1"/>
          <p:nvPr/>
        </p:nvSpPr>
        <p:spPr>
          <a:xfrm>
            <a:off x="548640" y="34290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這次做</a:t>
            </a:r>
            <a:endParaRPr lang="en-US" sz="1800" dirty="0"/>
          </a:p>
        </p:txBody>
      </p:sp>
      <p:sp>
        <p:nvSpPr>
          <p:cNvPr id="9" name="text-57"/>
          <p:cNvSpPr txBox="1"/>
          <p:nvPr/>
        </p:nvSpPr>
        <p:spPr>
          <a:xfrm>
            <a:off x="548640" y="3931920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提出「看不到程式碼的提示」＋「自動補測資」的做法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把環境搭起來，三題實際跑過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每個數字都標樣本數，只當觀察</a:t>
            </a:r>
            <a:endParaRPr lang="en-US" sz="1600" dirty="0"/>
          </a:p>
        </p:txBody>
      </p:sp>
      <p:sp>
        <p:nvSpPr>
          <p:cNvPr id="10" name="text-58"/>
          <p:cNvSpPr txBox="1"/>
          <p:nvPr/>
        </p:nvSpPr>
        <p:spPr>
          <a:xfrm>
            <a:off x="6217920" y="34290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這次不做</a:t>
            </a:r>
            <a:endParaRPr lang="en-US" sz="1800" dirty="0"/>
          </a:p>
        </p:txBody>
      </p:sp>
      <p:sp>
        <p:nvSpPr>
          <p:cNvPr id="11" name="text-59"/>
          <p:cNvSpPr txBox="1"/>
          <p:nvPr/>
        </p:nvSpPr>
        <p:spPr>
          <a:xfrm>
            <a:off x="6217920" y="3931920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不宣稱準度、效度或學習成效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不設「達到多少算成功」的門檻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沒有人工審核：審核全部由程式依數字進行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名詞 1／4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測資是什麼</a:t>
            </a:r>
            <a:endParaRPr lang="en-US" sz="3000" dirty="0"/>
          </a:p>
        </p:txBody>
      </p:sp>
      <p:sp>
        <p:nvSpPr>
          <p:cNvPr id="5" name="card-60"/>
          <p:cNvSpPr/>
          <p:nvPr/>
        </p:nvSpPr>
        <p:spPr>
          <a:xfrm>
            <a:off x="548640" y="1645920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61"/>
          <p:cNvSpPr txBox="1"/>
          <p:nvPr/>
        </p:nvSpPr>
        <p:spPr>
          <a:xfrm>
            <a:off x="868680" y="178308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例題：買賣股票　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給每天的股價，只能買一次、之後賣一次，求最大利潤；賺不到就回 0。</a:t>
            </a:r>
            <a:endParaRPr lang="en-US" sz="1700" dirty="0"/>
          </a:p>
        </p:txBody>
      </p:sp>
      <p:sp>
        <p:nvSpPr>
          <p:cNvPr id="7" name="text-62"/>
          <p:cNvSpPr txBox="1"/>
          <p:nvPr/>
        </p:nvSpPr>
        <p:spPr>
          <a:xfrm>
            <a:off x="548640" y="2743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FA050"/>
                </a:solidFill>
              </a:rPr>
              <a:t>測資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＝一道測試題：一組輸入＋正確答案</a:t>
            </a:r>
            <a:endParaRPr lang="en-US" sz="2000" dirty="0"/>
          </a:p>
        </p:txBody>
      </p:sp>
      <p:graphicFrame>
        <p:nvGraphicFramePr>
          <p:cNvPr id="6" name="table-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291840"/>
                <a:gridCol w="1463040"/>
                <a:gridCol w="50566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輸入（每天的股價）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正確答案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為什麼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測資 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[7, 1, 5, 3, 6, 4]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第 2 天 1 元買、第 5 天 6 元賣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測資 B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[7, 6, 4, 3, 1]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一路下跌，怎麼買都賠，不買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9" name="text-64"/>
          <p:cNvSpPr txBox="1"/>
          <p:nvPr/>
        </p:nvSpPr>
        <p:spPr>
          <a:xfrm>
            <a:off x="548640" y="4983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為什麼測資這麼重要：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學生交的程式就是用這些測資判對錯；AI 給提示時也只看得到「哪道測資錯了」。</a:t>
            </a:r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測資抓不到的錯，學生和 AI 都不會知道。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名詞 2／4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寫對的程式（S+）與 TPR</a:t>
            </a:r>
            <a:endParaRPr lang="en-US" sz="3000" dirty="0"/>
          </a:p>
        </p:txBody>
      </p:sp>
      <p:sp>
        <p:nvSpPr>
          <p:cNvPr id="5" name="text-65"/>
          <p:cNvSpPr txBox="1"/>
          <p:nvPr/>
        </p:nvSpPr>
        <p:spPr>
          <a:xfrm>
            <a:off x="548640" y="1600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同一題用不同寫法寫出的正解，每題 3 份</a:t>
            </a:r>
            <a:endParaRPr lang="en-US" sz="1700" dirty="0"/>
          </a:p>
        </p:txBody>
      </p:sp>
      <p:sp>
        <p:nvSpPr>
          <p:cNvPr id="6" name="card-66"/>
          <p:cNvSpPr/>
          <p:nvPr/>
        </p:nvSpPr>
        <p:spPr>
          <a:xfrm>
            <a:off x="548640" y="2148840"/>
            <a:ext cx="67665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-67"/>
          <p:cNvSpPr txBox="1"/>
          <p:nvPr/>
        </p:nvSpPr>
        <p:spPr>
          <a:xfrm>
            <a:off x="822960" y="2240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一次掃描</a:t>
            </a:r>
            <a:endParaRPr lang="en-US" sz="1800" dirty="0"/>
          </a:p>
        </p:txBody>
      </p:sp>
      <p:sp>
        <p:nvSpPr>
          <p:cNvPr id="8" name="text-68"/>
          <p:cNvSpPr txBox="1"/>
          <p:nvPr/>
        </p:nvSpPr>
        <p:spPr>
          <a:xfrm>
            <a:off x="2331720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從左到右走一遍，記住目前最低價，算今天賣能賺多少</a:t>
            </a:r>
            <a:endParaRPr lang="en-US" sz="1500" dirty="0"/>
          </a:p>
        </p:txBody>
      </p:sp>
      <p:sp>
        <p:nvSpPr>
          <p:cNvPr id="9" name="card-69"/>
          <p:cNvSpPr/>
          <p:nvPr/>
        </p:nvSpPr>
        <p:spPr>
          <a:xfrm>
            <a:off x="548640" y="3172968"/>
            <a:ext cx="67665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-70"/>
          <p:cNvSpPr txBox="1"/>
          <p:nvPr/>
        </p:nvSpPr>
        <p:spPr>
          <a:xfrm>
            <a:off x="822960" y="326440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暴力法</a:t>
            </a:r>
            <a:endParaRPr lang="en-US" sz="1800" dirty="0"/>
          </a:p>
        </p:txBody>
      </p:sp>
      <p:sp>
        <p:nvSpPr>
          <p:cNvPr id="11" name="text-71"/>
          <p:cNvSpPr txBox="1"/>
          <p:nvPr/>
        </p:nvSpPr>
        <p:spPr>
          <a:xfrm>
            <a:off x="2331720" y="3264408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雙層迴圈，試遍所有「先買後賣」的組合</a:t>
            </a:r>
            <a:endParaRPr lang="en-US" sz="1500" dirty="0"/>
          </a:p>
        </p:txBody>
      </p:sp>
      <p:sp>
        <p:nvSpPr>
          <p:cNvPr id="12" name="card-72"/>
          <p:cNvSpPr/>
          <p:nvPr/>
        </p:nvSpPr>
        <p:spPr>
          <a:xfrm>
            <a:off x="548640" y="4197096"/>
            <a:ext cx="67665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-73"/>
          <p:cNvSpPr txBox="1"/>
          <p:nvPr/>
        </p:nvSpPr>
        <p:spPr>
          <a:xfrm>
            <a:off x="822960" y="4288536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價差法</a:t>
            </a:r>
            <a:endParaRPr lang="en-US" sz="1800" dirty="0"/>
          </a:p>
        </p:txBody>
      </p:sp>
      <p:sp>
        <p:nvSpPr>
          <p:cNvPr id="14" name="text-74"/>
          <p:cNvSpPr txBox="1"/>
          <p:nvPr/>
        </p:nvSpPr>
        <p:spPr>
          <a:xfrm>
            <a:off x="2331720" y="4288536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把每天的漲跌當成一串數字，找加總最大的一段</a:t>
            </a:r>
            <a:endParaRPr lang="en-US" sz="1500" dirty="0"/>
          </a:p>
        </p:txBody>
      </p:sp>
      <p:sp>
        <p:nvSpPr>
          <p:cNvPr id="15" name="card-75"/>
          <p:cNvSpPr/>
          <p:nvPr/>
        </p:nvSpPr>
        <p:spPr>
          <a:xfrm>
            <a:off x="7726680" y="2148840"/>
            <a:ext cx="3913632" cy="2916936"/>
          </a:xfrm>
          <a:prstGeom prst="roundRect">
            <a:avLst>
              <a:gd name="adj" fmla="val 250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-76"/>
          <p:cNvSpPr txBox="1"/>
          <p:nvPr/>
        </p:nvSpPr>
        <p:spPr>
          <a:xfrm>
            <a:off x="8001000" y="2286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TPR</a:t>
            </a:r>
            <a:endParaRPr lang="en-US" sz="1800" dirty="0"/>
          </a:p>
        </p:txBody>
      </p:sp>
      <p:sp>
        <p:nvSpPr>
          <p:cNvPr id="17" name="text-77"/>
          <p:cNvSpPr txBox="1"/>
          <p:nvPr/>
        </p:nvSpPr>
        <p:spPr>
          <a:xfrm>
            <a:off x="8001000" y="2697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5400" dirty="0"/>
          </a:p>
        </p:txBody>
      </p:sp>
      <p:sp>
        <p:nvSpPr>
          <p:cNvPr id="18" name="text-78"/>
          <p:cNvSpPr txBox="1"/>
          <p:nvPr/>
        </p:nvSpPr>
        <p:spPr>
          <a:xfrm>
            <a:off x="8001000" y="370332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寫對的程式有沒有被冤枉：所有測資都要讓這 3 份答對</a:t>
            </a:r>
            <a:endParaRPr lang="en-US" sz="1500" dirty="0"/>
          </a:p>
        </p:txBody>
      </p:sp>
      <p:sp>
        <p:nvSpPr>
          <p:cNvPr id="19" name="text-79"/>
          <p:cNvSpPr txBox="1"/>
          <p:nvPr/>
        </p:nvSpPr>
        <p:spPr>
          <a:xfrm>
            <a:off x="548640" y="53035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為什麼要 3 份不同寫法：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如果某道測資的「正確答案」本身算錯，至少會有一份寫對的程式對不上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正確答案一律由寫對的程式算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，不讓 AI 給答案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名詞 3／4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寫錯的程式（S-）</a:t>
            </a:r>
            <a:endParaRPr lang="en-US" sz="3000" dirty="0"/>
          </a:p>
        </p:txBody>
      </p:sp>
      <p:sp>
        <p:nvSpPr>
          <p:cNvPr id="5" name="text-80"/>
          <p:cNvSpPr txBox="1"/>
          <p:nvPr/>
        </p:nvSpPr>
        <p:spPr>
          <a:xfrm>
            <a:off x="548640" y="16002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每份故意藏一種初學者常犯的錯，每題 6 份。用</a:t>
            </a:r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測資 A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（正確答案 </a:t>
            </a:r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5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）跑一次：</a:t>
            </a:r>
            <a:endParaRPr lang="en-US" sz="1700" dirty="0"/>
          </a:p>
        </p:txBody>
      </p:sp>
      <p:graphicFrame>
        <p:nvGraphicFramePr>
          <p:cNvPr id="8" name="table-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78638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343400"/>
                <a:gridCol w="164592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錯在哪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在測資 A 回答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結果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只看相鄰兩天的價差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✗ 擋下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固定第一天買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✗ 擋下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最高價減最低價（忘了要先買後賣）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✗ 擋下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賺不到的時候回負數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沒擋到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迴圈少看最後一天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沒擋到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把每次上漲都加起來（以為能買賣很多次）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✗ 擋下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card-82"/>
          <p:cNvSpPr/>
          <p:nvPr/>
        </p:nvSpPr>
        <p:spPr>
          <a:xfrm>
            <a:off x="8732520" y="2148840"/>
            <a:ext cx="2907792" cy="3346704"/>
          </a:xfrm>
          <a:prstGeom prst="roundRect">
            <a:avLst>
              <a:gd name="adj" fmla="val 251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-83"/>
          <p:cNvSpPr txBox="1"/>
          <p:nvPr/>
        </p:nvSpPr>
        <p:spPr>
          <a:xfrm>
            <a:off x="8961120" y="2331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／ 6</a:t>
            </a:r>
            <a:endParaRPr lang="en-US" sz="4400" dirty="0"/>
          </a:p>
        </p:txBody>
      </p:sp>
      <p:sp>
        <p:nvSpPr>
          <p:cNvPr id="9" name="text-84"/>
          <p:cNvSpPr txBox="1"/>
          <p:nvPr/>
        </p:nvSpPr>
        <p:spPr>
          <a:xfrm>
            <a:off x="8961120" y="320040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測資 A 擋下 4 種；第 4、5 種剛好答對 5，溜過去了</a:t>
            </a:r>
            <a:endParaRPr lang="en-US" sz="1500" dirty="0"/>
          </a:p>
        </p:txBody>
      </p:sp>
      <p:sp>
        <p:nvSpPr>
          <p:cNvPr id="10" name="text-85"/>
          <p:cNvSpPr txBox="1"/>
          <p:nvPr/>
        </p:nvSpPr>
        <p:spPr>
          <a:xfrm>
            <a:off x="8961120" y="4343400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「答錯」不一定是當掉，常常是算出一個看起來合理、但不對的數字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名詞 4／4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TNR（抓錯率）與漏網</a:t>
            </a:r>
            <a:endParaRPr lang="en-US" sz="3000" dirty="0"/>
          </a:p>
        </p:txBody>
      </p:sp>
      <p:sp>
        <p:nvSpPr>
          <p:cNvPr id="5" name="text-86"/>
          <p:cNvSpPr txBox="1"/>
          <p:nvPr/>
        </p:nvSpPr>
        <p:spPr>
          <a:xfrm>
            <a:off x="2103120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錯 1</a:t>
            </a:r>
            <a:endParaRPr lang="en-US" sz="1400" dirty="0"/>
          </a:p>
        </p:txBody>
      </p:sp>
      <p:sp>
        <p:nvSpPr>
          <p:cNvPr id="6" name="text-87"/>
          <p:cNvSpPr txBox="1"/>
          <p:nvPr/>
        </p:nvSpPr>
        <p:spPr>
          <a:xfrm>
            <a:off x="3081528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錯 2</a:t>
            </a:r>
            <a:endParaRPr lang="en-US" sz="1400" dirty="0"/>
          </a:p>
        </p:txBody>
      </p:sp>
      <p:sp>
        <p:nvSpPr>
          <p:cNvPr id="7" name="text-88"/>
          <p:cNvSpPr txBox="1"/>
          <p:nvPr/>
        </p:nvSpPr>
        <p:spPr>
          <a:xfrm>
            <a:off x="4059936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錯 3</a:t>
            </a:r>
            <a:endParaRPr lang="en-US" sz="1400" dirty="0"/>
          </a:p>
        </p:txBody>
      </p:sp>
      <p:sp>
        <p:nvSpPr>
          <p:cNvPr id="8" name="text-89"/>
          <p:cNvSpPr txBox="1"/>
          <p:nvPr/>
        </p:nvSpPr>
        <p:spPr>
          <a:xfrm>
            <a:off x="5038344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錯 4</a:t>
            </a:r>
            <a:endParaRPr lang="en-US" sz="1400" dirty="0"/>
          </a:p>
        </p:txBody>
      </p:sp>
      <p:sp>
        <p:nvSpPr>
          <p:cNvPr id="9" name="text-90"/>
          <p:cNvSpPr txBox="1"/>
          <p:nvPr/>
        </p:nvSpPr>
        <p:spPr>
          <a:xfrm>
            <a:off x="6016752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錯 5</a:t>
            </a:r>
            <a:endParaRPr lang="en-US" sz="1400" dirty="0"/>
          </a:p>
        </p:txBody>
      </p:sp>
      <p:sp>
        <p:nvSpPr>
          <p:cNvPr id="10" name="text-91"/>
          <p:cNvSpPr txBox="1"/>
          <p:nvPr/>
        </p:nvSpPr>
        <p:spPr>
          <a:xfrm>
            <a:off x="6995160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錯 6</a:t>
            </a:r>
            <a:endParaRPr lang="en-US" sz="1400" dirty="0"/>
          </a:p>
        </p:txBody>
      </p:sp>
      <p:sp>
        <p:nvSpPr>
          <p:cNvPr id="11" name="text-92"/>
          <p:cNvSpPr txBox="1"/>
          <p:nvPr/>
        </p:nvSpPr>
        <p:spPr>
          <a:xfrm>
            <a:off x="548640" y="201168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測資 A</a:t>
            </a:r>
            <a:endParaRPr lang="en-US" sz="1600" dirty="0"/>
          </a:p>
        </p:txBody>
      </p:sp>
      <p:sp>
        <p:nvSpPr>
          <p:cNvPr id="12" name="text-93"/>
          <p:cNvSpPr txBox="1"/>
          <p:nvPr/>
        </p:nvSpPr>
        <p:spPr>
          <a:xfrm>
            <a:off x="548640" y="28986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測資 B</a:t>
            </a:r>
            <a:endParaRPr lang="en-US" sz="1600" dirty="0"/>
          </a:p>
        </p:txBody>
      </p:sp>
      <p:sp>
        <p:nvSpPr>
          <p:cNvPr id="13" name="cell-94"/>
          <p:cNvSpPr/>
          <p:nvPr/>
        </p:nvSpPr>
        <p:spPr>
          <a:xfrm>
            <a:off x="2103120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-95"/>
          <p:cNvSpPr txBox="1"/>
          <p:nvPr/>
        </p:nvSpPr>
        <p:spPr>
          <a:xfrm>
            <a:off x="2103120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15" name="cell-96"/>
          <p:cNvSpPr/>
          <p:nvPr/>
        </p:nvSpPr>
        <p:spPr>
          <a:xfrm>
            <a:off x="3081528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-97"/>
          <p:cNvSpPr txBox="1"/>
          <p:nvPr/>
        </p:nvSpPr>
        <p:spPr>
          <a:xfrm>
            <a:off x="3081528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17" name="cell-98"/>
          <p:cNvSpPr/>
          <p:nvPr/>
        </p:nvSpPr>
        <p:spPr>
          <a:xfrm>
            <a:off x="4059936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-99"/>
          <p:cNvSpPr txBox="1"/>
          <p:nvPr/>
        </p:nvSpPr>
        <p:spPr>
          <a:xfrm>
            <a:off x="4059936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19" name="cell-100"/>
          <p:cNvSpPr/>
          <p:nvPr/>
        </p:nvSpPr>
        <p:spPr>
          <a:xfrm>
            <a:off x="5038344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-101"/>
          <p:cNvSpPr txBox="1"/>
          <p:nvPr/>
        </p:nvSpPr>
        <p:spPr>
          <a:xfrm>
            <a:off x="5038344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21" name="cell-102"/>
          <p:cNvSpPr/>
          <p:nvPr/>
        </p:nvSpPr>
        <p:spPr>
          <a:xfrm>
            <a:off x="6016752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-103"/>
          <p:cNvSpPr txBox="1"/>
          <p:nvPr/>
        </p:nvSpPr>
        <p:spPr>
          <a:xfrm>
            <a:off x="6016752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23" name="cell-104"/>
          <p:cNvSpPr/>
          <p:nvPr/>
        </p:nvSpPr>
        <p:spPr>
          <a:xfrm>
            <a:off x="6995160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-105"/>
          <p:cNvSpPr txBox="1"/>
          <p:nvPr/>
        </p:nvSpPr>
        <p:spPr>
          <a:xfrm>
            <a:off x="6995160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25" name="cell-106"/>
          <p:cNvSpPr/>
          <p:nvPr/>
        </p:nvSpPr>
        <p:spPr>
          <a:xfrm>
            <a:off x="2103120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-107"/>
          <p:cNvSpPr txBox="1"/>
          <p:nvPr/>
        </p:nvSpPr>
        <p:spPr>
          <a:xfrm>
            <a:off x="2103120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27" name="cell-108"/>
          <p:cNvSpPr/>
          <p:nvPr/>
        </p:nvSpPr>
        <p:spPr>
          <a:xfrm>
            <a:off x="3081528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-109"/>
          <p:cNvSpPr txBox="1"/>
          <p:nvPr/>
        </p:nvSpPr>
        <p:spPr>
          <a:xfrm>
            <a:off x="3081528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29" name="cell-110"/>
          <p:cNvSpPr/>
          <p:nvPr/>
        </p:nvSpPr>
        <p:spPr>
          <a:xfrm>
            <a:off x="4059936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-111"/>
          <p:cNvSpPr txBox="1"/>
          <p:nvPr/>
        </p:nvSpPr>
        <p:spPr>
          <a:xfrm>
            <a:off x="4059936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31" name="cell-112"/>
          <p:cNvSpPr/>
          <p:nvPr/>
        </p:nvSpPr>
        <p:spPr>
          <a:xfrm>
            <a:off x="5038344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-113"/>
          <p:cNvSpPr txBox="1"/>
          <p:nvPr/>
        </p:nvSpPr>
        <p:spPr>
          <a:xfrm>
            <a:off x="5038344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33" name="cell-114"/>
          <p:cNvSpPr/>
          <p:nvPr/>
        </p:nvSpPr>
        <p:spPr>
          <a:xfrm>
            <a:off x="6016752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-115"/>
          <p:cNvSpPr txBox="1"/>
          <p:nvPr/>
        </p:nvSpPr>
        <p:spPr>
          <a:xfrm>
            <a:off x="6016752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35" name="cell-116"/>
          <p:cNvSpPr/>
          <p:nvPr/>
        </p:nvSpPr>
        <p:spPr>
          <a:xfrm>
            <a:off x="6995160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-117"/>
          <p:cNvSpPr txBox="1"/>
          <p:nvPr/>
        </p:nvSpPr>
        <p:spPr>
          <a:xfrm>
            <a:off x="6995160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37" name="miss-118"/>
          <p:cNvSpPr/>
          <p:nvPr/>
        </p:nvSpPr>
        <p:spPr>
          <a:xfrm>
            <a:off x="5961888" y="1554480"/>
            <a:ext cx="978408" cy="2231136"/>
          </a:xfrm>
          <a:prstGeom prst="roundRect">
            <a:avLst>
              <a:gd name="adj" fmla="val 7477"/>
            </a:avLst>
          </a:prstGeom>
          <a:ln w="25400">
            <a:solidFill>
              <a:schemeClr val="accent1"/>
            </a:solidFill>
            <a:prstDash val="dash"/>
          </a:ln>
        </p:spPr>
      </p:sp>
      <p:sp>
        <p:nvSpPr>
          <p:cNvPr id="38" name="card-119"/>
          <p:cNvSpPr/>
          <p:nvPr/>
        </p:nvSpPr>
        <p:spPr>
          <a:xfrm>
            <a:off x="8412480" y="1600200"/>
            <a:ext cx="3227832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9" name="text-120"/>
          <p:cNvSpPr txBox="1"/>
          <p:nvPr/>
        </p:nvSpPr>
        <p:spPr>
          <a:xfrm>
            <a:off x="8641080" y="1737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TNR</a:t>
            </a:r>
            <a:endParaRPr lang="en-US" sz="1600" dirty="0"/>
          </a:p>
        </p:txBody>
      </p:sp>
      <p:sp>
        <p:nvSpPr>
          <p:cNvPr id="40" name="text-121"/>
          <p:cNvSpPr txBox="1"/>
          <p:nvPr/>
        </p:nvSpPr>
        <p:spPr>
          <a:xfrm>
            <a:off x="8641080" y="21031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÷ 12 = 0.5</a:t>
            </a:r>
            <a:endParaRPr lang="en-US" sz="3000" dirty="0"/>
          </a:p>
        </p:txBody>
      </p:sp>
      <p:sp>
        <p:nvSpPr>
          <p:cNvPr id="41" name="text-122"/>
          <p:cNvSpPr txBox="1"/>
          <p:nvPr/>
        </p:nvSpPr>
        <p:spPr>
          <a:xfrm>
            <a:off x="8641080" y="2788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塗色的格子 ÷ 全部格子：寫錯的程式平均有一半被擋下</a:t>
            </a:r>
            <a:endParaRPr lang="en-US" sz="1300" dirty="0"/>
          </a:p>
        </p:txBody>
      </p:sp>
      <p:sp>
        <p:nvSpPr>
          <p:cNvPr id="42" name="card-123"/>
          <p:cNvSpPr/>
          <p:nvPr/>
        </p:nvSpPr>
        <p:spPr>
          <a:xfrm>
            <a:off x="548640" y="4023360"/>
            <a:ext cx="1109441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-124"/>
          <p:cNvSpPr txBox="1"/>
          <p:nvPr/>
        </p:nvSpPr>
        <p:spPr>
          <a:xfrm>
            <a:off x="868680" y="4160520"/>
            <a:ext cx="104543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漏網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：某份寫錯的程式通過了全部測資。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錯 5「迴圈少看最後一天」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兩道都答對 → </a:t>
            </a:r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只用官方範例，就漏掉一種常見錯誤</a:t>
            </a:r>
            <a:endParaRPr lang="en-US" sz="1700" dirty="0"/>
          </a:p>
        </p:txBody>
      </p:sp>
      <p:sp>
        <p:nvSpPr>
          <p:cNvPr id="44" name="text-125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TNR 越高越好；但後面會看到，TNR 高不一定代表測資好。接下來三個發現，都是這把尺本身的陷阱。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發現一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人工調的測資會「背答案」</a:t>
            </a:r>
            <a:endParaRPr lang="en-US" sz="3000" dirty="0"/>
          </a:p>
        </p:txBody>
      </p:sp>
      <p:sp>
        <p:nvSpPr>
          <p:cNvPr id="5" name="card-126"/>
          <p:cNvSpPr/>
          <p:nvPr/>
        </p:nvSpPr>
        <p:spPr>
          <a:xfrm>
            <a:off x="548640" y="1645920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127"/>
          <p:cNvSpPr txBox="1"/>
          <p:nvPr/>
        </p:nvSpPr>
        <p:spPr>
          <a:xfrm>
            <a:off x="868680" y="173736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FA050"/>
                </a:solidFill>
              </a:rPr>
              <a:t>驗收組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：調整測資時只看 6 份寫錯的程式（調整組）；另外 3 份先藏起來、調整時完全不看，最後才跑一次。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調整組像模擬考，驗收組像期末考。</a:t>
            </a:r>
            <a:endParaRPr lang="en-US" sz="1600" dirty="0"/>
          </a:p>
        </p:txBody>
      </p:sp>
      <p:sp>
        <p:nvSpPr>
          <p:cNvPr id="7" name="text-128"/>
          <p:cNvSpPr txBox="1"/>
          <p:nvPr/>
        </p:nvSpPr>
        <p:spPr>
          <a:xfrm>
            <a:off x="54864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最長不重複子字串｜人工調了 4 輪、留下 17 道測資</a:t>
            </a:r>
            <a:endParaRPr lang="en-US" sz="1500" dirty="0"/>
          </a:p>
        </p:txBody>
      </p:sp>
      <p:sp>
        <p:nvSpPr>
          <p:cNvPr id="8" name="text-129"/>
          <p:cNvSpPr txBox="1"/>
          <p:nvPr/>
        </p:nvSpPr>
        <p:spPr>
          <a:xfrm>
            <a:off x="54864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0.882</a:t>
            </a:r>
            <a:endParaRPr lang="en-US" sz="6000" dirty="0"/>
          </a:p>
        </p:txBody>
      </p:sp>
      <p:sp>
        <p:nvSpPr>
          <p:cNvPr id="9" name="text-130"/>
          <p:cNvSpPr txBox="1"/>
          <p:nvPr/>
        </p:nvSpPr>
        <p:spPr>
          <a:xfrm>
            <a:off x="54864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調整組 TNR（模擬考）</a:t>
            </a:r>
            <a:endParaRPr lang="en-US" sz="1400" dirty="0"/>
          </a:p>
        </p:txBody>
      </p:sp>
      <p:sp>
        <p:nvSpPr>
          <p:cNvPr id="10" name="text-131"/>
          <p:cNvSpPr txBox="1"/>
          <p:nvPr/>
        </p:nvSpPr>
        <p:spPr>
          <a:xfrm>
            <a:off x="448056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0.471</a:t>
            </a:r>
            <a:endParaRPr lang="en-US" sz="6000" dirty="0"/>
          </a:p>
        </p:txBody>
      </p:sp>
      <p:sp>
        <p:nvSpPr>
          <p:cNvPr id="11" name="text-132"/>
          <p:cNvSpPr txBox="1"/>
          <p:nvPr/>
        </p:nvSpPr>
        <p:spPr>
          <a:xfrm>
            <a:off x="448056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驗收組 TNR（期末考）</a:t>
            </a:r>
            <a:endParaRPr lang="en-US" sz="1400" dirty="0"/>
          </a:p>
        </p:txBody>
      </p:sp>
      <p:sp>
        <p:nvSpPr>
          <p:cNvPr id="12" name="arrow-133"/>
          <p:cNvSpPr/>
          <p:nvPr/>
        </p:nvSpPr>
        <p:spPr>
          <a:xfrm>
            <a:off x="3520440" y="3657600"/>
            <a:ext cx="77724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card-134"/>
          <p:cNvSpPr/>
          <p:nvPr/>
        </p:nvSpPr>
        <p:spPr>
          <a:xfrm>
            <a:off x="7406640" y="2788920"/>
            <a:ext cx="4233672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-135"/>
          <p:cNvSpPr txBox="1"/>
          <p:nvPr/>
        </p:nvSpPr>
        <p:spPr>
          <a:xfrm>
            <a:off x="768096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具體例子</a:t>
            </a:r>
            <a:endParaRPr lang="en-US" sz="1400" dirty="0"/>
          </a:p>
        </p:txBody>
      </p:sp>
      <p:sp>
        <p:nvSpPr>
          <p:cNvPr id="15" name="text-136"/>
          <p:cNvSpPr txBox="1"/>
          <p:nvPr/>
        </p:nvSpPr>
        <p:spPr>
          <a:xfrm>
            <a:off x="7680960" y="33375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經典的 </a:t>
            </a:r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"abba"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錯誤（更新左邊界時忘了取最大值）：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17 道只有 1 道擋到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，而且那一道是隨機產生的字串。</a:t>
            </a:r>
            <a:endParaRPr lang="en-US" sz="1600" dirty="0"/>
          </a:p>
        </p:txBody>
      </p:sp>
      <p:sp>
        <p:nvSpPr>
          <p:cNvPr id="16" name="text-137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測資對「看過的錯誤」很強，換一批就漏了。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之後每個數字都同時報調整組和驗收組。　樣本：1 題、3 份驗收用錯誤程式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發現二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固定門檻不能套用到每一題 → 改用達成率</a:t>
            </a:r>
            <a:endParaRPr lang="en-US" sz="3000" dirty="0"/>
          </a:p>
        </p:txBody>
      </p:sp>
      <p:sp>
        <p:nvSpPr>
          <p:cNvPr id="5" name="text-138"/>
          <p:cNvSpPr txBox="1"/>
          <p:nvPr/>
        </p:nvSpPr>
        <p:spPr>
          <a:xfrm>
            <a:off x="548640" y="16002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原本的標準：TNR ≥ 0.85 才算好。但有些題目怎麼補都到不了：</a:t>
            </a:r>
            <a:endParaRPr lang="en-US" sz="1700" dirty="0"/>
          </a:p>
        </p:txBody>
      </p:sp>
      <p:sp>
        <p:nvSpPr>
          <p:cNvPr id="6" name="card-139"/>
          <p:cNvSpPr/>
          <p:nvPr/>
        </p:nvSpPr>
        <p:spPr>
          <a:xfrm>
            <a:off x="548640" y="2148840"/>
            <a:ext cx="320040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-140"/>
          <p:cNvSpPr txBox="1"/>
          <p:nvPr/>
        </p:nvSpPr>
        <p:spPr>
          <a:xfrm>
            <a:off x="82296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括號是否成對</a:t>
            </a:r>
            <a:endParaRPr lang="en-US" sz="1600" dirty="0"/>
          </a:p>
        </p:txBody>
      </p:sp>
      <p:sp>
        <p:nvSpPr>
          <p:cNvPr id="8" name="text-141"/>
          <p:cNvSpPr txBox="1"/>
          <p:nvPr/>
        </p:nvSpPr>
        <p:spPr>
          <a:xfrm>
            <a:off x="822960" y="2697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上限 </a:t>
            </a:r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0.667</a:t>
            </a:r>
            <a:endParaRPr lang="en-US" sz="1600" dirty="0"/>
          </a:p>
        </p:txBody>
      </p:sp>
      <p:sp>
        <p:nvSpPr>
          <p:cNvPr id="9" name="text-142"/>
          <p:cNvSpPr txBox="1"/>
          <p:nvPr/>
        </p:nvSpPr>
        <p:spPr>
          <a:xfrm>
            <a:off x="822960" y="352044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窮舉長度 1–8 的全部 201 萬個輸入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一道測資最多同時擋下 4 種</a:t>
            </a:r>
            <a:endParaRPr lang="en-US" sz="1300" dirty="0"/>
          </a:p>
        </p:txBody>
      </p:sp>
      <p:sp>
        <p:nvSpPr>
          <p:cNvPr id="10" name="card-143"/>
          <p:cNvSpPr/>
          <p:nvPr/>
        </p:nvSpPr>
        <p:spPr>
          <a:xfrm>
            <a:off x="3977640" y="2148840"/>
            <a:ext cx="320040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-144"/>
          <p:cNvSpPr txBox="1"/>
          <p:nvPr/>
        </p:nvSpPr>
        <p:spPr>
          <a:xfrm>
            <a:off x="425196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買賣股票</a:t>
            </a:r>
            <a:endParaRPr lang="en-US" sz="1600" dirty="0"/>
          </a:p>
        </p:txBody>
      </p:sp>
      <p:sp>
        <p:nvSpPr>
          <p:cNvPr id="12" name="text-145"/>
          <p:cNvSpPr txBox="1"/>
          <p:nvPr/>
        </p:nvSpPr>
        <p:spPr>
          <a:xfrm>
            <a:off x="4251960" y="2697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上限 </a:t>
            </a:r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0.833</a:t>
            </a:r>
            <a:endParaRPr lang="en-US" sz="1600" dirty="0"/>
          </a:p>
        </p:txBody>
      </p:sp>
      <p:sp>
        <p:nvSpPr>
          <p:cNvPr id="13" name="text-146"/>
          <p:cNvSpPr txBox="1"/>
          <p:nvPr/>
        </p:nvSpPr>
        <p:spPr>
          <a:xfrm>
            <a:off x="4251960" y="352044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答案是 0 的輸入才抓得到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回負數的錯，但抓不到其他錯誤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一道最多擋 5 種</a:t>
            </a:r>
            <a:endParaRPr lang="en-US" sz="1300" dirty="0"/>
          </a:p>
        </p:txBody>
      </p:sp>
      <p:sp>
        <p:nvSpPr>
          <p:cNvPr id="14" name="card-147"/>
          <p:cNvSpPr/>
          <p:nvPr/>
        </p:nvSpPr>
        <p:spPr>
          <a:xfrm>
            <a:off x="7543800" y="2148840"/>
            <a:ext cx="4096512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-148"/>
          <p:cNvSpPr txBox="1"/>
          <p:nvPr/>
        </p:nvSpPr>
        <p:spPr>
          <a:xfrm>
            <a:off x="781812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為什麼</a:t>
            </a:r>
            <a:endParaRPr lang="en-US" sz="1600" dirty="0"/>
          </a:p>
        </p:txBody>
      </p:sp>
      <p:sp>
        <p:nvSpPr>
          <p:cNvPr id="16" name="text-149"/>
          <p:cNvSpPr txBox="1"/>
          <p:nvPr/>
        </p:nvSpPr>
        <p:spPr>
          <a:xfrm>
            <a:off x="7818120" y="2697480"/>
            <a:ext cx="3611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有些錯誤只在特定答案時才會露出來。太寬鬆的錯誤只在答案是 False 時抓得到，太嚴格的只在答案是 True 時抓得到。一道測資的答案只有一個，不可能兩邊都抓。</a:t>
            </a:r>
            <a:endParaRPr lang="en-US" sz="1400" dirty="0"/>
          </a:p>
        </p:txBody>
      </p:sp>
      <p:sp>
        <p:nvSpPr>
          <p:cNvPr id="17" name="text-150"/>
          <p:cNvSpPr txBox="1"/>
          <p:nvPr/>
        </p:nvSpPr>
        <p:spPr>
          <a:xfrm>
            <a:off x="548640" y="48920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上限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＝一道測資最多能同時擋下幾種錯誤 ÷ 錯誤總數　　</a:t>
            </a:r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達成率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＝TNR ÷ 上限</a:t>
            </a:r>
            <a:endParaRPr lang="en-US" sz="1700" dirty="0"/>
          </a:p>
        </p:txBody>
      </p:sp>
      <p:sp>
        <p:nvSpPr>
          <p:cNvPr id="18" name="text-151"/>
          <p:cNvSpPr txBox="1"/>
          <p:nvPr/>
        </p:nvSpPr>
        <p:spPr>
          <a:xfrm>
            <a:off x="548640" y="53949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例：買賣股票 0.583 ÷ 0.833 ＝ </a:t>
            </a:r>
            <a:pPr indent="0" marL="0">
              <a:buNone/>
            </a:pPr>
            <a:r>
              <a:rPr lang="en-US" sz="1500" b="1" dirty="0">
                <a:solidFill>
                  <a:srgbClr val="DFA050"/>
                </a:solidFill>
              </a:rPr>
              <a:t>0.70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每題跟自己的上限比，才能跨題比較；上限是題目本身的性質，跟 AI 或出題的人能力無關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全自動流程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一個指令跑完：提 → 測 → 審 → 判斷</a:t>
            </a:r>
            <a:endParaRPr lang="en-US" sz="3000" dirty="0"/>
          </a:p>
        </p:txBody>
      </p:sp>
      <p:sp>
        <p:nvSpPr>
          <p:cNvPr id="5" name="card-152"/>
          <p:cNvSpPr/>
          <p:nvPr/>
        </p:nvSpPr>
        <p:spPr>
          <a:xfrm>
            <a:off x="548640" y="1783080"/>
            <a:ext cx="251460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153"/>
          <p:cNvSpPr txBox="1"/>
          <p:nvPr/>
        </p:nvSpPr>
        <p:spPr>
          <a:xfrm>
            <a:off x="777240" y="1920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-154"/>
          <p:cNvSpPr txBox="1"/>
          <p:nvPr/>
        </p:nvSpPr>
        <p:spPr>
          <a:xfrm>
            <a:off x="777240" y="24231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提候選測資</a:t>
            </a:r>
            <a:endParaRPr lang="en-US" sz="1800" dirty="0"/>
          </a:p>
        </p:txBody>
      </p:sp>
      <p:sp>
        <p:nvSpPr>
          <p:cNvPr id="8" name="text-155"/>
          <p:cNvSpPr txBox="1"/>
          <p:nvPr/>
        </p:nvSpPr>
        <p:spPr>
          <a:xfrm>
            <a:off x="777240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只給輸入，不給答案；答案由寫對的程式算</a:t>
            </a:r>
            <a:endParaRPr lang="en-US" sz="1300" dirty="0"/>
          </a:p>
        </p:txBody>
      </p:sp>
      <p:sp>
        <p:nvSpPr>
          <p:cNvPr id="9" name="arrow-156"/>
          <p:cNvSpPr/>
          <p:nvPr/>
        </p:nvSpPr>
        <p:spPr>
          <a:xfrm>
            <a:off x="3090672" y="2715768"/>
            <a:ext cx="2743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card-157"/>
          <p:cNvSpPr/>
          <p:nvPr/>
        </p:nvSpPr>
        <p:spPr>
          <a:xfrm>
            <a:off x="3392424" y="1783080"/>
            <a:ext cx="251460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-158"/>
          <p:cNvSpPr txBox="1"/>
          <p:nvPr/>
        </p:nvSpPr>
        <p:spPr>
          <a:xfrm>
            <a:off x="3621024" y="1920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-159"/>
          <p:cNvSpPr txBox="1"/>
          <p:nvPr/>
        </p:nvSpPr>
        <p:spPr>
          <a:xfrm>
            <a:off x="3621024" y="24231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機器評測</a:t>
            </a:r>
            <a:endParaRPr lang="en-US" sz="1800" dirty="0"/>
          </a:p>
        </p:txBody>
      </p:sp>
      <p:sp>
        <p:nvSpPr>
          <p:cNvPr id="13" name="text-160"/>
          <p:cNvSpPr txBox="1"/>
          <p:nvPr/>
        </p:nvSpPr>
        <p:spPr>
          <a:xfrm>
            <a:off x="3621024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算出每道擋下哪幾種錯、TPR、TNR</a:t>
            </a:r>
            <a:endParaRPr lang="en-US" sz="1300" dirty="0"/>
          </a:p>
        </p:txBody>
      </p:sp>
      <p:sp>
        <p:nvSpPr>
          <p:cNvPr id="14" name="arrow-161"/>
          <p:cNvSpPr/>
          <p:nvPr/>
        </p:nvSpPr>
        <p:spPr>
          <a:xfrm>
            <a:off x="5934456" y="2715768"/>
            <a:ext cx="2743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card-162"/>
          <p:cNvSpPr/>
          <p:nvPr/>
        </p:nvSpPr>
        <p:spPr>
          <a:xfrm>
            <a:off x="6236208" y="1783080"/>
            <a:ext cx="251460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-163"/>
          <p:cNvSpPr txBox="1"/>
          <p:nvPr/>
        </p:nvSpPr>
        <p:spPr>
          <a:xfrm>
            <a:off x="6464808" y="1920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-164"/>
          <p:cNvSpPr txBox="1"/>
          <p:nvPr/>
        </p:nvSpPr>
        <p:spPr>
          <a:xfrm>
            <a:off x="6464808" y="24231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自動審核</a:t>
            </a:r>
            <a:endParaRPr lang="en-US" sz="1800" dirty="0"/>
          </a:p>
        </p:txBody>
      </p:sp>
      <p:sp>
        <p:nvSpPr>
          <p:cNvPr id="18" name="text-165"/>
          <p:cNvSpPr txBox="1"/>
          <p:nvPr/>
        </p:nvSpPr>
        <p:spPr>
          <a:xfrm>
            <a:off x="6464808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只看分數，不看 AI 的理由；挑讓平均 TNR 最高的一道，不再提高就停</a:t>
            </a:r>
            <a:endParaRPr lang="en-US" sz="1300" dirty="0"/>
          </a:p>
        </p:txBody>
      </p:sp>
      <p:sp>
        <p:nvSpPr>
          <p:cNvPr id="19" name="arrow-166"/>
          <p:cNvSpPr/>
          <p:nvPr/>
        </p:nvSpPr>
        <p:spPr>
          <a:xfrm>
            <a:off x="8778240" y="2715768"/>
            <a:ext cx="2743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card-167"/>
          <p:cNvSpPr/>
          <p:nvPr/>
        </p:nvSpPr>
        <p:spPr>
          <a:xfrm>
            <a:off x="9079992" y="1783080"/>
            <a:ext cx="251460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-168"/>
          <p:cNvSpPr txBox="1"/>
          <p:nvPr/>
        </p:nvSpPr>
        <p:spPr>
          <a:xfrm>
            <a:off x="9308592" y="1920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-169"/>
          <p:cNvSpPr txBox="1"/>
          <p:nvPr/>
        </p:nvSpPr>
        <p:spPr>
          <a:xfrm>
            <a:off x="9308592" y="24231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判斷停不停</a:t>
            </a:r>
            <a:endParaRPr lang="en-US" sz="1800" dirty="0"/>
          </a:p>
        </p:txBody>
      </p:sp>
      <p:sp>
        <p:nvSpPr>
          <p:cNvPr id="23" name="text-170"/>
          <p:cNvSpPr txBox="1"/>
          <p:nvPr/>
        </p:nvSpPr>
        <p:spPr>
          <a:xfrm>
            <a:off x="9308592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達成率 ≥ 0.85、上一輪沒留下新測資、或跑滿輪數</a:t>
            </a:r>
            <a:endParaRPr lang="en-US" sz="1300" dirty="0"/>
          </a:p>
        </p:txBody>
      </p:sp>
      <p:sp>
        <p:nvSpPr>
          <p:cNvPr id="24" name="text-171"/>
          <p:cNvSpPr txBox="1"/>
          <p:nvPr/>
        </p:nvSpPr>
        <p:spPr>
          <a:xfrm>
            <a:off x="548640" y="3886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↺ 沒停就回到第 1 步，進入下一輪</a:t>
            </a:r>
            <a:endParaRPr lang="en-US" sz="1400" dirty="0"/>
          </a:p>
        </p:txBody>
      </p:sp>
      <p:sp>
        <p:nvSpPr>
          <p:cNvPr id="25" name="card-172"/>
          <p:cNvSpPr/>
          <p:nvPr/>
        </p:nvSpPr>
        <p:spPr>
          <a:xfrm>
            <a:off x="7406640" y="3840480"/>
            <a:ext cx="4233672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-173"/>
          <p:cNvSpPr txBox="1"/>
          <p:nvPr/>
        </p:nvSpPr>
        <p:spPr>
          <a:xfrm>
            <a:off x="7635240" y="385876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結束：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驗收組只跑一次，結果存檔</a:t>
            </a:r>
            <a:endParaRPr lang="en-US" sz="1600" dirty="0"/>
          </a:p>
        </p:txBody>
      </p:sp>
      <p:sp>
        <p:nvSpPr>
          <p:cNvPr id="27" name="text-174"/>
          <p:cNvSpPr txBox="1"/>
          <p:nvPr/>
        </p:nvSpPr>
        <p:spPr>
          <a:xfrm>
            <a:off x="548640" y="48920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可重現：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所有提案、審核、評測都存檔；用正式版程式重算既有 8 輪，</a:t>
            </a:r>
            <a:pPr indent="0" marL="0">
              <a:buNone/>
            </a:pPr>
            <a:r>
              <a:rPr lang="en-US" sz="1500" b="1" dirty="0">
                <a:solidFill>
                  <a:srgbClr val="5CB87C"/>
                </a:solidFill>
              </a:rPr>
              <a:t>結果全部一致</a:t>
            </a:r>
            <a:endParaRPr lang="en-US" sz="1500" dirty="0"/>
          </a:p>
        </p:txBody>
      </p:sp>
      <p:sp>
        <p:nvSpPr>
          <p:cNvPr id="28" name="text-175"/>
          <p:cNvSpPr txBox="1"/>
          <p:nvPr/>
        </p:nvSpPr>
        <p:spPr>
          <a:xfrm>
            <a:off x="548640" y="5394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指令　</a:t>
            </a:r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testgen.pipeline --problem &lt;題目&gt;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成效展現 1／4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流程跑起來了：AI 一輪一輪自己補測資</a:t>
            </a:r>
            <a:endParaRPr lang="en-US" sz="3000" dirty="0"/>
          </a:p>
        </p:txBody>
      </p:sp>
      <p:sp>
        <p:nvSpPr>
          <p:cNvPr id="5" name="card-176"/>
          <p:cNvSpPr/>
          <p:nvPr/>
        </p:nvSpPr>
        <p:spPr>
          <a:xfrm>
            <a:off x="548640" y="1645920"/>
            <a:ext cx="2578608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177"/>
          <p:cNvSpPr txBox="1"/>
          <p:nvPr/>
        </p:nvSpPr>
        <p:spPr>
          <a:xfrm>
            <a:off x="777240" y="17830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-178"/>
          <p:cNvSpPr txBox="1"/>
          <p:nvPr/>
        </p:nvSpPr>
        <p:spPr>
          <a:xfrm>
            <a:off x="777240" y="2304288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AI 出題</a:t>
            </a:r>
            <a:endParaRPr lang="en-US" sz="1700" dirty="0"/>
          </a:p>
        </p:txBody>
      </p:sp>
      <p:sp>
        <p:nvSpPr>
          <p:cNvPr id="8" name="text-179"/>
          <p:cNvSpPr txBox="1"/>
          <p:nvPr/>
        </p:nvSpPr>
        <p:spPr>
          <a:xfrm>
            <a:off x="777240" y="27889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讀題目，提出一批候選測資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只給輸入，不給答案</a:t>
            </a:r>
            <a:endParaRPr lang="en-US" sz="1400" dirty="0"/>
          </a:p>
        </p:txBody>
      </p:sp>
      <p:sp>
        <p:nvSpPr>
          <p:cNvPr id="9" name="arrow-180"/>
          <p:cNvSpPr/>
          <p:nvPr/>
        </p:nvSpPr>
        <p:spPr>
          <a:xfrm>
            <a:off x="3145536" y="2651760"/>
            <a:ext cx="21031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card-181"/>
          <p:cNvSpPr/>
          <p:nvPr/>
        </p:nvSpPr>
        <p:spPr>
          <a:xfrm>
            <a:off x="3374136" y="1645920"/>
            <a:ext cx="2578608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-182"/>
          <p:cNvSpPr txBox="1"/>
          <p:nvPr/>
        </p:nvSpPr>
        <p:spPr>
          <a:xfrm>
            <a:off x="3602736" y="17830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-183"/>
          <p:cNvSpPr txBox="1"/>
          <p:nvPr/>
        </p:nvSpPr>
        <p:spPr>
          <a:xfrm>
            <a:off x="3602736" y="2304288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機器考試</a:t>
            </a:r>
            <a:endParaRPr lang="en-US" sz="1700" dirty="0"/>
          </a:p>
        </p:txBody>
      </p:sp>
      <p:sp>
        <p:nvSpPr>
          <p:cNvPr id="13" name="text-184"/>
          <p:cNvSpPr txBox="1"/>
          <p:nvPr/>
        </p:nvSpPr>
        <p:spPr>
          <a:xfrm>
            <a:off x="3602736" y="27889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把每道測資拿去考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寫錯的程式，看它擋下哪些</a:t>
            </a:r>
            <a:endParaRPr lang="en-US" sz="1400" dirty="0"/>
          </a:p>
        </p:txBody>
      </p:sp>
      <p:sp>
        <p:nvSpPr>
          <p:cNvPr id="14" name="arrow-185"/>
          <p:cNvSpPr/>
          <p:nvPr/>
        </p:nvSpPr>
        <p:spPr>
          <a:xfrm>
            <a:off x="5971032" y="2651760"/>
            <a:ext cx="21031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card-186"/>
          <p:cNvSpPr/>
          <p:nvPr/>
        </p:nvSpPr>
        <p:spPr>
          <a:xfrm>
            <a:off x="6199632" y="1645920"/>
            <a:ext cx="2578608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-187"/>
          <p:cNvSpPr txBox="1"/>
          <p:nvPr/>
        </p:nvSpPr>
        <p:spPr>
          <a:xfrm>
            <a:off x="6428232" y="17830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-188"/>
          <p:cNvSpPr txBox="1"/>
          <p:nvPr/>
        </p:nvSpPr>
        <p:spPr>
          <a:xfrm>
            <a:off x="6428232" y="2304288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留下有用的</a:t>
            </a:r>
            <a:endParaRPr lang="en-US" sz="1700" dirty="0"/>
          </a:p>
        </p:txBody>
      </p:sp>
      <p:sp>
        <p:nvSpPr>
          <p:cNvPr id="18" name="text-189"/>
          <p:cNvSpPr txBox="1"/>
          <p:nvPr/>
        </p:nvSpPr>
        <p:spPr>
          <a:xfrm>
            <a:off x="6428232" y="27889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只保留真的有用的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丟掉的也記錄原因</a:t>
            </a:r>
            <a:endParaRPr lang="en-US" sz="1400" dirty="0"/>
          </a:p>
        </p:txBody>
      </p:sp>
      <p:sp>
        <p:nvSpPr>
          <p:cNvPr id="19" name="arrow-190"/>
          <p:cNvSpPr/>
          <p:nvPr/>
        </p:nvSpPr>
        <p:spPr>
          <a:xfrm>
            <a:off x="8796528" y="2651760"/>
            <a:ext cx="21031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card-191"/>
          <p:cNvSpPr/>
          <p:nvPr/>
        </p:nvSpPr>
        <p:spPr>
          <a:xfrm>
            <a:off x="9025128" y="1645920"/>
            <a:ext cx="2578608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-192"/>
          <p:cNvSpPr txBox="1"/>
          <p:nvPr/>
        </p:nvSpPr>
        <p:spPr>
          <a:xfrm>
            <a:off x="9253728" y="17830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-193"/>
          <p:cNvSpPr txBox="1"/>
          <p:nvPr/>
        </p:nvSpPr>
        <p:spPr>
          <a:xfrm>
            <a:off x="9253728" y="2304288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針對弱點再出題</a:t>
            </a:r>
            <a:endParaRPr lang="en-US" sz="1700" dirty="0"/>
          </a:p>
        </p:txBody>
      </p:sp>
      <p:sp>
        <p:nvSpPr>
          <p:cNvPr id="23" name="text-194"/>
          <p:cNvSpPr txBox="1"/>
          <p:nvPr/>
        </p:nvSpPr>
        <p:spPr>
          <a:xfrm>
            <a:off x="9253728" y="27889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看見上一輪的結果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補還沒抓到的錯誤</a:t>
            </a:r>
            <a:endParaRPr lang="en-US" sz="1400" dirty="0"/>
          </a:p>
        </p:txBody>
      </p:sp>
      <p:sp>
        <p:nvSpPr>
          <p:cNvPr id="24" name="card-195"/>
          <p:cNvSpPr/>
          <p:nvPr/>
        </p:nvSpPr>
        <p:spPr>
          <a:xfrm>
            <a:off x="548640" y="3886200"/>
            <a:ext cx="11094415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-196"/>
          <p:cNvSpPr txBox="1"/>
          <p:nvPr/>
        </p:nvSpPr>
        <p:spPr>
          <a:xfrm>
            <a:off x="868680" y="39959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過程中的一段插曲</a:t>
            </a:r>
            <a:endParaRPr lang="en-US" sz="1500" dirty="0"/>
          </a:p>
        </p:txBody>
      </p:sp>
      <p:sp>
        <p:nvSpPr>
          <p:cNvPr id="26" name="text-197"/>
          <p:cNvSpPr txBox="1"/>
          <p:nvPr/>
        </p:nvSpPr>
        <p:spPr>
          <a:xfrm>
            <a:off x="868680" y="438912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有一種錯誤（只從左往右掃一遍）很狡猾：AI 連續兩輪都說要抓它，卻都沒抓到；直到它在回饋裡看見自己落空，才終於補上。</a:t>
            </a:r>
            <a:endParaRPr lang="en-US" sz="1700" dirty="0"/>
          </a:p>
        </p:txBody>
      </p:sp>
      <p:sp>
        <p:nvSpPr>
          <p:cNvPr id="27" name="text-198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FA050"/>
                </a:solidFill>
              </a:rPr>
              <a:t>回饋不是裝飾：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要看見自己哪裡沒做到，才會修正方向。兩題都在沒有人介入的情況下，從題目一路跑到一組測資。</a:t>
            </a:r>
            <a:endParaRPr lang="en-US" sz="1500" dirty="0"/>
          </a:p>
        </p:txBody>
      </p:sp>
      <p:sp>
        <p:nvSpPr>
          <p:cNvPr id="28" name="text-19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對照文獻：回饋驅動迭代（Cai et al., CodeContests-O [1]）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成效展現 2／4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好測資有兩種「好」</a:t>
            </a:r>
            <a:endParaRPr lang="en-US" sz="3000" dirty="0"/>
          </a:p>
        </p:txBody>
      </p:sp>
      <p:sp>
        <p:nvSpPr>
          <p:cNvPr id="5" name="card-200"/>
          <p:cNvSpPr/>
          <p:nvPr/>
        </p:nvSpPr>
        <p:spPr>
          <a:xfrm>
            <a:off x="548640" y="1645920"/>
            <a:ext cx="269748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201"/>
          <p:cNvSpPr txBox="1"/>
          <p:nvPr/>
        </p:nvSpPr>
        <p:spPr>
          <a:xfrm>
            <a:off x="82296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好考卷</a:t>
            </a:r>
            <a:endParaRPr lang="en-US" sz="1300" dirty="0"/>
          </a:p>
        </p:txBody>
      </p:sp>
      <p:sp>
        <p:nvSpPr>
          <p:cNvPr id="7" name="text-202"/>
          <p:cNvSpPr txBox="1"/>
          <p:nvPr/>
        </p:nvSpPr>
        <p:spPr>
          <a:xfrm>
            <a:off x="822960" y="2148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「題題都很難」</a:t>
            </a:r>
            <a:endParaRPr lang="en-US" sz="1800" dirty="0"/>
          </a:p>
        </p:txBody>
      </p:sp>
      <p:sp>
        <p:nvSpPr>
          <p:cNvPr id="8" name="text-203"/>
          <p:cNvSpPr txBox="1"/>
          <p:nvPr/>
        </p:nvSpPr>
        <p:spPr>
          <a:xfrm>
            <a:off x="822960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每一題都能刷掉很多種錯誤</a:t>
            </a:r>
            <a:endParaRPr lang="en-US" sz="1400" dirty="0"/>
          </a:p>
        </p:txBody>
      </p:sp>
      <p:sp>
        <p:nvSpPr>
          <p:cNvPr id="9" name="text-204"/>
          <p:cNvSpPr txBox="1"/>
          <p:nvPr/>
        </p:nvSpPr>
        <p:spPr>
          <a:xfrm>
            <a:off x="822960" y="3474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文獻稱：</a:t>
            </a:r>
            <a:pPr indent="0" marL="0">
              <a:buNone/>
            </a:pPr>
            <a:r>
              <a:rPr lang="en-US" sz="1300" b="1" dirty="0">
                <a:solidFill>
                  <a:srgbClr val="5AB8B2"/>
                </a:solidFill>
              </a:rPr>
              <a:t>錯誤暴露</a:t>
            </a:r>
            <a:endParaRPr lang="en-US" sz="1300" dirty="0"/>
          </a:p>
        </p:txBody>
      </p:sp>
      <p:sp>
        <p:nvSpPr>
          <p:cNvPr id="10" name="card-205"/>
          <p:cNvSpPr/>
          <p:nvPr/>
        </p:nvSpPr>
        <p:spPr>
          <a:xfrm>
            <a:off x="3429000" y="1645920"/>
            <a:ext cx="269748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-206"/>
          <p:cNvSpPr txBox="1"/>
          <p:nvPr/>
        </p:nvSpPr>
        <p:spPr>
          <a:xfrm>
            <a:off x="370332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好考卷</a:t>
            </a:r>
            <a:endParaRPr lang="en-US" sz="1300" dirty="0"/>
          </a:p>
        </p:txBody>
      </p:sp>
      <p:sp>
        <p:nvSpPr>
          <p:cNvPr id="12" name="text-207"/>
          <p:cNvSpPr txBox="1"/>
          <p:nvPr/>
        </p:nvSpPr>
        <p:spPr>
          <a:xfrm>
            <a:off x="3703320" y="2148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「每個觀念都考到」</a:t>
            </a:r>
            <a:endParaRPr lang="en-US" sz="1800" dirty="0"/>
          </a:p>
        </p:txBody>
      </p:sp>
      <p:sp>
        <p:nvSpPr>
          <p:cNvPr id="13" name="text-208"/>
          <p:cNvSpPr txBox="1"/>
          <p:nvPr/>
        </p:nvSpPr>
        <p:spPr>
          <a:xfrm>
            <a:off x="3703320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每種錯誤都被至少一題抓到</a:t>
            </a:r>
            <a:endParaRPr lang="en-US" sz="1400" dirty="0"/>
          </a:p>
        </p:txBody>
      </p:sp>
      <p:sp>
        <p:nvSpPr>
          <p:cNvPr id="14" name="text-209"/>
          <p:cNvSpPr txBox="1"/>
          <p:nvPr/>
        </p:nvSpPr>
        <p:spPr>
          <a:xfrm>
            <a:off x="3703320" y="3474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文獻稱：</a:t>
            </a:r>
            <a:pPr indent="0" marL="0">
              <a:buNone/>
            </a:pPr>
            <a:r>
              <a:rPr lang="en-US" sz="1300" b="1" dirty="0">
                <a:solidFill>
                  <a:srgbClr val="5AB8B2"/>
                </a:solidFill>
              </a:rPr>
              <a:t>錯誤覆蓋</a:t>
            </a:r>
            <a:endParaRPr lang="en-US" sz="1300" dirty="0"/>
          </a:p>
        </p:txBody>
      </p:sp>
      <p:sp>
        <p:nvSpPr>
          <p:cNvPr id="15" name="story-210"/>
          <p:cNvSpPr/>
          <p:nvPr/>
        </p:nvSpPr>
        <p:spPr>
          <a:xfrm>
            <a:off x="6355080" y="1645920"/>
            <a:ext cx="528523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text-211"/>
          <p:cNvSpPr txBox="1"/>
          <p:nvPr/>
        </p:nvSpPr>
        <p:spPr>
          <a:xfrm>
            <a:off x="66294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我們遇到的事</a:t>
            </a:r>
            <a:endParaRPr lang="en-US" sz="1500" dirty="0"/>
          </a:p>
        </p:txBody>
      </p:sp>
      <p:sp>
        <p:nvSpPr>
          <p:cNvPr id="17" name="text-212"/>
          <p:cNvSpPr txBox="1"/>
          <p:nvPr/>
        </p:nvSpPr>
        <p:spPr>
          <a:xfrm>
            <a:off x="6629400" y="2194560"/>
            <a:ext cx="4800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自動審核只喜歡「很難的題」，把一些看起來平凡、但能抓到特定錯誤的題目丟掉了。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最後有一種錯誤，從頭到尾沒被考到。</a:t>
            </a:r>
            <a:endParaRPr lang="en-US" sz="1600" dirty="0"/>
          </a:p>
        </p:txBody>
      </p:sp>
      <p:sp>
        <p:nvSpPr>
          <p:cNvPr id="18" name="card-213"/>
          <p:cNvSpPr/>
          <p:nvPr/>
        </p:nvSpPr>
        <p:spPr>
          <a:xfrm>
            <a:off x="548640" y="4160520"/>
            <a:ext cx="1109441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text-214"/>
          <p:cNvSpPr txBox="1"/>
          <p:nvPr/>
        </p:nvSpPr>
        <p:spPr>
          <a:xfrm>
            <a:off x="868680" y="4270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補回去之後</a:t>
            </a:r>
            <a:endParaRPr lang="en-US" sz="1500" dirty="0"/>
          </a:p>
        </p:txBody>
      </p:sp>
      <p:sp>
        <p:nvSpPr>
          <p:cNvPr id="20" name="text-215"/>
          <p:cNvSpPr txBox="1"/>
          <p:nvPr/>
        </p:nvSpPr>
        <p:spPr>
          <a:xfrm>
            <a:off x="868680" y="466344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把這些「平凡但必要」的題目補回去：</a:t>
            </a:r>
            <a:pPr indent="0" marL="0">
              <a:buNone/>
            </a:pPr>
            <a:r>
              <a:rPr lang="en-US" sz="1700" b="1" dirty="0">
                <a:solidFill>
                  <a:srgbClr val="5CB87C"/>
                </a:solidFill>
              </a:rPr>
              <a:t>考卷變完整了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，但</a:t>
            </a:r>
            <a:pPr indent="0" marL="0">
              <a:buNone/>
            </a:pPr>
            <a:r>
              <a:rPr lang="en-US" sz="1700" b="1" dirty="0">
                <a:solidFill>
                  <a:srgbClr val="D96870"/>
                </a:solidFill>
              </a:rPr>
              <a:t>「平均難度」反而下降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。</a:t>
            </a:r>
            <a:endParaRPr lang="en-US" sz="1700" dirty="0"/>
          </a:p>
        </p:txBody>
      </p:sp>
      <p:sp>
        <p:nvSpPr>
          <p:cNvPr id="21" name="text-216"/>
          <p:cNvSpPr txBox="1"/>
          <p:nvPr/>
        </p:nvSpPr>
        <p:spPr>
          <a:xfrm>
            <a:off x="548640" y="5468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FA050"/>
                </a:solidFill>
              </a:rPr>
              <a:t>分數高，不代表考卷完整。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這也呼應前面的發現：一個平均分數，說不完測資的好壞；下一步讓審核同時看這兩種好。</a:t>
            </a:r>
            <a:endParaRPr lang="en-US" sz="1500" dirty="0"/>
          </a:p>
        </p:txBody>
      </p:sp>
      <p:sp>
        <p:nvSpPr>
          <p:cNvPr id="22" name="text-217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對照文獻：錯誤覆蓋與錯誤暴露（Yang et al., TestCase-Eval [13]）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成效展現 3／4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學生卡住時，AI 怎麼說</a:t>
            </a:r>
            <a:endParaRPr lang="en-US" sz="3000" dirty="0"/>
          </a:p>
        </p:txBody>
      </p:sp>
      <p:sp>
        <p:nvSpPr>
          <p:cNvPr id="5" name="text-218"/>
          <p:cNvSpPr txBox="1"/>
          <p:nvPr/>
        </p:nvSpPr>
        <p:spPr>
          <a:xfrm>
            <a:off x="548640" y="15087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測資讓系統知道學生錯在哪；接下來看 AI 怎麼把它變成提示</a:t>
            </a:r>
            <a:endParaRPr lang="en-US" sz="1500" dirty="0"/>
          </a:p>
        </p:txBody>
      </p:sp>
      <p:sp>
        <p:nvSpPr>
          <p:cNvPr id="6" name="card-219"/>
          <p:cNvSpPr/>
          <p:nvPr/>
        </p:nvSpPr>
        <p:spPr>
          <a:xfrm>
            <a:off x="548640" y="2011680"/>
            <a:ext cx="329184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-220"/>
          <p:cNvSpPr txBox="1"/>
          <p:nvPr/>
        </p:nvSpPr>
        <p:spPr>
          <a:xfrm>
            <a:off x="82296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學生交出</a:t>
            </a:r>
            <a:endParaRPr lang="en-US" sz="1400" dirty="0"/>
          </a:p>
        </p:txBody>
      </p:sp>
      <p:sp>
        <p:nvSpPr>
          <p:cNvPr id="8" name="text-221"/>
          <p:cNvSpPr txBox="1"/>
          <p:nvPr/>
        </p:nvSpPr>
        <p:spPr>
          <a:xfrm>
            <a:off x="822960" y="25146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一個常見的寫法：只認得相鄰的「()」</a:t>
            </a:r>
            <a:endParaRPr lang="en-US" sz="1600" dirty="0"/>
          </a:p>
        </p:txBody>
      </p:sp>
      <p:sp>
        <p:nvSpPr>
          <p:cNvPr id="9" name="text-222"/>
          <p:cNvSpPr txBox="1"/>
          <p:nvPr/>
        </p:nvSpPr>
        <p:spPr>
          <a:xfrm>
            <a:off x="82296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系統回應</a:t>
            </a:r>
            <a:endParaRPr lang="en-US" sz="1400" dirty="0"/>
          </a:p>
        </p:txBody>
      </p:sp>
      <p:sp>
        <p:nvSpPr>
          <p:cNvPr id="10" name="text-223"/>
          <p:cNvSpPr txBox="1"/>
          <p:nvPr/>
        </p:nvSpPr>
        <p:spPr>
          <a:xfrm>
            <a:off x="822960" y="37033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輸入 </a:t>
            </a:r>
            <a:pPr indent="0" marL="0">
              <a:buNone/>
            </a:pPr>
            <a:r>
              <a:rPr lang="en-US" sz="1600" b="1" dirty="0">
                <a:solidFill>
                  <a:srgbClr val="DFA050"/>
                </a:solidFill>
              </a:rPr>
              <a:t>(())()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應該是 </a:t>
            </a:r>
            <a:pPr indent="0" marL="0">
              <a:buNone/>
            </a:pPr>
            <a:r>
              <a:rPr lang="en-US" sz="1600" b="1" dirty="0">
                <a:solidFill>
                  <a:srgbClr val="5CB87C"/>
                </a:solidFill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，你的程式回答 </a:t>
            </a:r>
            <a:pPr indent="0" marL="0">
              <a:buNone/>
            </a:pPr>
            <a:r>
              <a:rPr lang="en-US" sz="1600" b="1" dirty="0">
                <a:solidFill>
                  <a:srgbClr val="D96870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arrow-224"/>
          <p:cNvSpPr/>
          <p:nvPr/>
        </p:nvSpPr>
        <p:spPr>
          <a:xfrm>
            <a:off x="3886200" y="3474720"/>
            <a:ext cx="3200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2" name="hint-225"/>
          <p:cNvSpPr/>
          <p:nvPr/>
        </p:nvSpPr>
        <p:spPr>
          <a:xfrm>
            <a:off x="4251960" y="2011680"/>
            <a:ext cx="38862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text-226"/>
          <p:cNvSpPr txBox="1"/>
          <p:nvPr/>
        </p:nvSpPr>
        <p:spPr>
          <a:xfrm>
            <a:off x="4526280" y="2148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AI 的提示（實際產生，節錄）</a:t>
            </a:r>
            <a:endParaRPr lang="en-US" sz="1400" dirty="0"/>
          </a:p>
        </p:txBody>
      </p:sp>
      <p:sp>
        <p:nvSpPr>
          <p:cNvPr id="14" name="text-227"/>
          <p:cNvSpPr txBox="1"/>
          <p:nvPr/>
        </p:nvSpPr>
        <p:spPr>
          <a:xfrm>
            <a:off x="4526280" y="256032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「想想第 5 步……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如果一個 ')' 能匹配到多層前面的 '('，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你認為應該怎麼處理 stack？」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「在輸入 "(())()" 時，在哪一步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你可能忽略了一段已經合法的子串？」</a:t>
            </a:r>
            <a:endParaRPr lang="en-US" sz="1500" dirty="0"/>
          </a:p>
        </p:txBody>
      </p:sp>
      <p:sp>
        <p:nvSpPr>
          <p:cNvPr id="15" name="card-228"/>
          <p:cNvSpPr/>
          <p:nvPr/>
        </p:nvSpPr>
        <p:spPr>
          <a:xfrm>
            <a:off x="8366760" y="2011680"/>
            <a:ext cx="327355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-229"/>
          <p:cNvSpPr txBox="1"/>
          <p:nvPr/>
        </p:nvSpPr>
        <p:spPr>
          <a:xfrm>
            <a:off x="8595360" y="21214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做得好</a:t>
            </a:r>
            <a:endParaRPr lang="en-US" sz="1600" dirty="0"/>
          </a:p>
        </p:txBody>
      </p:sp>
      <p:sp>
        <p:nvSpPr>
          <p:cNvPr id="17" name="text-230"/>
          <p:cNvSpPr txBox="1"/>
          <p:nvPr/>
        </p:nvSpPr>
        <p:spPr>
          <a:xfrm>
            <a:off x="8595360" y="248716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沒有給程式碼、用問句引導；指到具體的失敗輸入和虛擬碼步驟</a:t>
            </a:r>
            <a:endParaRPr lang="en-US" sz="1300" dirty="0"/>
          </a:p>
        </p:txBody>
      </p:sp>
      <p:sp>
        <p:nvSpPr>
          <p:cNvPr id="18" name="card-231"/>
          <p:cNvSpPr/>
          <p:nvPr/>
        </p:nvSpPr>
        <p:spPr>
          <a:xfrm>
            <a:off x="8366760" y="3520440"/>
            <a:ext cx="327355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text-232"/>
          <p:cNvSpPr txBox="1"/>
          <p:nvPr/>
        </p:nvSpPr>
        <p:spPr>
          <a:xfrm>
            <a:off x="8595360" y="3630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還不夠</a:t>
            </a:r>
            <a:endParaRPr lang="en-US" sz="1600" dirty="0"/>
          </a:p>
        </p:txBody>
      </p:sp>
      <p:sp>
        <p:nvSpPr>
          <p:cNvPr id="20" name="text-233"/>
          <p:cNvSpPr txBox="1"/>
          <p:nvPr/>
        </p:nvSpPr>
        <p:spPr>
          <a:xfrm>
            <a:off x="8595360" y="39959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AI 看不到程式，以為學生照虛擬碼用了 stack——其實學生根本沒用，提示可能帶錯方向</a:t>
            </a:r>
            <a:endParaRPr lang="en-US" sz="1300" dirty="0"/>
          </a:p>
        </p:txBody>
      </p:sp>
      <p:sp>
        <p:nvSpPr>
          <p:cNvPr id="21" name="text-234"/>
          <p:cNvSpPr txBox="1"/>
          <p:nvPr/>
        </p:nvSpPr>
        <p:spPr>
          <a:xfrm>
            <a:off x="548640" y="52120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FA050"/>
                </a:solidFill>
              </a:rPr>
              <a:t>看不到程式碼，換來不洩漏答案；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代價是有時會猜錯學生的思路。</a:t>
            </a:r>
            <a:endParaRPr lang="en-US" sz="1600" dirty="0"/>
          </a:p>
        </p:txBody>
      </p:sp>
      <p:sp>
        <p:nvSpPr>
          <p:cNvPr id="22" name="text-235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對照文獻：不直接給答案（Kazemitabaar et al., CodeAid [12]）；提示可能誤導（Xiao et al. [11]）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成效展現 4／4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跟著一位學生走一遍（Demo）</a:t>
            </a:r>
            <a:endParaRPr lang="en-US" sz="3000" dirty="0"/>
          </a:p>
        </p:txBody>
      </p:sp>
      <p:sp>
        <p:nvSpPr>
          <p:cNvPr id="5" name="card-236"/>
          <p:cNvSpPr/>
          <p:nvPr/>
        </p:nvSpPr>
        <p:spPr>
          <a:xfrm>
            <a:off x="548640" y="1691640"/>
            <a:ext cx="2011680" cy="2240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237"/>
          <p:cNvSpPr txBox="1"/>
          <p:nvPr/>
        </p:nvSpPr>
        <p:spPr>
          <a:xfrm>
            <a:off x="77724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-238"/>
          <p:cNvSpPr txBox="1"/>
          <p:nvPr/>
        </p:nvSpPr>
        <p:spPr>
          <a:xfrm>
            <a:off x="777240" y="235000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讀題</a:t>
            </a:r>
            <a:endParaRPr lang="en-US" sz="1700" dirty="0"/>
          </a:p>
        </p:txBody>
      </p:sp>
      <p:sp>
        <p:nvSpPr>
          <p:cNvPr id="8" name="text-239"/>
          <p:cNvSpPr txBox="1"/>
          <p:nvPr/>
        </p:nvSpPr>
        <p:spPr>
          <a:xfrm>
            <a:off x="777240" y="28346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展開虛擬碼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了解解法的步驟</a:t>
            </a:r>
            <a:endParaRPr lang="en-US" sz="1400" dirty="0"/>
          </a:p>
        </p:txBody>
      </p:sp>
      <p:sp>
        <p:nvSpPr>
          <p:cNvPr id="9" name="arrow-240"/>
          <p:cNvSpPr/>
          <p:nvPr/>
        </p:nvSpPr>
        <p:spPr>
          <a:xfrm>
            <a:off x="2578608" y="2807208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card-241"/>
          <p:cNvSpPr/>
          <p:nvPr/>
        </p:nvSpPr>
        <p:spPr>
          <a:xfrm>
            <a:off x="2816352" y="1691640"/>
            <a:ext cx="2011680" cy="2240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-242"/>
          <p:cNvSpPr txBox="1"/>
          <p:nvPr/>
        </p:nvSpPr>
        <p:spPr>
          <a:xfrm>
            <a:off x="3044952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-243"/>
          <p:cNvSpPr txBox="1"/>
          <p:nvPr/>
        </p:nvSpPr>
        <p:spPr>
          <a:xfrm>
            <a:off x="3044952" y="235000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送出</a:t>
            </a:r>
            <a:endParaRPr lang="en-US" sz="1700" dirty="0"/>
          </a:p>
        </p:txBody>
      </p:sp>
      <p:sp>
        <p:nvSpPr>
          <p:cNvPr id="13" name="text-244"/>
          <p:cNvSpPr txBox="1"/>
          <p:nvPr/>
        </p:nvSpPr>
        <p:spPr>
          <a:xfrm>
            <a:off x="3044952" y="28346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寫出直覺的解法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交給系統</a:t>
            </a:r>
            <a:endParaRPr lang="en-US" sz="1400" dirty="0"/>
          </a:p>
        </p:txBody>
      </p:sp>
      <p:sp>
        <p:nvSpPr>
          <p:cNvPr id="14" name="arrow-245"/>
          <p:cNvSpPr/>
          <p:nvPr/>
        </p:nvSpPr>
        <p:spPr>
          <a:xfrm>
            <a:off x="4846320" y="2807208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5" name="card-246"/>
          <p:cNvSpPr/>
          <p:nvPr/>
        </p:nvSpPr>
        <p:spPr>
          <a:xfrm>
            <a:off x="5084064" y="1691640"/>
            <a:ext cx="2011680" cy="2240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-247"/>
          <p:cNvSpPr txBox="1"/>
          <p:nvPr/>
        </p:nvSpPr>
        <p:spPr>
          <a:xfrm>
            <a:off x="5312664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-248"/>
          <p:cNvSpPr txBox="1"/>
          <p:nvPr/>
        </p:nvSpPr>
        <p:spPr>
          <a:xfrm>
            <a:off x="5312664" y="235000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看哪裡錯</a:t>
            </a:r>
            <a:endParaRPr lang="en-US" sz="1700" dirty="0"/>
          </a:p>
        </p:txBody>
      </p:sp>
      <p:sp>
        <p:nvSpPr>
          <p:cNvPr id="18" name="text-249"/>
          <p:cNvSpPr txBox="1"/>
          <p:nvPr/>
        </p:nvSpPr>
        <p:spPr>
          <a:xfrm>
            <a:off x="5312664" y="28346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哪道測資沒過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輸入、預期、實際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都攤開</a:t>
            </a:r>
            <a:endParaRPr lang="en-US" sz="1400" dirty="0"/>
          </a:p>
        </p:txBody>
      </p:sp>
      <p:sp>
        <p:nvSpPr>
          <p:cNvPr id="19" name="arrow-250"/>
          <p:cNvSpPr/>
          <p:nvPr/>
        </p:nvSpPr>
        <p:spPr>
          <a:xfrm>
            <a:off x="7114032" y="2807208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card-251"/>
          <p:cNvSpPr/>
          <p:nvPr/>
        </p:nvSpPr>
        <p:spPr>
          <a:xfrm>
            <a:off x="7351776" y="1691640"/>
            <a:ext cx="2011680" cy="2240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-252"/>
          <p:cNvSpPr txBox="1"/>
          <p:nvPr/>
        </p:nvSpPr>
        <p:spPr>
          <a:xfrm>
            <a:off x="7580376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-253"/>
          <p:cNvSpPr txBox="1"/>
          <p:nvPr/>
        </p:nvSpPr>
        <p:spPr>
          <a:xfrm>
            <a:off x="7580376" y="235000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讀提示</a:t>
            </a:r>
            <a:endParaRPr lang="en-US" sz="1700" dirty="0"/>
          </a:p>
        </p:txBody>
      </p:sp>
      <p:sp>
        <p:nvSpPr>
          <p:cNvPr id="23" name="text-254"/>
          <p:cNvSpPr txBox="1"/>
          <p:nvPr/>
        </p:nvSpPr>
        <p:spPr>
          <a:xfrm>
            <a:off x="7580376" y="28346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用問句提醒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回頭對照虛擬碼步驟</a:t>
            </a:r>
            <a:endParaRPr lang="en-US" sz="1400" dirty="0"/>
          </a:p>
        </p:txBody>
      </p:sp>
      <p:sp>
        <p:nvSpPr>
          <p:cNvPr id="24" name="arrow-255"/>
          <p:cNvSpPr/>
          <p:nvPr/>
        </p:nvSpPr>
        <p:spPr>
          <a:xfrm>
            <a:off x="9381744" y="2807208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5" name="card-256"/>
          <p:cNvSpPr/>
          <p:nvPr/>
        </p:nvSpPr>
        <p:spPr>
          <a:xfrm>
            <a:off x="9619488" y="1691640"/>
            <a:ext cx="2011680" cy="2240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-257"/>
          <p:cNvSpPr txBox="1"/>
          <p:nvPr/>
        </p:nvSpPr>
        <p:spPr>
          <a:xfrm>
            <a:off x="9848088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text-258"/>
          <p:cNvSpPr txBox="1"/>
          <p:nvPr/>
        </p:nvSpPr>
        <p:spPr>
          <a:xfrm>
            <a:off x="9848088" y="235000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再試一次</a:t>
            </a:r>
            <a:endParaRPr lang="en-US" sz="1700" dirty="0"/>
          </a:p>
        </p:txBody>
      </p:sp>
      <p:sp>
        <p:nvSpPr>
          <p:cNvPr id="28" name="text-259"/>
          <p:cNvSpPr txBox="1"/>
          <p:nvPr/>
        </p:nvSpPr>
        <p:spPr>
          <a:xfrm>
            <a:off x="9848088" y="28346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修改後重新送出</a:t>
            </a:r>
            <a:endParaRPr lang="en-US" sz="1400" dirty="0"/>
          </a:p>
        </p:txBody>
      </p:sp>
      <p:sp>
        <p:nvSpPr>
          <p:cNvPr id="29" name="card-260"/>
          <p:cNvSpPr/>
          <p:nvPr/>
        </p:nvSpPr>
        <p:spPr>
          <a:xfrm>
            <a:off x="548640" y="4206240"/>
            <a:ext cx="1109441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-261"/>
          <p:cNvSpPr txBox="1"/>
          <p:nvPr/>
        </p:nvSpPr>
        <p:spPr>
          <a:xfrm>
            <a:off x="868680" y="4315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Demo 時請留意</a:t>
            </a:r>
            <a:endParaRPr lang="en-US" sz="1500" dirty="0"/>
          </a:p>
        </p:txBody>
      </p:sp>
      <p:sp>
        <p:nvSpPr>
          <p:cNvPr id="31" name="text-262"/>
          <p:cNvSpPr txBox="1"/>
          <p:nvPr/>
        </p:nvSpPr>
        <p:spPr>
          <a:xfrm>
            <a:off x="868680" y="470916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提示裡沒有可以直接貼上的程式；提示會指到具體的測資與虛擬碼步驟。</a:t>
            </a:r>
            <a:endParaRPr lang="en-US" sz="1700" dirty="0"/>
          </a:p>
        </p:txBody>
      </p:sp>
      <p:sp>
        <p:nvSpPr>
          <p:cNvPr id="32" name="text-263"/>
          <p:cNvSpPr txBox="1"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備案：事先錄好影片，現場網路或 AI 服務出問題時播放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限制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限制</a:t>
            </a:r>
            <a:endParaRPr lang="en-US" sz="3000" dirty="0"/>
          </a:p>
        </p:txBody>
      </p:sp>
      <p:sp>
        <p:nvSpPr>
          <p:cNvPr id="5" name="card-264"/>
          <p:cNvSpPr/>
          <p:nvPr/>
        </p:nvSpPr>
        <p:spPr>
          <a:xfrm>
            <a:off x="548640" y="169164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265"/>
          <p:cNvSpPr txBox="1"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樣本少</a:t>
            </a:r>
            <a:endParaRPr lang="en-US" sz="1700" dirty="0"/>
          </a:p>
        </p:txBody>
      </p:sp>
      <p:sp>
        <p:nvSpPr>
          <p:cNvPr id="7" name="text-266"/>
          <p:cNvSpPr txBox="1"/>
          <p:nvPr/>
        </p:nvSpPr>
        <p:spPr>
          <a:xfrm>
            <a:off x="822960" y="22585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不做準度與效度驗證；每題一次實驗，數字只當觀察</a:t>
            </a:r>
            <a:endParaRPr lang="en-US" sz="1400" dirty="0"/>
          </a:p>
        </p:txBody>
      </p:sp>
      <p:sp>
        <p:nvSpPr>
          <p:cNvPr id="8" name="card-267"/>
          <p:cNvSpPr/>
          <p:nvPr/>
        </p:nvSpPr>
        <p:spPr>
          <a:xfrm>
            <a:off x="6217920" y="169164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-268"/>
          <p:cNvSpPr txBox="1"/>
          <p:nvPr/>
        </p:nvSpPr>
        <p:spPr>
          <a:xfrm>
            <a:off x="649224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沒有人工審核</a:t>
            </a:r>
            <a:endParaRPr lang="en-US" sz="1700" dirty="0"/>
          </a:p>
        </p:txBody>
      </p:sp>
      <p:sp>
        <p:nvSpPr>
          <p:cNvPr id="10" name="text-269"/>
          <p:cNvSpPr txBox="1"/>
          <p:nvPr/>
        </p:nvSpPr>
        <p:spPr>
          <a:xfrm>
            <a:off x="6492240" y="22585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審核全部由程式依數字自動進行</a:t>
            </a:r>
            <a:endParaRPr lang="en-US" sz="1400" dirty="0"/>
          </a:p>
        </p:txBody>
      </p:sp>
      <p:sp>
        <p:nvSpPr>
          <p:cNvPr id="11" name="card-270"/>
          <p:cNvSpPr/>
          <p:nvPr/>
        </p:nvSpPr>
        <p:spPr>
          <a:xfrm>
            <a:off x="548640" y="310896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-271"/>
          <p:cNvSpPr txBox="1"/>
          <p:nvPr/>
        </p:nvSpPr>
        <p:spPr>
          <a:xfrm>
            <a:off x="82296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沒有收斂</a:t>
            </a:r>
            <a:endParaRPr lang="en-US" sz="1700" dirty="0"/>
          </a:p>
        </p:txBody>
      </p:sp>
      <p:sp>
        <p:nvSpPr>
          <p:cNvPr id="13" name="text-272"/>
          <p:cNvSpPr txBox="1"/>
          <p:nvPr/>
        </p:nvSpPr>
        <p:spPr>
          <a:xfrm>
            <a:off x="822960" y="36758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三題的達成率都沒有到 0.85</a:t>
            </a:r>
            <a:endParaRPr lang="en-US" sz="1400" dirty="0"/>
          </a:p>
        </p:txBody>
      </p:sp>
      <p:sp>
        <p:nvSpPr>
          <p:cNvPr id="14" name="card-273"/>
          <p:cNvSpPr/>
          <p:nvPr/>
        </p:nvSpPr>
        <p:spPr>
          <a:xfrm>
            <a:off x="6217920" y="310896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-274"/>
          <p:cNvSpPr txBox="1"/>
          <p:nvPr/>
        </p:nvSpPr>
        <p:spPr>
          <a:xfrm>
            <a:off x="649224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共同盲點</a:t>
            </a:r>
            <a:endParaRPr lang="en-US" sz="1700" dirty="0"/>
          </a:p>
        </p:txBody>
      </p:sp>
      <p:sp>
        <p:nvSpPr>
          <p:cNvPr id="16" name="text-275"/>
          <p:cNvSpPr txBox="1"/>
          <p:nvPr/>
        </p:nvSpPr>
        <p:spPr>
          <a:xfrm>
            <a:off x="6492240" y="36758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寫錯的程式與驗收組由同一批人設計</a:t>
            </a:r>
            <a:endParaRPr lang="en-US" sz="1400" dirty="0"/>
          </a:p>
        </p:txBody>
      </p:sp>
      <p:sp>
        <p:nvSpPr>
          <p:cNvPr id="17" name="card-276"/>
          <p:cNvSpPr/>
          <p:nvPr/>
        </p:nvSpPr>
        <p:spPr>
          <a:xfrm>
            <a:off x="548640" y="452628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-277"/>
          <p:cNvSpPr txBox="1"/>
          <p:nvPr/>
        </p:nvSpPr>
        <p:spPr>
          <a:xfrm>
            <a:off x="822960" y="46634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實驗途中有調整</a:t>
            </a:r>
            <a:endParaRPr lang="en-US" sz="1700" dirty="0"/>
          </a:p>
        </p:txBody>
      </p:sp>
      <p:sp>
        <p:nvSpPr>
          <p:cNvPr id="19" name="text-278"/>
          <p:cNvSpPr txBox="1"/>
          <p:nvPr/>
        </p:nvSpPr>
        <p:spPr>
          <a:xfrm>
            <a:off x="822960" y="50932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例如換過給 AI 的指示；都記錄在計畫文件</a:t>
            </a:r>
            <a:endParaRPr lang="en-US" sz="1400" dirty="0"/>
          </a:p>
        </p:txBody>
      </p:sp>
      <p:sp>
        <p:nvSpPr>
          <p:cNvPr id="20" name="card-279"/>
          <p:cNvSpPr/>
          <p:nvPr/>
        </p:nvSpPr>
        <p:spPr>
          <a:xfrm>
            <a:off x="6217920" y="452628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-280"/>
          <p:cNvSpPr txBox="1"/>
          <p:nvPr/>
        </p:nvSpPr>
        <p:spPr>
          <a:xfrm>
            <a:off x="6492240" y="46634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範圍</a:t>
            </a:r>
            <a:endParaRPr lang="en-US" sz="1700" dirty="0"/>
          </a:p>
        </p:txBody>
      </p:sp>
      <p:sp>
        <p:nvSpPr>
          <p:cNvPr id="22" name="text-281"/>
          <p:cNvSpPr txBox="1"/>
          <p:nvPr/>
        </p:nvSpPr>
        <p:spPr>
          <a:xfrm>
            <a:off x="6492240" y="50932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只檢查答案對不對，不檢查快不快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安全執行只擋不小心的誤用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接下來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先讓「測資好不好」看得見</a:t>
            </a:r>
            <a:endParaRPr lang="en-US" sz="3000" dirty="0"/>
          </a:p>
        </p:txBody>
      </p:sp>
      <p:sp>
        <p:nvSpPr>
          <p:cNvPr id="5" name="card-282"/>
          <p:cNvSpPr/>
          <p:nvPr/>
        </p:nvSpPr>
        <p:spPr>
          <a:xfrm>
            <a:off x="548640" y="1691640"/>
            <a:ext cx="53949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283"/>
          <p:cNvSpPr txBox="1"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覆蓋優先的審核</a:t>
            </a:r>
            <a:endParaRPr lang="en-US" sz="1800" dirty="0"/>
          </a:p>
        </p:txBody>
      </p:sp>
      <p:sp>
        <p:nvSpPr>
          <p:cNvPr id="7" name="text-284"/>
          <p:cNvSpPr txBox="1"/>
          <p:nvPr/>
        </p:nvSpPr>
        <p:spPr>
          <a:xfrm>
            <a:off x="822960" y="22860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優先留下能補漏洞的測資，不只追平均</a:t>
            </a:r>
            <a:endParaRPr lang="en-US" sz="1500" dirty="0"/>
          </a:p>
        </p:txBody>
      </p:sp>
      <p:sp>
        <p:nvSpPr>
          <p:cNvPr id="8" name="card-285"/>
          <p:cNvSpPr/>
          <p:nvPr/>
        </p:nvSpPr>
        <p:spPr>
          <a:xfrm>
            <a:off x="6217920" y="1691640"/>
            <a:ext cx="53949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-286"/>
          <p:cNvSpPr txBox="1"/>
          <p:nvPr/>
        </p:nvSpPr>
        <p:spPr>
          <a:xfrm>
            <a:off x="649224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AI 先建池</a:t>
            </a:r>
            <a:endParaRPr lang="en-US" sz="1800" dirty="0"/>
          </a:p>
        </p:txBody>
      </p:sp>
      <p:sp>
        <p:nvSpPr>
          <p:cNvPr id="10" name="text-287"/>
          <p:cNvSpPr txBox="1"/>
          <p:nvPr/>
        </p:nvSpPr>
        <p:spPr>
          <a:xfrm>
            <a:off x="6492240" y="22860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讓 AI 寫「寫對／寫錯的程式」，再由機器把關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設計已完成，尚未實作</a:t>
            </a:r>
            <a:endParaRPr lang="en-US" sz="1500" dirty="0"/>
          </a:p>
        </p:txBody>
      </p:sp>
      <p:sp>
        <p:nvSpPr>
          <p:cNvPr id="11" name="text-288"/>
          <p:cNvSpPr txBox="1"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先讓「測資好不好」看得見，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才知道 AI 的提示有沒有依據。</a:t>
            </a:r>
            <a:endParaRPr lang="en-US" sz="3200" dirty="0"/>
          </a:p>
        </p:txBody>
      </p:sp>
      <p:sp>
        <p:nvSpPr>
          <p:cNvPr id="12" name="text-289"/>
          <p:cNvSpPr txBox="1"/>
          <p:nvPr/>
        </p:nvSpPr>
        <p:spPr>
          <a:xfrm>
            <a:off x="548640" y="52578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謝謝聆聽　Q &amp; 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附錄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參考文獻</a:t>
            </a:r>
            <a:endParaRPr lang="en-US" sz="3000" dirty="0"/>
          </a:p>
        </p:txBody>
      </p:sp>
      <p:sp>
        <p:nvSpPr>
          <p:cNvPr id="5" name="text-290"/>
          <p:cNvSpPr txBox="1"/>
          <p:nvPr/>
        </p:nvSpPr>
        <p:spPr>
          <a:xfrm>
            <a:off x="54864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500" dirty="0"/>
          </a:p>
        </p:txBody>
      </p:sp>
      <p:sp>
        <p:nvSpPr>
          <p:cNvPr id="6" name="text-291"/>
          <p:cNvSpPr txBox="1"/>
          <p:nvPr/>
        </p:nvSpPr>
        <p:spPr>
          <a:xfrm>
            <a:off x="1371600" y="16459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J. Cai et al., "CodeContests-O: Powering LLMs via Feedback-Driven Iterative Test Case Generation," arXiv:2601.13682, 2026.</a:t>
            </a:r>
            <a:endParaRPr lang="en-US" sz="1400" dirty="0"/>
          </a:p>
        </p:txBody>
      </p:sp>
      <p:sp>
        <p:nvSpPr>
          <p:cNvPr id="7" name="text-292"/>
          <p:cNvSpPr txBox="1"/>
          <p:nvPr/>
        </p:nvSpPr>
        <p:spPr>
          <a:xfrm>
            <a:off x="54864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[11]</a:t>
            </a:r>
            <a:endParaRPr lang="en-US" sz="1500" dirty="0"/>
          </a:p>
        </p:txBody>
      </p:sp>
      <p:sp>
        <p:nvSpPr>
          <p:cNvPr id="8" name="text-293"/>
          <p:cNvSpPr txBox="1"/>
          <p:nvPr/>
        </p:nvSpPr>
        <p:spPr>
          <a:xfrm>
            <a:off x="1371600" y="251460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R. Xiao, X. Hou, and J. Stamper, "Exploring How Multiple Levels of GPT-Generated Programming Hints Support or Disappoint Novices," arXiv:2404.02213, 2024.</a:t>
            </a:r>
            <a:endParaRPr lang="en-US" sz="1400" dirty="0"/>
          </a:p>
        </p:txBody>
      </p:sp>
      <p:sp>
        <p:nvSpPr>
          <p:cNvPr id="9" name="text-294"/>
          <p:cNvSpPr txBox="1"/>
          <p:nvPr/>
        </p:nvSpPr>
        <p:spPr>
          <a:xfrm>
            <a:off x="54864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[12]</a:t>
            </a:r>
            <a:endParaRPr lang="en-US" sz="1500" dirty="0"/>
          </a:p>
        </p:txBody>
      </p:sp>
      <p:sp>
        <p:nvSpPr>
          <p:cNvPr id="10" name="text-295"/>
          <p:cNvSpPr txBox="1"/>
          <p:nvPr/>
        </p:nvSpPr>
        <p:spPr>
          <a:xfrm>
            <a:off x="1371600" y="338328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M. Kazemitabaar et al., "CodeAid: Evaluating a Classroom Deployment of an LLM-based Programming Assistant that Balances Student and Educator Needs," arXiv:2401.11314, 2024.</a:t>
            </a:r>
            <a:endParaRPr lang="en-US" sz="1400" dirty="0"/>
          </a:p>
        </p:txBody>
      </p:sp>
      <p:sp>
        <p:nvSpPr>
          <p:cNvPr id="11" name="text-296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[13]</a:t>
            </a:r>
            <a:endParaRPr lang="en-US" sz="1500" dirty="0"/>
          </a:p>
        </p:txBody>
      </p:sp>
      <p:sp>
        <p:nvSpPr>
          <p:cNvPr id="12" name="text-297"/>
          <p:cNvSpPr txBox="1"/>
          <p:nvPr/>
        </p:nvSpPr>
        <p:spPr>
          <a:xfrm>
            <a:off x="1371600" y="425196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Z. Yang, Z. Kuang, X. Xia, and Y. Zhao, "Can LLMs Generate High-Quality Test Cases for Algorithm Problems? TestCase-Eval: A Systematic Evaluation of Fault Coverage and Exposure," in Proc. ACL, 2025.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附錄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名詞總表</a:t>
            </a:r>
            <a:endParaRPr lang="en-US" sz="3000" dirty="0"/>
          </a:p>
        </p:txBody>
      </p:sp>
      <p:graphicFrame>
        <p:nvGraphicFramePr>
          <p:cNvPr id="20" name="table-2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074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名詞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白話說法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測資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一道測試題：一組輸入＋正確答案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寫對的程式（S+）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用不同寫法寫出的正解，每題 3 份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寫錯的程式（S-）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每份故意藏一種常見錯誤，每題 6 份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TPR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寫對的程式有沒有被冤枉；要 100%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TNR（抓錯率）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寫錯的程式平均被擋下的比例；只當觀察指標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漏網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某份寫錯的程式通過了全部測資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調整組／驗收組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補測資時看的錯誤程式／先藏起來、最後才跑一次的（像期末考）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上限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這一題 TNR 理論上最高能到多少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達成率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TNR ÷ 上限；讓不同題目可以比較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code-blind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根本看不到學生的程式碼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虛擬碼／往返檢查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用文字寫出解法步驟／另一個 AI 只看虛擬碼寫程式，要和正解一致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備用 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題目適不適用這套方法：四關判斷</a:t>
            </a:r>
            <a:endParaRPr lang="en-US" sz="3000" dirty="0"/>
          </a:p>
        </p:txBody>
      </p:sp>
      <p:sp>
        <p:nvSpPr>
          <p:cNvPr id="5" name="card-299"/>
          <p:cNvSpPr/>
          <p:nvPr/>
        </p:nvSpPr>
        <p:spPr>
          <a:xfrm>
            <a:off x="548640" y="1691640"/>
            <a:ext cx="26060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300"/>
          <p:cNvSpPr txBox="1"/>
          <p:nvPr/>
        </p:nvSpPr>
        <p:spPr>
          <a:xfrm>
            <a:off x="77724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第一關</a:t>
            </a:r>
            <a:endParaRPr lang="en-US" sz="1500" dirty="0"/>
          </a:p>
        </p:txBody>
      </p:sp>
      <p:sp>
        <p:nvSpPr>
          <p:cNvPr id="7" name="text-301"/>
          <p:cNvSpPr txBox="1"/>
          <p:nvPr/>
        </p:nvSpPr>
        <p:spPr>
          <a:xfrm>
            <a:off x="77724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只讀題目篩選</a:t>
            </a:r>
            <a:endParaRPr lang="en-US" sz="1700" dirty="0"/>
          </a:p>
        </p:txBody>
      </p:sp>
      <p:sp>
        <p:nvSpPr>
          <p:cNvPr id="8" name="text-302"/>
          <p:cNvSpPr txBox="1"/>
          <p:nvPr/>
        </p:nvSpPr>
        <p:spPr>
          <a:xfrm>
            <a:off x="777240" y="26700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平台能不能跑、答案是否唯一</a:t>
            </a:r>
            <a:endParaRPr lang="en-US" sz="1300" dirty="0"/>
          </a:p>
        </p:txBody>
      </p:sp>
      <p:sp>
        <p:nvSpPr>
          <p:cNvPr id="9" name="card-303"/>
          <p:cNvSpPr/>
          <p:nvPr/>
        </p:nvSpPr>
        <p:spPr>
          <a:xfrm>
            <a:off x="3383280" y="1691640"/>
            <a:ext cx="26060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-304"/>
          <p:cNvSpPr txBox="1"/>
          <p:nvPr/>
        </p:nvSpPr>
        <p:spPr>
          <a:xfrm>
            <a:off x="361188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第二關</a:t>
            </a:r>
            <a:endParaRPr lang="en-US" sz="1500" dirty="0"/>
          </a:p>
        </p:txBody>
      </p:sp>
      <p:sp>
        <p:nvSpPr>
          <p:cNvPr id="11" name="text-305"/>
          <p:cNvSpPr txBox="1"/>
          <p:nvPr/>
        </p:nvSpPr>
        <p:spPr>
          <a:xfrm>
            <a:off x="361188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寫程式驗證樣本</a:t>
            </a:r>
            <a:endParaRPr lang="en-US" sz="1700" dirty="0"/>
          </a:p>
        </p:txBody>
      </p:sp>
      <p:sp>
        <p:nvSpPr>
          <p:cNvPr id="12" name="text-306"/>
          <p:cNvSpPr txBox="1"/>
          <p:nvPr/>
        </p:nvSpPr>
        <p:spPr>
          <a:xfrm>
            <a:off x="3611880" y="26700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正解一致、錯解真的會錯且不重複</a:t>
            </a:r>
            <a:endParaRPr lang="en-US" sz="1300" dirty="0"/>
          </a:p>
        </p:txBody>
      </p:sp>
      <p:sp>
        <p:nvSpPr>
          <p:cNvPr id="13" name="card-307"/>
          <p:cNvSpPr/>
          <p:nvPr/>
        </p:nvSpPr>
        <p:spPr>
          <a:xfrm>
            <a:off x="6217920" y="1691640"/>
            <a:ext cx="26060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-308"/>
          <p:cNvSpPr txBox="1"/>
          <p:nvPr/>
        </p:nvSpPr>
        <p:spPr>
          <a:xfrm>
            <a:off x="644652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第三關</a:t>
            </a:r>
            <a:endParaRPr lang="en-US" sz="1500" dirty="0"/>
          </a:p>
        </p:txBody>
      </p:sp>
      <p:sp>
        <p:nvSpPr>
          <p:cNvPr id="15" name="text-309"/>
          <p:cNvSpPr txBox="1"/>
          <p:nvPr/>
        </p:nvSpPr>
        <p:spPr>
          <a:xfrm>
            <a:off x="644652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估上限</a:t>
            </a:r>
            <a:endParaRPr lang="en-US" sz="1700" dirty="0"/>
          </a:p>
        </p:txBody>
      </p:sp>
      <p:sp>
        <p:nvSpPr>
          <p:cNvPr id="16" name="text-310"/>
          <p:cNvSpPr txBox="1"/>
          <p:nvPr/>
        </p:nvSpPr>
        <p:spPr>
          <a:xfrm>
            <a:off x="6446520" y="26700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窮舉小輸入＋隨機搜尋</a:t>
            </a:r>
            <a:endParaRPr lang="en-US" sz="1300" dirty="0"/>
          </a:p>
        </p:txBody>
      </p:sp>
      <p:sp>
        <p:nvSpPr>
          <p:cNvPr id="17" name="card-311"/>
          <p:cNvSpPr/>
          <p:nvPr/>
        </p:nvSpPr>
        <p:spPr>
          <a:xfrm>
            <a:off x="9052560" y="1691640"/>
            <a:ext cx="26060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-312"/>
          <p:cNvSpPr txBox="1"/>
          <p:nvPr/>
        </p:nvSpPr>
        <p:spPr>
          <a:xfrm>
            <a:off x="928116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第四關</a:t>
            </a:r>
            <a:endParaRPr lang="en-US" sz="1500" dirty="0"/>
          </a:p>
        </p:txBody>
      </p:sp>
      <p:sp>
        <p:nvSpPr>
          <p:cNvPr id="19" name="text-313"/>
          <p:cNvSpPr txBox="1"/>
          <p:nvPr/>
        </p:nvSpPr>
        <p:spPr>
          <a:xfrm>
            <a:off x="928116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值不值得做實驗</a:t>
            </a:r>
            <a:endParaRPr lang="en-US" sz="1700" dirty="0"/>
          </a:p>
        </p:txBody>
      </p:sp>
      <p:sp>
        <p:nvSpPr>
          <p:cNvPr id="20" name="text-314"/>
          <p:cNvSpPr txBox="1"/>
          <p:nvPr/>
        </p:nvSpPr>
        <p:spPr>
          <a:xfrm>
            <a:off x="9281160" y="26700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起點不能太高、符合實驗設計</a:t>
            </a:r>
            <a:endParaRPr lang="en-US" sz="1300" dirty="0"/>
          </a:p>
        </p:txBody>
      </p:sp>
      <p:sp>
        <p:nvSpPr>
          <p:cNvPr id="21" name="text-315"/>
          <p:cNvSpPr txBox="1"/>
          <p:nvPr/>
        </p:nvSpPr>
        <p:spPr>
          <a:xfrm>
            <a:off x="548640" y="388620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實際評過 6 題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積水題（LC42）方法能用，但起點已經 0.83，不適合當實驗題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兩陣列中位數難在效率，這套方法只能檢查答案對不對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LC42 的錯誤樣本裡有兩份行為完全一樣，被第二關抓出來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備用 B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給 AI 的指示 v1 → v2、看分數再改</a:t>
            </a:r>
            <a:endParaRPr lang="en-US" sz="3000" dirty="0"/>
          </a:p>
        </p:txBody>
      </p:sp>
      <p:sp>
        <p:nvSpPr>
          <p:cNvPr id="5" name="card-316"/>
          <p:cNvSpPr/>
          <p:nvPr/>
        </p:nvSpPr>
        <p:spPr>
          <a:xfrm>
            <a:off x="548640" y="1691640"/>
            <a:ext cx="539496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317"/>
          <p:cNvSpPr txBox="1"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指示 v1 → v2</a:t>
            </a:r>
            <a:endParaRPr lang="en-US" sz="1800" dirty="0"/>
          </a:p>
        </p:txBody>
      </p:sp>
      <p:sp>
        <p:nvSpPr>
          <p:cNvPr id="7" name="text-318"/>
          <p:cNvSpPr txBox="1"/>
          <p:nvPr/>
        </p:nvSpPr>
        <p:spPr>
          <a:xfrm>
            <a:off x="822960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v1：AI 提的測資大多一道只擋一種錯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v2：要求一道擋越多種越好，並告訴它目前每道擋幾種</a:t>
            </a:r>
            <a:endParaRPr lang="en-US" sz="1500" dirty="0"/>
          </a:p>
        </p:txBody>
      </p:sp>
      <p:sp>
        <p:nvSpPr>
          <p:cNvPr id="8" name="card-319"/>
          <p:cNvSpPr/>
          <p:nvPr/>
        </p:nvSpPr>
        <p:spPr>
          <a:xfrm>
            <a:off x="6245352" y="1691640"/>
            <a:ext cx="539496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-320"/>
          <p:cNvSpPr txBox="1"/>
          <p:nvPr/>
        </p:nvSpPr>
        <p:spPr>
          <a:xfrm>
            <a:off x="6519672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看分數再改（3 次觀察）</a:t>
            </a:r>
            <a:endParaRPr lang="en-US" sz="1800" dirty="0"/>
          </a:p>
        </p:txBody>
      </p:sp>
      <p:sp>
        <p:nvSpPr>
          <p:cNvPr id="10" name="text-321"/>
          <p:cNvSpPr txBox="1"/>
          <p:nvPr/>
        </p:nvSpPr>
        <p:spPr>
          <a:xfrm>
            <a:off x="6519672" y="21488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23/98</a:t>
            </a:r>
            <a:endParaRPr lang="en-US" sz="3000" dirty="0"/>
          </a:p>
        </p:txBody>
      </p:sp>
      <p:sp>
        <p:nvSpPr>
          <p:cNvPr id="11" name="text-322"/>
          <p:cNvSpPr txBox="1"/>
          <p:nvPr/>
        </p:nvSpPr>
        <p:spPr>
          <a:xfrm>
            <a:off x="6519672" y="3063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看分數再改</a:t>
            </a:r>
            <a:endParaRPr lang="en-US" sz="1400" dirty="0"/>
          </a:p>
        </p:txBody>
      </p:sp>
      <p:sp>
        <p:nvSpPr>
          <p:cNvPr id="12" name="text-323"/>
          <p:cNvSpPr txBox="1"/>
          <p:nvPr/>
        </p:nvSpPr>
        <p:spPr>
          <a:xfrm>
            <a:off x="9052560" y="21488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0/93</a:t>
            </a:r>
            <a:endParaRPr lang="en-US" sz="3000" dirty="0"/>
          </a:p>
        </p:txBody>
      </p:sp>
      <p:sp>
        <p:nvSpPr>
          <p:cNvPr id="13" name="text-324"/>
          <p:cNvSpPr txBox="1"/>
          <p:nvPr/>
        </p:nvSpPr>
        <p:spPr>
          <a:xfrm>
            <a:off x="9052560" y="3063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不看分數</a:t>
            </a:r>
            <a:endParaRPr lang="en-US" sz="1400" dirty="0"/>
          </a:p>
        </p:txBody>
      </p:sp>
      <p:sp>
        <p:nvSpPr>
          <p:cNvPr id="14" name="text-325"/>
          <p:cNvSpPr txBox="1"/>
          <p:nvPr/>
        </p:nvSpPr>
        <p:spPr>
          <a:xfrm>
            <a:off x="548640" y="39319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數字是擋到最難那種錯誤的測資數。只有 3 次觀察、結果起伏大，只當線索。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備用 C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工程上遇到的問題</a:t>
            </a:r>
            <a:endParaRPr lang="en-US" sz="3000" dirty="0"/>
          </a:p>
        </p:txBody>
      </p:sp>
      <p:sp>
        <p:nvSpPr>
          <p:cNvPr id="5" name="card-326"/>
          <p:cNvSpPr/>
          <p:nvPr/>
        </p:nvSpPr>
        <p:spPr>
          <a:xfrm>
            <a:off x="548640" y="1691640"/>
            <a:ext cx="1109441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327"/>
          <p:cNvSpPr txBox="1"/>
          <p:nvPr/>
        </p:nvSpPr>
        <p:spPr>
          <a:xfrm>
            <a:off x="868680" y="1828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判題的輸入長度上限</a:t>
            </a:r>
            <a:endParaRPr lang="en-US" sz="1800" dirty="0"/>
          </a:p>
        </p:txBody>
      </p:sp>
      <p:sp>
        <p:nvSpPr>
          <p:cNvPr id="7" name="text-328"/>
          <p:cNvSpPr txBox="1"/>
          <p:nvPr/>
        </p:nvSpPr>
        <p:spPr>
          <a:xfrm>
            <a:off x="4572000" y="1828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原本把程式塞進命令列，Windows 超過約 3.2 萬字元就失敗；改從標準輸入傳，10 萬筆輸入也能判</a:t>
            </a:r>
            <a:endParaRPr lang="en-US" sz="1500" dirty="0"/>
          </a:p>
        </p:txBody>
      </p:sp>
      <p:sp>
        <p:nvSpPr>
          <p:cNvPr id="8" name="card-329"/>
          <p:cNvSpPr/>
          <p:nvPr/>
        </p:nvSpPr>
        <p:spPr>
          <a:xfrm>
            <a:off x="548640" y="3063240"/>
            <a:ext cx="1109441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-330"/>
          <p:cNvSpPr txBox="1"/>
          <p:nvPr/>
        </p:nvSpPr>
        <p:spPr>
          <a:xfrm>
            <a:off x="86868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AI 服務變動</a:t>
            </a:r>
            <a:endParaRPr lang="en-US" sz="1800" dirty="0"/>
          </a:p>
        </p:txBody>
      </p:sp>
      <p:sp>
        <p:nvSpPr>
          <p:cNvPr id="10" name="text-331"/>
          <p:cNvSpPr txBox="1"/>
          <p:nvPr/>
        </p:nvSpPr>
        <p:spPr>
          <a:xfrm>
            <a:off x="4572000" y="32004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Groq 下架 Llama、免費方案每分鐘 8000 tokens：改用 gpt-oss-120b、壓低推理量，額度用完自動等一分鐘重試</a:t>
            </a:r>
            <a:endParaRPr lang="en-US" sz="1500" dirty="0"/>
          </a:p>
        </p:txBody>
      </p:sp>
      <p:sp>
        <p:nvSpPr>
          <p:cNvPr id="11" name="card-332"/>
          <p:cNvSpPr/>
          <p:nvPr/>
        </p:nvSpPr>
        <p:spPr>
          <a:xfrm>
            <a:off x="548640" y="4434840"/>
            <a:ext cx="1109441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-333"/>
          <p:cNvSpPr txBox="1"/>
          <p:nvPr/>
        </p:nvSpPr>
        <p:spPr>
          <a:xfrm>
            <a:off x="868680" y="4572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自動測試</a:t>
            </a:r>
            <a:endParaRPr lang="en-US" sz="1800" dirty="0"/>
          </a:p>
        </p:txBody>
      </p:sp>
      <p:sp>
        <p:nvSpPr>
          <p:cNvPr id="13" name="text-334"/>
          <p:cNvSpPr txBox="1"/>
          <p:nvPr/>
        </p:nvSpPr>
        <p:spPr>
          <a:xfrm>
            <a:off x="4572000" y="45720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後端 123 個測試全部通過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備用 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實驗紀律</a:t>
            </a:r>
            <a:endParaRPr lang="en-US" sz="3000" dirty="0"/>
          </a:p>
        </p:txBody>
      </p:sp>
      <p:sp>
        <p:nvSpPr>
          <p:cNvPr id="5" name="dot-335"/>
          <p:cNvSpPr/>
          <p:nvPr/>
        </p:nvSpPr>
        <p:spPr>
          <a:xfrm>
            <a:off x="548640" y="180136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-336"/>
          <p:cNvSpPr txBox="1"/>
          <p:nvPr/>
        </p:nvSpPr>
        <p:spPr>
          <a:xfrm>
            <a:off x="548640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7" name="text-337"/>
          <p:cNvSpPr txBox="1"/>
          <p:nvPr/>
        </p:nvSpPr>
        <p:spPr>
          <a:xfrm>
            <a:off x="1234440" y="169164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AI 不給答案：正確答案一律由寫對的程式算</a:t>
            </a:r>
            <a:endParaRPr lang="en-US" sz="1800" dirty="0"/>
          </a:p>
        </p:txBody>
      </p:sp>
      <p:sp>
        <p:nvSpPr>
          <p:cNvPr id="8" name="dot-338"/>
          <p:cNvSpPr/>
          <p:nvPr/>
        </p:nvSpPr>
        <p:spPr>
          <a:xfrm>
            <a:off x="548640" y="267004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-339"/>
          <p:cNvSpPr txBox="1"/>
          <p:nvPr/>
        </p:nvSpPr>
        <p:spPr>
          <a:xfrm>
            <a:off x="54864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0" name="text-340"/>
          <p:cNvSpPr txBox="1"/>
          <p:nvPr/>
        </p:nvSpPr>
        <p:spPr>
          <a:xfrm>
            <a:off x="1234440" y="256032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不能重抽到滿意為止：重新提案時，舊的提案一定保留</a:t>
            </a:r>
            <a:endParaRPr lang="en-US" sz="1800" dirty="0"/>
          </a:p>
        </p:txBody>
      </p:sp>
      <p:sp>
        <p:nvSpPr>
          <p:cNvPr id="11" name="dot-341"/>
          <p:cNvSpPr/>
          <p:nvPr/>
        </p:nvSpPr>
        <p:spPr>
          <a:xfrm>
            <a:off x="548640" y="353872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-342"/>
          <p:cNvSpPr txBox="1"/>
          <p:nvPr/>
        </p:nvSpPr>
        <p:spPr>
          <a:xfrm>
            <a:off x="548640" y="3538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3" name="text-343"/>
          <p:cNvSpPr txBox="1"/>
          <p:nvPr/>
        </p:nvSpPr>
        <p:spPr>
          <a:xfrm>
            <a:off x="1234440" y="342900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試跑和正式紀錄分開存</a:t>
            </a:r>
            <a:endParaRPr lang="en-US" sz="1800" dirty="0"/>
          </a:p>
        </p:txBody>
      </p:sp>
      <p:sp>
        <p:nvSpPr>
          <p:cNvPr id="14" name="dot-344"/>
          <p:cNvSpPr/>
          <p:nvPr/>
        </p:nvSpPr>
        <p:spPr>
          <a:xfrm>
            <a:off x="548640" y="440740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-345"/>
          <p:cNvSpPr txBox="1"/>
          <p:nvPr/>
        </p:nvSpPr>
        <p:spPr>
          <a:xfrm>
            <a:off x="548640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6" name="text-346"/>
          <p:cNvSpPr txBox="1"/>
          <p:nvPr/>
        </p:nvSpPr>
        <p:spPr>
          <a:xfrm>
            <a:off x="1234440" y="429768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驗收組只在最後跑一次，看了結果也不回頭改測資</a:t>
            </a:r>
            <a:endParaRPr lang="en-US" sz="1800" dirty="0"/>
          </a:p>
        </p:txBody>
      </p:sp>
      <p:sp>
        <p:nvSpPr>
          <p:cNvPr id="17" name="dot-347"/>
          <p:cNvSpPr/>
          <p:nvPr/>
        </p:nvSpPr>
        <p:spPr>
          <a:xfrm>
            <a:off x="548640" y="527608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-348"/>
          <p:cNvSpPr txBox="1"/>
          <p:nvPr/>
        </p:nvSpPr>
        <p:spPr>
          <a:xfrm>
            <a:off x="548640" y="5276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9" name="text-349"/>
          <p:cNvSpPr txBox="1"/>
          <p:nvPr/>
        </p:nvSpPr>
        <p:spPr>
          <a:xfrm>
            <a:off x="1234440" y="516636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偏離計畫的地方逐條記錄在計畫文件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arm Terminal">
  <a:themeElements>
    <a:clrScheme name="Warm Terminal">
      <a:dk1>
        <a:srgbClr val="EDE4D0"/>
      </a:dk1>
      <a:lt1>
        <a:srgbClr val="151310"/>
      </a:lt1>
      <a:dk2>
        <a:srgbClr val="A89E8C"/>
      </a:dk2>
      <a:lt2>
        <a:srgbClr val="1F1B16"/>
      </a:lt2>
      <a:accent1>
        <a:srgbClr val="DFA050"/>
      </a:accent1>
      <a:accent2>
        <a:srgbClr val="D96870"/>
      </a:accent2>
      <a:accent3>
        <a:srgbClr val="5CB87C"/>
      </a:accent3>
      <a:accent4>
        <a:srgbClr val="5AB8B2"/>
      </a:accent4>
      <a:accent5>
        <a:srgbClr val="6B6459"/>
      </a:accent5>
      <a:accent6>
        <a:srgbClr val="3A352C"/>
      </a:accent6>
      <a:hlink>
        <a:srgbClr val="DFA050"/>
      </a:hlink>
      <a:folHlink>
        <a:srgbClr val="A89E8C"/>
      </a:folHlink>
    </a:clrScheme>
    <a:fontScheme name="Warm Termina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不給答案的程式學習提示</dc:title>
  <dc:subject>畢業專題：提案與環境測試</dc:subject>
  <dc:creator>PptxGenJS</dc:creator>
  <cp:lastModifiedBy>PptxGenJS</cp:lastModifiedBy>
  <cp:revision>1</cp:revision>
  <dcterms:created xsi:type="dcterms:W3CDTF">2026-10-13T15:47:49Z</dcterms:created>
  <dcterms:modified xsi:type="dcterms:W3CDTF">2026-10-13T15:47:49Z</dcterms:modified>
</cp:coreProperties>
</file>